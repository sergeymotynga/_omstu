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sldIdLst>
    <p:sldId id="307" r:id="rId2"/>
    <p:sldId id="336" r:id="rId3"/>
    <p:sldId id="337" r:id="rId4"/>
    <p:sldId id="338" r:id="rId5"/>
    <p:sldId id="339" r:id="rId6"/>
    <p:sldId id="340" r:id="rId7"/>
    <p:sldId id="341" r:id="rId8"/>
    <p:sldId id="342" r:id="rId9"/>
    <p:sldId id="344" r:id="rId10"/>
    <p:sldId id="343" r:id="rId11"/>
    <p:sldId id="345" r:id="rId12"/>
    <p:sldId id="346" r:id="rId13"/>
    <p:sldId id="347" r:id="rId14"/>
    <p:sldId id="348" r:id="rId15"/>
    <p:sldId id="349" r:id="rId16"/>
    <p:sldId id="350" r:id="rId17"/>
    <p:sldId id="351" r:id="rId18"/>
    <p:sldId id="352" r:id="rId19"/>
    <p:sldId id="353" r:id="rId20"/>
    <p:sldId id="354" r:id="rId21"/>
  </p:sldIdLst>
  <p:sldSz cx="12192000" cy="6858000"/>
  <p:notesSz cx="12192000" cy="6858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D1D684FC-E2AC-4AB3-A21B-182AD5A7138B}">
          <p14:sldIdLst>
            <p14:sldId id="307"/>
            <p14:sldId id="336"/>
            <p14:sldId id="337"/>
            <p14:sldId id="338"/>
            <p14:sldId id="339"/>
            <p14:sldId id="340"/>
            <p14:sldId id="341"/>
            <p14:sldId id="342"/>
            <p14:sldId id="344"/>
            <p14:sldId id="343"/>
            <p14:sldId id="345"/>
            <p14:sldId id="346"/>
            <p14:sldId id="347"/>
            <p14:sldId id="348"/>
            <p14:sldId id="349"/>
            <p14:sldId id="350"/>
            <p14:sldId id="351"/>
            <p14:sldId id="352"/>
            <p14:sldId id="353"/>
            <p14:sldId id="354"/>
          </p14:sldIdLst>
        </p14:section>
        <p14:section name="Раздел без заголовка" id="{4D47161F-2531-461D-AACD-B3DC4210DA6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636" y="5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79ED6DA-AE59-438F-9F5C-0B68B241EB01}" type="datetimeFigureOut">
              <a:rPr lang="ru-RU" smtClean="0"/>
              <a:t>24.02.2026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5B0EBC8-7F5F-4BD0-A43D-EB24A7D5E813}" type="slidenum">
              <a:rPr lang="ru-RU" smtClean="0"/>
              <a:t>‹#›</a:t>
            </a:fld>
            <a:endParaRPr lang="ru-RU"/>
          </a:p>
        </p:txBody>
      </p:sp>
    </p:spTree>
    <p:extLst>
      <p:ext uri="{BB962C8B-B14F-4D97-AF65-F5344CB8AC3E}">
        <p14:creationId xmlns:p14="http://schemas.microsoft.com/office/powerpoint/2010/main" val="3477821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0844" y="3297235"/>
            <a:ext cx="10370311" cy="166751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35E319B-4E82-4702-AE53-7DAD3C802305}" type="datetime1">
              <a:rPr lang="en-US" smtClean="0"/>
              <a:t>2/24/2026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Arial Narrow"/>
                <a:cs typeface="Arial Narrow"/>
              </a:defRPr>
            </a:lvl1pPr>
          </a:lstStyle>
          <a:p>
            <a:pPr marL="136525">
              <a:lnSpc>
                <a:spcPct val="100000"/>
              </a:lnSpc>
              <a:spcBef>
                <a:spcPts val="185"/>
              </a:spcBef>
            </a:pPr>
            <a:fld id="{81D60167-4931-47E6-BA6A-407CBD079E47}" type="slidenum">
              <a:rPr spc="55" dirty="0"/>
              <a:t>‹#›</a:t>
            </a:fld>
            <a:endParaRPr spc="5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Narrow"/>
                <a:cs typeface="Arial Narrow"/>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7470B2C-7951-4373-8768-2D492E1C8BD0}" type="datetime1">
              <a:rPr lang="en-US" smtClean="0"/>
              <a:t>2/24/2026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Arial Narrow"/>
                <a:cs typeface="Arial Narrow"/>
              </a:defRPr>
            </a:lvl1pPr>
          </a:lstStyle>
          <a:p>
            <a:pPr marL="136525">
              <a:lnSpc>
                <a:spcPct val="100000"/>
              </a:lnSpc>
              <a:spcBef>
                <a:spcPts val="185"/>
              </a:spcBef>
            </a:pPr>
            <a:fld id="{81D60167-4931-47E6-BA6A-407CBD079E47}" type="slidenum">
              <a:rPr spc="55" dirty="0"/>
              <a:t>‹#›</a:t>
            </a:fld>
            <a:endParaRPr spc="5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Narrow"/>
                <a:cs typeface="Arial Narrow"/>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59FBA3D-F69C-4D9B-B7A1-871145ABF8A3}" type="datetime1">
              <a:rPr lang="en-US" smtClean="0"/>
              <a:t>2/24/2026</a:t>
            </a:fld>
            <a:endParaRPr lang="en-US"/>
          </a:p>
        </p:txBody>
      </p:sp>
      <p:sp>
        <p:nvSpPr>
          <p:cNvPr id="7" name="Holder 7"/>
          <p:cNvSpPr>
            <a:spLocks noGrp="1"/>
          </p:cNvSpPr>
          <p:nvPr>
            <p:ph type="sldNum" sz="quarter" idx="7"/>
          </p:nvPr>
        </p:nvSpPr>
        <p:spPr/>
        <p:txBody>
          <a:bodyPr lIns="0" tIns="0" rIns="0" bIns="0"/>
          <a:lstStyle>
            <a:lvl1pPr>
              <a:defRPr sz="1800" b="0" i="0">
                <a:solidFill>
                  <a:schemeClr val="tx1"/>
                </a:solidFill>
                <a:latin typeface="Arial Narrow"/>
                <a:cs typeface="Arial Narrow"/>
              </a:defRPr>
            </a:lvl1pPr>
          </a:lstStyle>
          <a:p>
            <a:pPr marL="136525">
              <a:lnSpc>
                <a:spcPct val="100000"/>
              </a:lnSpc>
              <a:spcBef>
                <a:spcPts val="185"/>
              </a:spcBef>
            </a:pPr>
            <a:fld id="{81D60167-4931-47E6-BA6A-407CBD079E47}" type="slidenum">
              <a:rPr spc="55" dirty="0"/>
              <a:t>‹#›</a:t>
            </a:fld>
            <a:endParaRPr spc="5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Narrow"/>
                <a:cs typeface="Arial Narrow"/>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3195A23A-BF61-47E1-A9BC-D9D10C8D1FE7}" type="datetime1">
              <a:rPr lang="en-US" smtClean="0"/>
              <a:t>2/24/2026</a:t>
            </a:fld>
            <a:endParaRPr lang="en-US"/>
          </a:p>
        </p:txBody>
      </p:sp>
      <p:sp>
        <p:nvSpPr>
          <p:cNvPr id="5" name="Holder 5"/>
          <p:cNvSpPr>
            <a:spLocks noGrp="1"/>
          </p:cNvSpPr>
          <p:nvPr>
            <p:ph type="sldNum" sz="quarter" idx="7"/>
          </p:nvPr>
        </p:nvSpPr>
        <p:spPr/>
        <p:txBody>
          <a:bodyPr lIns="0" tIns="0" rIns="0" bIns="0"/>
          <a:lstStyle>
            <a:lvl1pPr>
              <a:defRPr sz="1800" b="0" i="0">
                <a:solidFill>
                  <a:schemeClr val="tx1"/>
                </a:solidFill>
                <a:latin typeface="Arial Narrow"/>
                <a:cs typeface="Arial Narrow"/>
              </a:defRPr>
            </a:lvl1pPr>
          </a:lstStyle>
          <a:p>
            <a:pPr marL="136525">
              <a:lnSpc>
                <a:spcPct val="100000"/>
              </a:lnSpc>
              <a:spcBef>
                <a:spcPts val="185"/>
              </a:spcBef>
            </a:pPr>
            <a:fld id="{81D60167-4931-47E6-BA6A-407CBD079E47}" type="slidenum">
              <a:rPr spc="55" dirty="0"/>
              <a:t>‹#›</a:t>
            </a:fld>
            <a:endParaRPr spc="5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8D0CB74E-0F7A-46F0-9CAB-1619F652C7D2}" type="datetime1">
              <a:rPr lang="en-US" smtClean="0"/>
              <a:t>2/24/2026</a:t>
            </a:fld>
            <a:endParaRPr lang="en-US"/>
          </a:p>
        </p:txBody>
      </p:sp>
      <p:sp>
        <p:nvSpPr>
          <p:cNvPr id="4" name="Holder 4"/>
          <p:cNvSpPr>
            <a:spLocks noGrp="1"/>
          </p:cNvSpPr>
          <p:nvPr>
            <p:ph type="sldNum" sz="quarter" idx="7"/>
          </p:nvPr>
        </p:nvSpPr>
        <p:spPr/>
        <p:txBody>
          <a:bodyPr lIns="0" tIns="0" rIns="0" bIns="0"/>
          <a:lstStyle>
            <a:lvl1pPr>
              <a:defRPr sz="1800" b="0" i="0">
                <a:solidFill>
                  <a:schemeClr val="tx1"/>
                </a:solidFill>
                <a:latin typeface="Arial Narrow"/>
                <a:cs typeface="Arial Narrow"/>
              </a:defRPr>
            </a:lvl1pPr>
          </a:lstStyle>
          <a:p>
            <a:pPr marL="136525">
              <a:lnSpc>
                <a:spcPct val="100000"/>
              </a:lnSpc>
              <a:spcBef>
                <a:spcPts val="185"/>
              </a:spcBef>
            </a:pPr>
            <a:fld id="{81D60167-4931-47E6-BA6A-407CBD079E47}" type="slidenum">
              <a:rPr spc="55" dirty="0"/>
              <a:t>‹#›</a:t>
            </a:fld>
            <a:endParaRPr spc="5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78739" y="273812"/>
            <a:ext cx="12034520" cy="696594"/>
          </a:xfrm>
          <a:prstGeom prst="rect">
            <a:avLst/>
          </a:prstGeom>
        </p:spPr>
        <p:txBody>
          <a:bodyPr wrap="square" lIns="0" tIns="0" rIns="0" bIns="0">
            <a:spAutoFit/>
          </a:bodyPr>
          <a:lstStyle>
            <a:lvl1pPr>
              <a:defRPr sz="4400" b="0" i="0">
                <a:solidFill>
                  <a:schemeClr val="tx1"/>
                </a:solidFill>
                <a:latin typeface="Arial Narrow"/>
                <a:cs typeface="Arial Narrow"/>
              </a:defRPr>
            </a:lvl1pPr>
          </a:lstStyle>
          <a:p>
            <a:endParaRPr/>
          </a:p>
        </p:txBody>
      </p:sp>
      <p:sp>
        <p:nvSpPr>
          <p:cNvPr id="3" name="Holder 3"/>
          <p:cNvSpPr>
            <a:spLocks noGrp="1"/>
          </p:cNvSpPr>
          <p:nvPr>
            <p:ph type="body" idx="1"/>
          </p:nvPr>
        </p:nvSpPr>
        <p:spPr>
          <a:xfrm>
            <a:off x="66039" y="1185417"/>
            <a:ext cx="11183620" cy="4363720"/>
          </a:xfrm>
          <a:prstGeom prst="rect">
            <a:avLst/>
          </a:prstGeom>
        </p:spPr>
        <p:txBody>
          <a:bodyPr wrap="square" lIns="0" tIns="0" rIns="0" bIns="0">
            <a:spAutoFit/>
          </a:bodyPr>
          <a:lstStyle>
            <a:lvl1pPr>
              <a:defRPr sz="28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C2C6F019-6A20-4218-A0FD-4E775096B01F}" type="datetime1">
              <a:rPr lang="en-US" smtClean="0"/>
              <a:t>2/24/2026</a:t>
            </a:fld>
            <a:endParaRPr lang="en-US"/>
          </a:p>
        </p:txBody>
      </p:sp>
      <p:sp>
        <p:nvSpPr>
          <p:cNvPr id="6" name="Holder 6"/>
          <p:cNvSpPr>
            <a:spLocks noGrp="1"/>
          </p:cNvSpPr>
          <p:nvPr>
            <p:ph type="sldNum" sz="quarter" idx="7"/>
          </p:nvPr>
        </p:nvSpPr>
        <p:spPr>
          <a:xfrm>
            <a:off x="11852656" y="6487193"/>
            <a:ext cx="273684" cy="327025"/>
          </a:xfrm>
          <a:prstGeom prst="rect">
            <a:avLst/>
          </a:prstGeom>
        </p:spPr>
        <p:txBody>
          <a:bodyPr wrap="square" lIns="0" tIns="0" rIns="0" bIns="0">
            <a:spAutoFit/>
          </a:bodyPr>
          <a:lstStyle>
            <a:lvl1pPr>
              <a:defRPr sz="1800" b="0" i="0">
                <a:solidFill>
                  <a:schemeClr val="tx1"/>
                </a:solidFill>
                <a:latin typeface="Arial Narrow"/>
                <a:cs typeface="Arial Narrow"/>
              </a:defRPr>
            </a:lvl1pPr>
          </a:lstStyle>
          <a:p>
            <a:pPr marL="136525">
              <a:lnSpc>
                <a:spcPct val="100000"/>
              </a:lnSpc>
              <a:spcBef>
                <a:spcPts val="185"/>
              </a:spcBef>
            </a:pPr>
            <a:fld id="{81D60167-4931-47E6-BA6A-407CBD079E47}" type="slidenum">
              <a:rPr spc="55" dirty="0"/>
              <a:t>‹#›</a:t>
            </a:fld>
            <a:endParaRPr spc="5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286000"/>
            <a:ext cx="11624056" cy="1859483"/>
          </a:xfrm>
          <a:prstGeom prst="rect">
            <a:avLst/>
          </a:prstGeom>
        </p:spPr>
        <p:txBody>
          <a:bodyPr vert="horz" wrap="square" lIns="0" tIns="12700" rIns="0" bIns="0" rtlCol="0">
            <a:spAutoFit/>
          </a:bodyPr>
          <a:lstStyle/>
          <a:p>
            <a:pPr marL="12700" algn="ctr" rtl="0">
              <a:spcBef>
                <a:spcPts val="2135"/>
              </a:spcBef>
            </a:pPr>
            <a:r>
              <a:rPr lang="ru-RU" sz="6000" kern="1200" spc="175" dirty="0">
                <a:ea typeface="+mn-ea"/>
              </a:rPr>
              <a:t>АЛГОРИТМЫ ГЕНЕРАЦИИ ПЕРЕСТАНОВОК</a:t>
            </a: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6619607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6106159"/>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b="1" dirty="0">
                <a:solidFill>
                  <a:srgbClr val="333333"/>
                </a:solidFill>
                <a:latin typeface="Times New Roman" panose="02020603050405020304" pitchFamily="18" charset="0"/>
                <a:cs typeface="Times New Roman" panose="02020603050405020304" pitchFamily="18" charset="0"/>
              </a:rPr>
              <a:t>Порождение перестановок через вектор инверсий</a:t>
            </a:r>
          </a:p>
          <a:p>
            <a:pPr marL="358775" indent="-358775" algn="just" rtl="0" eaLnBrk="0" fontAlgn="base" hangingPunct="0">
              <a:spcBef>
                <a:spcPct val="0"/>
              </a:spcBef>
              <a:spcAft>
                <a:spcPct val="0"/>
              </a:spcAft>
            </a:pPr>
            <a:r>
              <a:rPr lang="ru-RU" sz="2000" dirty="0" smtClean="0">
                <a:latin typeface="Times New Roman" panose="02020603050405020304" pitchFamily="18" charset="0"/>
                <a:cs typeface="Times New Roman" panose="02020603050405020304" pitchFamily="18" charset="0"/>
              </a:rPr>
              <a:t>Существует возможность порождение перестановок на основе количественных оценок </a:t>
            </a:r>
            <a:r>
              <a:rPr lang="ru-RU" sz="2000" dirty="0">
                <a:latin typeface="Times New Roman" panose="02020603050405020304" pitchFamily="18" charset="0"/>
                <a:cs typeface="Times New Roman" panose="02020603050405020304" pitchFamily="18" charset="0"/>
              </a:rPr>
              <a:t>степени отличия произвольной перестановки от </a:t>
            </a:r>
            <a:r>
              <a:rPr lang="ru-RU" sz="2000" dirty="0" err="1">
                <a:latin typeface="Times New Roman" panose="02020603050405020304" pitchFamily="18" charset="0"/>
                <a:cs typeface="Times New Roman" panose="02020603050405020304" pitchFamily="18" charset="0"/>
              </a:rPr>
              <a:t>лексиграфически</a:t>
            </a:r>
            <a:r>
              <a:rPr lang="ru-RU" sz="2000" dirty="0">
                <a:latin typeface="Times New Roman" panose="02020603050405020304" pitchFamily="18" charset="0"/>
                <a:cs typeface="Times New Roman" panose="02020603050405020304" pitchFamily="18" charset="0"/>
              </a:rPr>
              <a:t> наименьшей по числу нарушений возрастающего порядка значений ее элементов. Любая пара элементов, где имеет место такое нарушение их взаимного положения в перестановке, называется инверсией.</a:t>
            </a:r>
          </a:p>
          <a:p>
            <a:pPr marL="358775" indent="-358775" algn="just" rtl="0" eaLnBrk="0" fontAlgn="base" hangingPunct="0">
              <a:spcBef>
                <a:spcPct val="0"/>
              </a:spcBef>
              <a:spcAft>
                <a:spcPct val="0"/>
              </a:spcAft>
            </a:pPr>
            <a:r>
              <a:rPr lang="ru-RU" sz="2000" dirty="0" smtClean="0">
                <a:solidFill>
                  <a:srgbClr val="333333"/>
                </a:solidFill>
                <a:latin typeface="Times New Roman" panose="02020603050405020304" pitchFamily="18" charset="0"/>
                <a:cs typeface="Times New Roman" panose="02020603050405020304" pitchFamily="18" charset="0"/>
              </a:rPr>
              <a:t>Пусть а=</a:t>
            </a:r>
            <a:r>
              <a:rPr lang="en-US" sz="2000" dirty="0" smtClean="0">
                <a:solidFill>
                  <a:srgbClr val="333333"/>
                </a:solidFill>
                <a:latin typeface="Times New Roman" panose="02020603050405020304" pitchFamily="18" charset="0"/>
                <a:cs typeface="Times New Roman" panose="02020603050405020304" pitchFamily="18" charset="0"/>
              </a:rPr>
              <a:t>{a</a:t>
            </a:r>
            <a:r>
              <a:rPr lang="en-US" sz="2000" baseline="-25000" dirty="0" smtClean="0">
                <a:solidFill>
                  <a:srgbClr val="333333"/>
                </a:solidFill>
                <a:latin typeface="Times New Roman" panose="02020603050405020304" pitchFamily="18" charset="0"/>
                <a:cs typeface="Times New Roman" panose="02020603050405020304" pitchFamily="18" charset="0"/>
              </a:rPr>
              <a:t>1</a:t>
            </a:r>
            <a:r>
              <a:rPr lang="en-US" sz="2000" dirty="0" smtClean="0">
                <a:solidFill>
                  <a:srgbClr val="333333"/>
                </a:solidFill>
                <a:latin typeface="Times New Roman" panose="02020603050405020304" pitchFamily="18" charset="0"/>
                <a:cs typeface="Times New Roman" panose="02020603050405020304" pitchFamily="18" charset="0"/>
              </a:rPr>
              <a:t>,a</a:t>
            </a:r>
            <a:r>
              <a:rPr lang="en-US" sz="2000" baseline="-25000" dirty="0" smtClean="0">
                <a:solidFill>
                  <a:srgbClr val="333333"/>
                </a:solidFill>
                <a:latin typeface="Times New Roman" panose="02020603050405020304" pitchFamily="18" charset="0"/>
                <a:cs typeface="Times New Roman" panose="02020603050405020304" pitchFamily="18" charset="0"/>
              </a:rPr>
              <a:t>2</a:t>
            </a:r>
            <a:r>
              <a:rPr lang="en-US" sz="2000" dirty="0" smtClean="0">
                <a:solidFill>
                  <a:srgbClr val="333333"/>
                </a:solidFill>
                <a:latin typeface="Times New Roman" panose="02020603050405020304" pitchFamily="18" charset="0"/>
                <a:cs typeface="Times New Roman" panose="02020603050405020304" pitchFamily="18" charset="0"/>
              </a:rPr>
              <a:t>,…,a</a:t>
            </a:r>
            <a:r>
              <a:rPr lang="en-US" sz="2000" baseline="-25000" dirty="0" smtClean="0">
                <a:solidFill>
                  <a:srgbClr val="333333"/>
                </a:solidFill>
                <a:latin typeface="Times New Roman" panose="02020603050405020304" pitchFamily="18" charset="0"/>
                <a:cs typeface="Times New Roman" panose="02020603050405020304" pitchFamily="18" charset="0"/>
              </a:rPr>
              <a:t>n</a:t>
            </a:r>
            <a:r>
              <a:rPr lang="en-US" sz="2000" dirty="0" smtClean="0">
                <a:solidFill>
                  <a:srgbClr val="333333"/>
                </a:solidFill>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a:t>
            </a:r>
            <a:r>
              <a:rPr lang="ru-RU" sz="2000" dirty="0">
                <a:solidFill>
                  <a:srgbClr val="333333"/>
                </a:solidFill>
                <a:latin typeface="Times New Roman" panose="02020603050405020304" pitchFamily="18" charset="0"/>
                <a:cs typeface="Times New Roman" panose="02020603050405020304" pitchFamily="18" charset="0"/>
              </a:rPr>
              <a:t>есть перестановка из </a:t>
            </a:r>
            <a:r>
              <a:rPr lang="ru-RU" sz="2000" dirty="0" err="1" smtClean="0">
                <a:solidFill>
                  <a:srgbClr val="333333"/>
                </a:solidFill>
                <a:latin typeface="Times New Roman" panose="02020603050405020304" pitchFamily="18" charset="0"/>
                <a:cs typeface="Times New Roman" panose="02020603050405020304" pitchFamily="18" charset="0"/>
              </a:rPr>
              <a:t>S</a:t>
            </a:r>
            <a:r>
              <a:rPr lang="ru-RU" sz="2000" baseline="-25000" dirty="0" err="1" smtClean="0">
                <a:solidFill>
                  <a:srgbClr val="333333"/>
                </a:solidFill>
                <a:latin typeface="Times New Roman" panose="02020603050405020304" pitchFamily="18" charset="0"/>
                <a:cs typeface="Times New Roman" panose="02020603050405020304" pitchFamily="18" charset="0"/>
              </a:rPr>
              <a:t>n</a:t>
            </a:r>
            <a:endParaRPr lang="ru-RU" sz="2000" baseline="-25000" dirty="0" smtClean="0">
              <a:solidFill>
                <a:srgbClr val="333333"/>
              </a:solidFill>
              <a:latin typeface="Times New Roman" panose="02020603050405020304" pitchFamily="18" charset="0"/>
              <a:cs typeface="Times New Roman" panose="02020603050405020304" pitchFamily="18" charset="0"/>
            </a:endParaRPr>
          </a:p>
          <a:p>
            <a:pPr marL="358775" indent="-358775" algn="just" rtl="0" eaLnBrk="0" fontAlgn="base" hangingPunct="0">
              <a:spcBef>
                <a:spcPct val="0"/>
              </a:spcBef>
              <a:spcAft>
                <a:spcPct val="0"/>
              </a:spcAft>
            </a:pPr>
            <a:endParaRPr lang="en-US" sz="2000" baseline="-25000"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000" b="1" dirty="0" smtClean="0">
                <a:latin typeface="Times New Roman" panose="02020603050405020304" pitchFamily="18" charset="0"/>
                <a:cs typeface="Times New Roman" panose="02020603050405020304" pitchFamily="18" charset="0"/>
              </a:rPr>
              <a:t>Определение. </a:t>
            </a:r>
            <a:r>
              <a:rPr lang="ru-RU" sz="2000" dirty="0">
                <a:latin typeface="Times New Roman" panose="02020603050405020304" pitchFamily="18" charset="0"/>
                <a:cs typeface="Times New Roman" panose="02020603050405020304" pitchFamily="18" charset="0"/>
              </a:rPr>
              <a:t>Пара (</a:t>
            </a:r>
            <a:r>
              <a:rPr lang="ru-RU" sz="2000" i="1" dirty="0">
                <a:latin typeface="Times New Roman" panose="02020603050405020304" pitchFamily="18" charset="0"/>
                <a:cs typeface="Times New Roman" panose="02020603050405020304" pitchFamily="18" charset="0"/>
              </a:rPr>
              <a:t>α</a:t>
            </a:r>
            <a:r>
              <a:rPr lang="ru-RU" sz="2000" i="1" baseline="-25000" dirty="0">
                <a:latin typeface="Times New Roman" panose="02020603050405020304" pitchFamily="18" charset="0"/>
                <a:cs typeface="Times New Roman" panose="02020603050405020304" pitchFamily="18" charset="0"/>
              </a:rPr>
              <a:t>i</a:t>
            </a:r>
            <a:r>
              <a:rPr lang="ru-RU" sz="2000" i="1" dirty="0">
                <a:latin typeface="Times New Roman" panose="02020603050405020304" pitchFamily="18" charset="0"/>
                <a:cs typeface="Times New Roman" panose="02020603050405020304" pitchFamily="18" charset="0"/>
              </a:rPr>
              <a:t>, α</a:t>
            </a:r>
            <a:r>
              <a:rPr lang="ru-RU" sz="2000" i="1" baseline="-25000" dirty="0">
                <a:latin typeface="Times New Roman" panose="02020603050405020304" pitchFamily="18" charset="0"/>
                <a:cs typeface="Times New Roman" panose="02020603050405020304" pitchFamily="18" charset="0"/>
              </a:rPr>
              <a:t>j</a:t>
            </a:r>
            <a:r>
              <a:rPr lang="ru-RU" sz="2000" dirty="0">
                <a:latin typeface="Times New Roman" panose="02020603050405020304" pitchFamily="18" charset="0"/>
                <a:cs typeface="Times New Roman" panose="02020603050405020304" pitchFamily="18" charset="0"/>
              </a:rPr>
              <a:t>) называется </a:t>
            </a:r>
            <a:r>
              <a:rPr lang="ru-RU" sz="2000" i="1" dirty="0">
                <a:latin typeface="Times New Roman" panose="02020603050405020304" pitchFamily="18" charset="0"/>
                <a:cs typeface="Times New Roman" panose="02020603050405020304" pitchFamily="18" charset="0"/>
              </a:rPr>
              <a:t>инверсией </a:t>
            </a:r>
            <a:r>
              <a:rPr lang="ru-RU" sz="2000" i="1" dirty="0" smtClean="0">
                <a:latin typeface="Times New Roman" panose="02020603050405020304" pitchFamily="18" charset="0"/>
                <a:cs typeface="Times New Roman" panose="02020603050405020304" pitchFamily="18" charset="0"/>
              </a:rPr>
              <a:t>перестановки</a:t>
            </a:r>
            <a:r>
              <a:rPr lang="en-US" sz="2000" i="1" dirty="0" smtClean="0">
                <a:latin typeface="Times New Roman" panose="02020603050405020304" pitchFamily="18" charset="0"/>
                <a:cs typeface="Times New Roman" panose="02020603050405020304" pitchFamily="18" charset="0"/>
              </a:rPr>
              <a:t> </a:t>
            </a:r>
            <a:r>
              <a:rPr lang="ru-RU" sz="2000" i="1" dirty="0" smtClean="0">
                <a:latin typeface="Times New Roman" panose="02020603050405020304" pitchFamily="18" charset="0"/>
                <a:cs typeface="Times New Roman" panose="02020603050405020304" pitchFamily="18" charset="0"/>
              </a:rPr>
              <a:t>α </a:t>
            </a:r>
            <a:r>
              <a:rPr lang="ru-RU" sz="2000" dirty="0">
                <a:latin typeface="Times New Roman" panose="02020603050405020304" pitchFamily="18" charset="0"/>
                <a:cs typeface="Times New Roman" panose="02020603050405020304" pitchFamily="18" charset="0"/>
              </a:rPr>
              <a:t>= (</a:t>
            </a:r>
            <a:r>
              <a:rPr lang="ru-RU" sz="2000" i="1" dirty="0">
                <a:latin typeface="Times New Roman" panose="02020603050405020304" pitchFamily="18" charset="0"/>
                <a:cs typeface="Times New Roman" panose="02020603050405020304" pitchFamily="18" charset="0"/>
              </a:rPr>
              <a:t>α</a:t>
            </a:r>
            <a:r>
              <a:rPr lang="ru-RU" sz="2000" baseline="-25000" dirty="0">
                <a:latin typeface="Times New Roman" panose="02020603050405020304" pitchFamily="18" charset="0"/>
                <a:cs typeface="Times New Roman" panose="02020603050405020304" pitchFamily="18" charset="0"/>
              </a:rPr>
              <a:t>1</a:t>
            </a:r>
            <a:r>
              <a:rPr lang="ru-RU" sz="2000" i="1" dirty="0">
                <a:latin typeface="Times New Roman" panose="02020603050405020304" pitchFamily="18" charset="0"/>
                <a:cs typeface="Times New Roman" panose="02020603050405020304" pitchFamily="18" charset="0"/>
              </a:rPr>
              <a:t>, α</a:t>
            </a:r>
            <a:r>
              <a:rPr lang="ru-RU" sz="2000" baseline="-25000" dirty="0">
                <a:latin typeface="Times New Roman" panose="02020603050405020304" pitchFamily="18" charset="0"/>
                <a:cs typeface="Times New Roman" panose="02020603050405020304" pitchFamily="18" charset="0"/>
              </a:rPr>
              <a:t>2</a:t>
            </a:r>
            <a:r>
              <a:rPr lang="ru-RU" sz="2000" i="1" dirty="0">
                <a:latin typeface="Times New Roman" panose="02020603050405020304" pitchFamily="18" charset="0"/>
                <a:cs typeface="Times New Roman" panose="02020603050405020304" pitchFamily="18" charset="0"/>
              </a:rPr>
              <a:t>, . . . , α</a:t>
            </a:r>
            <a:r>
              <a:rPr lang="ru-RU" sz="2000" i="1" baseline="-25000" dirty="0">
                <a:latin typeface="Times New Roman" panose="02020603050405020304" pitchFamily="18" charset="0"/>
                <a:cs typeface="Times New Roman" panose="02020603050405020304" pitchFamily="18" charset="0"/>
              </a:rPr>
              <a:t>n</a:t>
            </a:r>
            <a:r>
              <a:rPr lang="ru-RU" sz="2000" dirty="0">
                <a:latin typeface="Times New Roman" panose="02020603050405020304" pitchFamily="18" charset="0"/>
                <a:cs typeface="Times New Roman" panose="02020603050405020304" pitchFamily="18" charset="0"/>
              </a:rPr>
              <a:t>), если </a:t>
            </a:r>
            <a:r>
              <a:rPr lang="ru-RU" sz="2000" i="1" dirty="0">
                <a:latin typeface="Times New Roman" panose="02020603050405020304" pitchFamily="18" charset="0"/>
                <a:cs typeface="Times New Roman" panose="02020603050405020304" pitchFamily="18" charset="0"/>
              </a:rPr>
              <a:t>i &lt; j </a:t>
            </a:r>
            <a:r>
              <a:rPr lang="ru-RU" sz="2000" dirty="0">
                <a:latin typeface="Times New Roman" panose="02020603050405020304" pitchFamily="18" charset="0"/>
                <a:cs typeface="Times New Roman" panose="02020603050405020304" pitchFamily="18" charset="0"/>
              </a:rPr>
              <a:t>и </a:t>
            </a:r>
            <a:r>
              <a:rPr lang="ru-RU" sz="2000" i="1" dirty="0">
                <a:latin typeface="Times New Roman" panose="02020603050405020304" pitchFamily="18" charset="0"/>
                <a:cs typeface="Times New Roman" panose="02020603050405020304" pitchFamily="18" charset="0"/>
              </a:rPr>
              <a:t>α</a:t>
            </a:r>
            <a:r>
              <a:rPr lang="ru-RU" sz="2000" i="1" baseline="-25000" dirty="0">
                <a:latin typeface="Times New Roman" panose="02020603050405020304" pitchFamily="18" charset="0"/>
                <a:cs typeface="Times New Roman" panose="02020603050405020304" pitchFamily="18" charset="0"/>
              </a:rPr>
              <a:t>i</a:t>
            </a:r>
            <a:r>
              <a:rPr lang="ru-RU" sz="2000" i="1" dirty="0">
                <a:latin typeface="Times New Roman" panose="02020603050405020304" pitchFamily="18" charset="0"/>
                <a:cs typeface="Times New Roman" panose="02020603050405020304" pitchFamily="18" charset="0"/>
              </a:rPr>
              <a:t> &gt; α</a:t>
            </a:r>
            <a:r>
              <a:rPr lang="ru-RU" sz="2000" i="1" baseline="-25000" dirty="0">
                <a:latin typeface="Times New Roman" panose="02020603050405020304" pitchFamily="18" charset="0"/>
                <a:cs typeface="Times New Roman" panose="02020603050405020304" pitchFamily="18" charset="0"/>
              </a:rPr>
              <a:t>j</a:t>
            </a:r>
            <a:r>
              <a:rPr lang="ru-RU" sz="2000" i="1" dirty="0" smtClean="0">
                <a:latin typeface="Times New Roman" panose="02020603050405020304" pitchFamily="18" charset="0"/>
                <a:cs typeface="Times New Roman" panose="02020603050405020304" pitchFamily="18" charset="0"/>
              </a:rPr>
              <a:t>.</a:t>
            </a:r>
          </a:p>
          <a:p>
            <a:pPr marL="358775" indent="-358775" algn="just"/>
            <a:endParaRPr lang="ru-RU" sz="2000" dirty="0">
              <a:latin typeface="Times New Roman" panose="02020603050405020304" pitchFamily="18" charset="0"/>
              <a:cs typeface="Times New Roman" panose="02020603050405020304" pitchFamily="18" charset="0"/>
            </a:endParaRPr>
          </a:p>
          <a:p>
            <a:pPr marL="358775" indent="-358775" algn="just"/>
            <a:r>
              <a:rPr lang="ru-RU" sz="2000" dirty="0" smtClean="0">
                <a:latin typeface="Times New Roman" panose="02020603050405020304" pitchFamily="18" charset="0"/>
                <a:cs typeface="Times New Roman" panose="02020603050405020304" pitchFamily="18" charset="0"/>
              </a:rPr>
              <a:t>Инверсию </a:t>
            </a:r>
            <a:r>
              <a:rPr lang="ru-RU" sz="2000" dirty="0">
                <a:latin typeface="Times New Roman" panose="02020603050405020304" pitchFamily="18" charset="0"/>
                <a:cs typeface="Times New Roman" panose="02020603050405020304" pitchFamily="18" charset="0"/>
              </a:rPr>
              <a:t>(</a:t>
            </a:r>
            <a:r>
              <a:rPr lang="ru-RU" sz="2000" i="1" dirty="0">
                <a:latin typeface="Times New Roman" panose="02020603050405020304" pitchFamily="18" charset="0"/>
                <a:cs typeface="Times New Roman" panose="02020603050405020304" pitchFamily="18" charset="0"/>
              </a:rPr>
              <a:t>α</a:t>
            </a:r>
            <a:r>
              <a:rPr lang="ru-RU" sz="2000" i="1" baseline="-25000" dirty="0">
                <a:latin typeface="Times New Roman" panose="02020603050405020304" pitchFamily="18" charset="0"/>
                <a:cs typeface="Times New Roman" panose="02020603050405020304" pitchFamily="18" charset="0"/>
              </a:rPr>
              <a:t>i</a:t>
            </a:r>
            <a:r>
              <a:rPr lang="ru-RU" sz="2000" i="1" dirty="0">
                <a:latin typeface="Times New Roman" panose="02020603050405020304" pitchFamily="18" charset="0"/>
                <a:cs typeface="Times New Roman" panose="02020603050405020304" pitchFamily="18" charset="0"/>
              </a:rPr>
              <a:t>, α</a:t>
            </a:r>
            <a:r>
              <a:rPr lang="ru-RU" sz="2000" i="1" baseline="-25000" dirty="0">
                <a:latin typeface="Times New Roman" panose="02020603050405020304" pitchFamily="18" charset="0"/>
                <a:cs typeface="Times New Roman" panose="02020603050405020304" pitchFamily="18" charset="0"/>
              </a:rPr>
              <a:t>j</a:t>
            </a:r>
            <a:r>
              <a:rPr lang="ru-RU" sz="2000" dirty="0">
                <a:latin typeface="Times New Roman" panose="02020603050405020304" pitchFamily="18" charset="0"/>
                <a:cs typeface="Times New Roman" panose="02020603050405020304" pitchFamily="18" charset="0"/>
              </a:rPr>
              <a:t>) </a:t>
            </a:r>
            <a:r>
              <a:rPr lang="ru-RU" sz="2000" dirty="0" smtClean="0">
                <a:latin typeface="Times New Roman" panose="02020603050405020304" pitchFamily="18" charset="0"/>
                <a:cs typeface="Times New Roman" panose="02020603050405020304" pitchFamily="18" charset="0"/>
              </a:rPr>
              <a:t>называют </a:t>
            </a:r>
            <a:r>
              <a:rPr lang="ru-RU" sz="2000" i="1" dirty="0" smtClean="0">
                <a:latin typeface="Times New Roman" panose="02020603050405020304" pitchFamily="18" charset="0"/>
                <a:cs typeface="Times New Roman" panose="02020603050405020304" pitchFamily="18" charset="0"/>
              </a:rPr>
              <a:t>j-инверсией </a:t>
            </a:r>
            <a:r>
              <a:rPr lang="ru-RU" sz="2000" dirty="0">
                <a:latin typeface="Times New Roman" panose="02020603050405020304" pitchFamily="18" charset="0"/>
                <a:cs typeface="Times New Roman" panose="02020603050405020304" pitchFamily="18" charset="0"/>
              </a:rPr>
              <a:t>перестановки </a:t>
            </a:r>
            <a:r>
              <a:rPr lang="ru-RU" sz="2000" i="1" dirty="0">
                <a:latin typeface="Times New Roman" panose="02020603050405020304" pitchFamily="18" charset="0"/>
                <a:cs typeface="Times New Roman" panose="02020603050405020304" pitchFamily="18" charset="0"/>
              </a:rPr>
              <a:t>α</a:t>
            </a:r>
            <a:r>
              <a:rPr lang="ru-RU" sz="2000" dirty="0">
                <a:latin typeface="Times New Roman" panose="02020603050405020304" pitchFamily="18" charset="0"/>
                <a:cs typeface="Times New Roman" panose="02020603050405020304" pitchFamily="18" charset="0"/>
              </a:rPr>
              <a:t>, тем самым явно указывая номер меньшего элемента в инверсии (</a:t>
            </a:r>
            <a:r>
              <a:rPr lang="ru-RU" sz="2000" i="1" dirty="0">
                <a:latin typeface="Times New Roman" panose="02020603050405020304" pitchFamily="18" charset="0"/>
                <a:cs typeface="Times New Roman" panose="02020603050405020304" pitchFamily="18" charset="0"/>
              </a:rPr>
              <a:t>α</a:t>
            </a:r>
            <a:r>
              <a:rPr lang="ru-RU" sz="2000" i="1" baseline="-25000" dirty="0">
                <a:latin typeface="Times New Roman" panose="02020603050405020304" pitchFamily="18" charset="0"/>
                <a:cs typeface="Times New Roman" panose="02020603050405020304" pitchFamily="18" charset="0"/>
              </a:rPr>
              <a:t>i</a:t>
            </a:r>
            <a:r>
              <a:rPr lang="ru-RU" sz="2000" i="1" dirty="0">
                <a:latin typeface="Times New Roman" panose="02020603050405020304" pitchFamily="18" charset="0"/>
                <a:cs typeface="Times New Roman" panose="02020603050405020304" pitchFamily="18" charset="0"/>
              </a:rPr>
              <a:t>, α</a:t>
            </a:r>
            <a:r>
              <a:rPr lang="ru-RU" sz="2000" i="1" baseline="-25000" dirty="0">
                <a:latin typeface="Times New Roman" panose="02020603050405020304" pitchFamily="18" charset="0"/>
                <a:cs typeface="Times New Roman" panose="02020603050405020304" pitchFamily="18" charset="0"/>
              </a:rPr>
              <a:t>j</a:t>
            </a:r>
            <a:r>
              <a:rPr lang="ru-RU" sz="2000" dirty="0" smtClean="0">
                <a:latin typeface="Times New Roman" panose="02020603050405020304" pitchFamily="18" charset="0"/>
                <a:cs typeface="Times New Roman" panose="02020603050405020304" pitchFamily="18" charset="0"/>
              </a:rPr>
              <a:t>).</a:t>
            </a:r>
          </a:p>
          <a:p>
            <a:pPr marL="358775" indent="-358775" algn="just"/>
            <a:r>
              <a:rPr lang="ru-RU" sz="2000" dirty="0">
                <a:latin typeface="Times New Roman" panose="02020603050405020304" pitchFamily="18" charset="0"/>
                <a:cs typeface="Times New Roman" panose="02020603050405020304" pitchFamily="18" charset="0"/>
              </a:rPr>
              <a:t>Например, цифровая перестановка </a:t>
            </a:r>
            <a:r>
              <a:rPr lang="ru-RU" sz="2000" dirty="0" smtClean="0">
                <a:latin typeface="Times New Roman" panose="02020603050405020304" pitchFamily="18" charset="0"/>
                <a:cs typeface="Times New Roman" panose="02020603050405020304" pitchFamily="18" charset="0"/>
              </a:rPr>
              <a:t>(3,1,4,2</a:t>
            </a:r>
            <a:r>
              <a:rPr lang="ru-RU" sz="2000" dirty="0">
                <a:latin typeface="Times New Roman" panose="02020603050405020304" pitchFamily="18" charset="0"/>
                <a:cs typeface="Times New Roman" panose="02020603050405020304" pitchFamily="18" charset="0"/>
              </a:rPr>
              <a:t>) имеет </a:t>
            </a:r>
            <a:r>
              <a:rPr lang="ru-RU" sz="2000" b="1" dirty="0">
                <a:latin typeface="Times New Roman" panose="02020603050405020304" pitchFamily="18" charset="0"/>
                <a:cs typeface="Times New Roman" panose="02020603050405020304" pitchFamily="18" charset="0"/>
              </a:rPr>
              <a:t>3</a:t>
            </a:r>
            <a:r>
              <a:rPr lang="ru-RU" sz="2000" dirty="0">
                <a:latin typeface="Times New Roman" panose="02020603050405020304" pitchFamily="18" charset="0"/>
                <a:cs typeface="Times New Roman" panose="02020603050405020304" pitchFamily="18" charset="0"/>
              </a:rPr>
              <a:t> инверсии: (3,1), (3,2) и (4,2). Таким образом, в этой перестановке есть одна инверсия для элемента 1, две инверсии для элемента 2, а по элементам 3 и 4 нет инверсий</a:t>
            </a:r>
            <a:r>
              <a:rPr lang="ru-RU" sz="2000" dirty="0" smtClean="0">
                <a:latin typeface="Times New Roman" panose="02020603050405020304" pitchFamily="18" charset="0"/>
                <a:cs typeface="Times New Roman" panose="02020603050405020304" pitchFamily="18" charset="0"/>
              </a:rPr>
              <a:t>.</a:t>
            </a:r>
          </a:p>
          <a:p>
            <a:pPr marL="358775" indent="-358775" algn="just"/>
            <a:r>
              <a:rPr lang="ru-RU" sz="2000" dirty="0">
                <a:latin typeface="Times New Roman" panose="02020603050405020304" pitchFamily="18" charset="0"/>
                <a:cs typeface="Times New Roman" panose="02020603050405020304" pitchFamily="18" charset="0"/>
              </a:rPr>
              <a:t>Для компактной записи инверсий по элементам перестановки применяются </a:t>
            </a:r>
            <a:r>
              <a:rPr lang="ru-RU" sz="2000" i="1" dirty="0">
                <a:latin typeface="Times New Roman" panose="02020603050405020304" pitchFamily="18" charset="0"/>
                <a:cs typeface="Times New Roman" panose="02020603050405020304" pitchFamily="18" charset="0"/>
              </a:rPr>
              <a:t>вектор инверсий</a:t>
            </a:r>
            <a:r>
              <a:rPr lang="ru-RU" sz="2000" dirty="0">
                <a:latin typeface="Times New Roman" panose="02020603050405020304" pitchFamily="18" charset="0"/>
                <a:cs typeface="Times New Roman" panose="02020603050405020304" pitchFamily="18" charset="0"/>
              </a:rPr>
              <a:t> </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d</a:t>
            </a:r>
            <a:r>
              <a:rPr lang="ru-RU" sz="2000" b="1" baseline="-25000" dirty="0" smtClean="0">
                <a:latin typeface="Times New Roman" panose="02020603050405020304" pitchFamily="18" charset="0"/>
                <a:cs typeface="Times New Roman" panose="02020603050405020304" pitchFamily="18" charset="0"/>
              </a:rPr>
              <a:t>1</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d</a:t>
            </a:r>
            <a:r>
              <a:rPr lang="ru-RU" sz="2000" b="1" baseline="-25000" dirty="0" smtClean="0">
                <a:latin typeface="Times New Roman" panose="02020603050405020304" pitchFamily="18" charset="0"/>
                <a:cs typeface="Times New Roman" panose="02020603050405020304" pitchFamily="18" charset="0"/>
              </a:rPr>
              <a:t>j</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d</a:t>
            </a:r>
            <a:r>
              <a:rPr lang="ru-RU" sz="2000" b="1" baseline="-25000" dirty="0" smtClean="0">
                <a:latin typeface="Times New Roman" panose="02020603050405020304" pitchFamily="18" charset="0"/>
                <a:cs typeface="Times New Roman" panose="02020603050405020304" pitchFamily="18" charset="0"/>
              </a:rPr>
              <a:t>n</a:t>
            </a:r>
            <a:r>
              <a:rPr lang="ru-RU" sz="2000" b="1"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и </a:t>
            </a:r>
            <a:r>
              <a:rPr lang="ru-RU" sz="2000" i="1" dirty="0">
                <a:latin typeface="Times New Roman" panose="02020603050405020304" pitchFamily="18" charset="0"/>
                <a:cs typeface="Times New Roman" panose="02020603050405020304" pitchFamily="18" charset="0"/>
              </a:rPr>
              <a:t>таблица инверсий</a:t>
            </a:r>
            <a:r>
              <a:rPr lang="ru-RU" sz="2000" dirty="0">
                <a:latin typeface="Times New Roman" panose="02020603050405020304" pitchFamily="18" charset="0"/>
                <a:cs typeface="Times New Roman" panose="02020603050405020304" pitchFamily="18" charset="0"/>
              </a:rPr>
              <a:t> </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w</a:t>
            </a:r>
            <a:r>
              <a:rPr lang="ru-RU" sz="2000" b="1" baseline="-25000" dirty="0" smtClean="0">
                <a:latin typeface="Times New Roman" panose="02020603050405020304" pitchFamily="18" charset="0"/>
                <a:cs typeface="Times New Roman" panose="02020603050405020304" pitchFamily="18" charset="0"/>
              </a:rPr>
              <a:t>1</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w</a:t>
            </a:r>
            <a:r>
              <a:rPr lang="ru-RU" sz="2000" b="1" baseline="-25000" dirty="0" smtClean="0">
                <a:latin typeface="Times New Roman" panose="02020603050405020304" pitchFamily="18" charset="0"/>
                <a:cs typeface="Times New Roman" panose="02020603050405020304" pitchFamily="18" charset="0"/>
              </a:rPr>
              <a:t>j</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w</a:t>
            </a:r>
            <a:r>
              <a:rPr lang="ru-RU" sz="2000" b="1" baseline="-25000" dirty="0" smtClean="0">
                <a:latin typeface="Times New Roman" panose="02020603050405020304" pitchFamily="18" charset="0"/>
                <a:cs typeface="Times New Roman" panose="02020603050405020304" pitchFamily="18" charset="0"/>
              </a:rPr>
              <a:t>n</a:t>
            </a:r>
            <a:r>
              <a:rPr lang="ru-RU" sz="2000" b="1"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Эти обе формы записи идентифицируют числа инверсий для всех элементов перестановки </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a</a:t>
            </a:r>
            <a:r>
              <a:rPr lang="ru-RU" sz="2000" b="1" baseline="-25000" dirty="0" smtClean="0">
                <a:latin typeface="Times New Roman" panose="02020603050405020304" pitchFamily="18" charset="0"/>
                <a:cs typeface="Times New Roman" panose="02020603050405020304" pitchFamily="18" charset="0"/>
              </a:rPr>
              <a:t>1</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a</a:t>
            </a:r>
            <a:r>
              <a:rPr lang="ru-RU" sz="2000" b="1" baseline="-25000" dirty="0" smtClean="0">
                <a:latin typeface="Times New Roman" panose="02020603050405020304" pitchFamily="18" charset="0"/>
                <a:cs typeface="Times New Roman" panose="02020603050405020304" pitchFamily="18" charset="0"/>
              </a:rPr>
              <a:t>j</a:t>
            </a:r>
            <a:r>
              <a:rPr lang="ru-RU" sz="2000" b="1"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a</a:t>
            </a:r>
            <a:r>
              <a:rPr lang="ru-RU" sz="2000" b="1" baseline="-25000" dirty="0" smtClean="0">
                <a:latin typeface="Times New Roman" panose="02020603050405020304" pitchFamily="18" charset="0"/>
                <a:cs typeface="Times New Roman" panose="02020603050405020304" pitchFamily="18" charset="0"/>
              </a:rPr>
              <a:t>n</a:t>
            </a:r>
            <a:r>
              <a:rPr lang="ru-RU" sz="2000" b="1"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и отличаются только порядком их перечисления. В частности, в векторе инверсий числа инверсий упорядочены по позициям, а в таблице инверсий по значениям элементов перестановки. </a:t>
            </a:r>
          </a:p>
          <a:p>
            <a:pPr marL="358775" indent="-358775" algn="just" rtl="0" eaLnBrk="0" fontAlgn="base" hangingPunct="0">
              <a:spcBef>
                <a:spcPct val="0"/>
              </a:spcBef>
              <a:spcAft>
                <a:spcPct val="0"/>
              </a:spcAft>
            </a:pPr>
            <a:endParaRPr lang="en-US" sz="2200" baseline="-25000" dirty="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2</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7298679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4998163"/>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вектор </a:t>
            </a:r>
            <a:r>
              <a:rPr lang="ru-RU" sz="2400" b="1" dirty="0" smtClean="0">
                <a:solidFill>
                  <a:srgbClr val="333333"/>
                </a:solidFill>
                <a:latin typeface="Times New Roman" panose="02020603050405020304" pitchFamily="18" charset="0"/>
                <a:cs typeface="Times New Roman" panose="02020603050405020304" pitchFamily="18" charset="0"/>
              </a:rPr>
              <a:t>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endParaRPr lang="en-US" sz="2200" b="1" dirty="0" smtClean="0">
              <a:latin typeface="Times New Roman" panose="02020603050405020304" pitchFamily="18" charset="0"/>
              <a:cs typeface="Times New Roman" panose="02020603050405020304" pitchFamily="18" charset="0"/>
            </a:endParaRPr>
          </a:p>
          <a:p>
            <a:pPr marL="358775" indent="-358775" algn="just"/>
            <a:r>
              <a:rPr lang="ru-RU" sz="2200" b="1" dirty="0" smtClean="0">
                <a:latin typeface="Times New Roman" panose="02020603050405020304" pitchFamily="18" charset="0"/>
                <a:cs typeface="Times New Roman" panose="02020603050405020304" pitchFamily="18" charset="0"/>
              </a:rPr>
              <a:t>Определение. </a:t>
            </a:r>
            <a:r>
              <a:rPr lang="ru-RU" sz="2200" i="1" dirty="0">
                <a:latin typeface="Times New Roman" panose="02020603050405020304" pitchFamily="18" charset="0"/>
                <a:cs typeface="Times New Roman" panose="02020603050405020304" pitchFamily="18" charset="0"/>
              </a:rPr>
              <a:t>Вектором инверсий перестановки α </a:t>
            </a:r>
            <a:r>
              <a:rPr lang="ru-RU" sz="2200" dirty="0">
                <a:latin typeface="Times New Roman" panose="02020603050405020304" pitchFamily="18" charset="0"/>
                <a:cs typeface="Times New Roman" panose="02020603050405020304" pitchFamily="18" charset="0"/>
              </a:rPr>
              <a:t>∈ </a:t>
            </a:r>
            <a:r>
              <a:rPr lang="ru-RU" sz="2200" i="1" dirty="0" err="1">
                <a:latin typeface="Times New Roman" panose="02020603050405020304" pitchFamily="18" charset="0"/>
                <a:cs typeface="Times New Roman" panose="02020603050405020304" pitchFamily="18" charset="0"/>
              </a:rPr>
              <a:t>S</a:t>
            </a:r>
            <a:r>
              <a:rPr lang="ru-RU" sz="2200" i="1" baseline="-25000" dirty="0" err="1">
                <a:latin typeface="Times New Roman" panose="02020603050405020304" pitchFamily="18" charset="0"/>
                <a:cs typeface="Times New Roman" panose="02020603050405020304" pitchFamily="18" charset="0"/>
              </a:rPr>
              <a:t>n</a:t>
            </a:r>
            <a:r>
              <a:rPr lang="ru-RU" sz="2200" i="1"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называется  </a:t>
            </a:r>
            <a:r>
              <a:rPr lang="ru-RU" sz="2200" dirty="0">
                <a:latin typeface="Times New Roman" panose="02020603050405020304" pitchFamily="18" charset="0"/>
                <a:cs typeface="Times New Roman" panose="02020603050405020304" pitchFamily="18" charset="0"/>
              </a:rPr>
              <a:t>последовательность  целых  чисел  (</a:t>
            </a:r>
            <a:r>
              <a:rPr lang="ru-RU" sz="2200" i="1" dirty="0">
                <a:latin typeface="Times New Roman" panose="02020603050405020304" pitchFamily="18" charset="0"/>
                <a:cs typeface="Times New Roman" panose="02020603050405020304" pitchFamily="18" charset="0"/>
              </a:rPr>
              <a:t>d</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d</a:t>
            </a:r>
            <a:r>
              <a:rPr lang="ru-RU" sz="2200" baseline="-25000" dirty="0">
                <a:latin typeface="Times New Roman" panose="02020603050405020304" pitchFamily="18" charset="0"/>
                <a:cs typeface="Times New Roman" panose="02020603050405020304" pitchFamily="18" charset="0"/>
              </a:rPr>
              <a:t>2</a:t>
            </a:r>
            <a:r>
              <a:rPr lang="ru-RU" sz="2200" i="1" dirty="0">
                <a:latin typeface="Times New Roman" panose="02020603050405020304" pitchFamily="18" charset="0"/>
                <a:cs typeface="Times New Roman" panose="02020603050405020304" pitchFamily="18" charset="0"/>
              </a:rPr>
              <a:t>, . . . , </a:t>
            </a:r>
            <a:r>
              <a:rPr lang="ru-RU" sz="2200" i="1" dirty="0" err="1">
                <a:latin typeface="Times New Roman" panose="02020603050405020304" pitchFamily="18" charset="0"/>
                <a:cs typeface="Times New Roman" panose="02020603050405020304" pitchFamily="18" charset="0"/>
              </a:rPr>
              <a:t>d</a:t>
            </a:r>
            <a:r>
              <a:rPr lang="ru-RU" sz="2200" i="1" baseline="-25000" dirty="0" err="1">
                <a:latin typeface="Times New Roman" panose="02020603050405020304" pitchFamily="18" charset="0"/>
                <a:cs typeface="Times New Roman" panose="02020603050405020304" pitchFamily="18" charset="0"/>
              </a:rPr>
              <a:t>n</a:t>
            </a:r>
            <a:r>
              <a:rPr lang="ru-RU" sz="2200" dirty="0">
                <a:latin typeface="Times New Roman" panose="02020603050405020304" pitchFamily="18" charset="0"/>
                <a:cs typeface="Times New Roman" panose="02020603050405020304" pitchFamily="18" charset="0"/>
              </a:rPr>
              <a:t>)  такая,  что  </a:t>
            </a:r>
            <a:r>
              <a:rPr lang="ru-RU" sz="2200" i="1" dirty="0" err="1">
                <a:latin typeface="Times New Roman" panose="02020603050405020304" pitchFamily="18" charset="0"/>
                <a:cs typeface="Times New Roman" panose="02020603050405020304" pitchFamily="18" charset="0"/>
              </a:rPr>
              <a:t>d</a:t>
            </a:r>
            <a:r>
              <a:rPr lang="ru-RU" sz="2200" i="1" baseline="-25000" dirty="0" err="1">
                <a:latin typeface="Times New Roman" panose="02020603050405020304" pitchFamily="18" charset="0"/>
                <a:cs typeface="Times New Roman" panose="02020603050405020304" pitchFamily="18" charset="0"/>
              </a:rPr>
              <a:t>j</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есть число </a:t>
            </a:r>
            <a:r>
              <a:rPr lang="ru-RU" sz="2200" i="1" dirty="0">
                <a:latin typeface="Times New Roman" panose="02020603050405020304" pitchFamily="18" charset="0"/>
                <a:cs typeface="Times New Roman" panose="02020603050405020304" pitchFamily="18" charset="0"/>
              </a:rPr>
              <a:t>j</a:t>
            </a:r>
            <a:r>
              <a:rPr lang="ru-RU" sz="2200" dirty="0">
                <a:latin typeface="Times New Roman" panose="02020603050405020304" pitchFamily="18" charset="0"/>
                <a:cs typeface="Times New Roman" panose="02020603050405020304" pitchFamily="18" charset="0"/>
              </a:rPr>
              <a:t>-инверсий перестановки </a:t>
            </a:r>
            <a:r>
              <a:rPr lang="ru-RU" sz="2200" i="1" dirty="0">
                <a:latin typeface="Times New Roman" panose="02020603050405020304" pitchFamily="18" charset="0"/>
                <a:cs typeface="Times New Roman" panose="02020603050405020304" pitchFamily="18" charset="0"/>
              </a:rPr>
              <a:t>α</a:t>
            </a:r>
            <a:r>
              <a:rPr lang="ru-RU" sz="2200" dirty="0">
                <a:latin typeface="Times New Roman" panose="02020603050405020304" pitchFamily="18" charset="0"/>
                <a:cs typeface="Times New Roman" panose="02020603050405020304" pitchFamily="18" charset="0"/>
              </a:rPr>
              <a:t>.</a:t>
            </a:r>
          </a:p>
          <a:p>
            <a:pPr marL="358775" indent="-358775" algn="just"/>
            <a:r>
              <a:rPr lang="ru-RU" sz="2200" dirty="0">
                <a:latin typeface="Times New Roman" panose="02020603050405020304" pitchFamily="18" charset="0"/>
                <a:cs typeface="Times New Roman" panose="02020603050405020304" pitchFamily="18" charset="0"/>
              </a:rPr>
              <a:t>Другими словами, </a:t>
            </a:r>
            <a:r>
              <a:rPr lang="ru-RU" sz="2200" i="1" dirty="0" err="1">
                <a:latin typeface="Times New Roman" panose="02020603050405020304" pitchFamily="18" charset="0"/>
                <a:cs typeface="Times New Roman" panose="02020603050405020304" pitchFamily="18" charset="0"/>
              </a:rPr>
              <a:t>d</a:t>
            </a:r>
            <a:r>
              <a:rPr lang="ru-RU" sz="2200" i="1" baseline="-25000" dirty="0" err="1">
                <a:latin typeface="Times New Roman" panose="02020603050405020304" pitchFamily="18" charset="0"/>
                <a:cs typeface="Times New Roman" panose="02020603050405020304" pitchFamily="18" charset="0"/>
              </a:rPr>
              <a:t>j</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есть число элементов перестановки </a:t>
            </a:r>
            <a:r>
              <a:rPr lang="ru-RU" sz="2200" i="1" dirty="0">
                <a:latin typeface="Times New Roman" panose="02020603050405020304" pitchFamily="18" charset="0"/>
                <a:cs typeface="Times New Roman" panose="02020603050405020304" pitchFamily="18" charset="0"/>
              </a:rPr>
              <a:t>α</a:t>
            </a:r>
            <a:r>
              <a:rPr lang="ru-RU" sz="2200"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больших </a:t>
            </a:r>
            <a:r>
              <a:rPr lang="ru-RU" sz="2200" i="1" dirty="0" smtClean="0">
                <a:latin typeface="Times New Roman" panose="02020603050405020304" pitchFamily="18" charset="0"/>
                <a:cs typeface="Times New Roman" panose="02020603050405020304" pitchFamily="18" charset="0"/>
              </a:rPr>
              <a:t>α</a:t>
            </a:r>
            <a:r>
              <a:rPr lang="ru-RU" sz="2200" i="1" baseline="-25000" dirty="0" smtClean="0">
                <a:latin typeface="Times New Roman" panose="02020603050405020304" pitchFamily="18" charset="0"/>
                <a:cs typeface="Times New Roman" panose="02020603050405020304" pitchFamily="18" charset="0"/>
              </a:rPr>
              <a:t>j</a:t>
            </a:r>
            <a:r>
              <a:rPr lang="en-US" sz="2200" i="1" baseline="-25000" dirty="0" smtClean="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и </a:t>
            </a:r>
            <a:r>
              <a:rPr lang="ru-RU" sz="2200" dirty="0">
                <a:latin typeface="Times New Roman" panose="02020603050405020304" pitchFamily="18" charset="0"/>
                <a:cs typeface="Times New Roman" panose="02020603050405020304" pitchFamily="18" charset="0"/>
              </a:rPr>
              <a:t>находящихся левее </a:t>
            </a:r>
            <a:r>
              <a:rPr lang="ru-RU" sz="2200" i="1" dirty="0">
                <a:latin typeface="Times New Roman" panose="02020603050405020304" pitchFamily="18" charset="0"/>
                <a:cs typeface="Times New Roman" panose="02020603050405020304" pitchFamily="18" charset="0"/>
              </a:rPr>
              <a:t>α</a:t>
            </a:r>
            <a:r>
              <a:rPr lang="ru-RU" sz="2200" i="1" baseline="-25000" dirty="0">
                <a:latin typeface="Times New Roman" panose="02020603050405020304" pitchFamily="18" charset="0"/>
                <a:cs typeface="Times New Roman" panose="02020603050405020304" pitchFamily="18" charset="0"/>
              </a:rPr>
              <a:t>j</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в последовательности (</a:t>
            </a:r>
            <a:r>
              <a:rPr lang="ru-RU" sz="2200" i="1" dirty="0">
                <a:latin typeface="Times New Roman" panose="02020603050405020304" pitchFamily="18" charset="0"/>
                <a:cs typeface="Times New Roman" panose="02020603050405020304" pitchFamily="18" charset="0"/>
              </a:rPr>
              <a:t>α</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 . . , α</a:t>
            </a:r>
            <a:r>
              <a:rPr lang="ru-RU" sz="2200" i="1" baseline="-25000" dirty="0">
                <a:latin typeface="Times New Roman" panose="02020603050405020304" pitchFamily="18" charset="0"/>
                <a:cs typeface="Times New Roman" panose="02020603050405020304" pitchFamily="18" charset="0"/>
              </a:rPr>
              <a:t>n</a:t>
            </a:r>
            <a:r>
              <a:rPr lang="ru-RU" sz="2200" dirty="0" smtClean="0">
                <a:latin typeface="Times New Roman" panose="02020603050405020304" pitchFamily="18" charset="0"/>
                <a:cs typeface="Times New Roman" panose="02020603050405020304" pitchFamily="18" charset="0"/>
              </a:rPr>
              <a:t>)</a:t>
            </a:r>
            <a:r>
              <a:rPr lang="en-US" sz="2200" dirty="0" smtClean="0">
                <a:latin typeface="Times New Roman" panose="02020603050405020304" pitchFamily="18" charset="0"/>
                <a:cs typeface="Times New Roman" panose="02020603050405020304" pitchFamily="18" charset="0"/>
              </a:rPr>
              <a:t>.</a:t>
            </a:r>
          </a:p>
          <a:p>
            <a:pPr marL="358775" indent="-358775"/>
            <a:r>
              <a:rPr lang="ru-RU" sz="2200" dirty="0">
                <a:latin typeface="Times New Roman" panose="02020603050405020304" pitchFamily="18" charset="0"/>
                <a:cs typeface="Times New Roman" panose="02020603050405020304" pitchFamily="18" charset="0"/>
              </a:rPr>
              <a:t>Формально, компоненты вектора и таблицы инверсий, определяются следующим образом</a:t>
            </a:r>
            <a:r>
              <a:rPr lang="ru-RU" sz="2200" dirty="0" smtClean="0">
                <a:latin typeface="Times New Roman" panose="02020603050405020304" pitchFamily="18" charset="0"/>
                <a:cs typeface="Times New Roman" panose="02020603050405020304" pitchFamily="18" charset="0"/>
              </a:rPr>
              <a:t>:</a:t>
            </a:r>
            <a:endParaRPr lang="en-US" sz="2200" dirty="0" smtClean="0">
              <a:latin typeface="Times New Roman" panose="02020603050405020304" pitchFamily="18" charset="0"/>
              <a:cs typeface="Times New Roman" panose="02020603050405020304" pitchFamily="18" charset="0"/>
            </a:endParaRPr>
          </a:p>
          <a:p>
            <a:pPr marL="358775" indent="-358775"/>
            <a:endParaRPr lang="ru-RU" sz="2200" dirty="0">
              <a:latin typeface="Times New Roman" panose="02020603050405020304" pitchFamily="18" charset="0"/>
              <a:cs typeface="Times New Roman" panose="02020603050405020304" pitchFamily="18" charset="0"/>
            </a:endParaRPr>
          </a:p>
          <a:p>
            <a:pPr algn="ctr"/>
            <a:r>
              <a:rPr lang="en-US" sz="3600" b="1" dirty="0" smtClean="0"/>
              <a:t>d</a:t>
            </a:r>
            <a:r>
              <a:rPr lang="ru-RU" sz="3600" b="1" baseline="-25000" dirty="0" smtClean="0"/>
              <a:t>j</a:t>
            </a:r>
            <a:r>
              <a:rPr lang="ru-RU" sz="3600" b="1" dirty="0"/>
              <a:t> = | { </a:t>
            </a:r>
            <a:r>
              <a:rPr lang="en-US" sz="3600" b="1" dirty="0" smtClean="0"/>
              <a:t>a</a:t>
            </a:r>
            <a:r>
              <a:rPr lang="ru-RU" sz="3600" b="1" baseline="-25000" dirty="0" smtClean="0"/>
              <a:t>i</a:t>
            </a:r>
            <a:r>
              <a:rPr lang="ru-RU" sz="3600" b="1" dirty="0"/>
              <a:t> &gt; </a:t>
            </a:r>
            <a:r>
              <a:rPr lang="en-US" sz="3600" b="1" dirty="0" smtClean="0"/>
              <a:t>a</a:t>
            </a:r>
            <a:r>
              <a:rPr lang="ru-RU" sz="3600" b="1" baseline="-25000" dirty="0" smtClean="0"/>
              <a:t>j</a:t>
            </a:r>
            <a:r>
              <a:rPr lang="ru-RU" sz="3600" b="1" baseline="-25000" dirty="0"/>
              <a:t> </a:t>
            </a:r>
            <a:r>
              <a:rPr lang="ru-RU" sz="3600" b="1" dirty="0"/>
              <a:t>: i &lt; j } | и </a:t>
            </a:r>
            <a:r>
              <a:rPr lang="en-US" sz="3600" b="1" dirty="0" smtClean="0"/>
              <a:t>w</a:t>
            </a:r>
            <a:r>
              <a:rPr lang="ru-RU" sz="3600" b="1" baseline="-25000" dirty="0" smtClean="0"/>
              <a:t>j</a:t>
            </a:r>
            <a:r>
              <a:rPr lang="ru-RU" sz="3600" b="1" dirty="0"/>
              <a:t> = | { </a:t>
            </a:r>
            <a:r>
              <a:rPr lang="en-US" sz="3600" b="1" dirty="0" smtClean="0"/>
              <a:t>a</a:t>
            </a:r>
            <a:r>
              <a:rPr lang="ru-RU" sz="3600" b="1" baseline="-25000" dirty="0" smtClean="0"/>
              <a:t>i</a:t>
            </a:r>
            <a:r>
              <a:rPr lang="ru-RU" sz="3600" b="1" dirty="0"/>
              <a:t> &gt; j : i &lt; j } |.</a:t>
            </a:r>
            <a:endParaRPr lang="ru-RU" sz="3600" dirty="0"/>
          </a:p>
          <a:p>
            <a:pPr algn="just"/>
            <a:endParaRPr lang="en-US" sz="2200" dirty="0" smtClean="0">
              <a:latin typeface="Times New Roman" panose="02020603050405020304" pitchFamily="18" charset="0"/>
              <a:cs typeface="Times New Roman" panose="02020603050405020304" pitchFamily="18" charset="0"/>
            </a:endParaRPr>
          </a:p>
          <a:p>
            <a:pPr marL="358775" indent="-358775" algn="just"/>
            <a:r>
              <a:rPr lang="ru-RU" sz="2200" dirty="0">
                <a:latin typeface="Times New Roman" panose="02020603050405020304" pitchFamily="18" charset="0"/>
                <a:cs typeface="Times New Roman" panose="02020603050405020304" pitchFamily="18" charset="0"/>
              </a:rPr>
              <a:t>Вектор инверсий содержит информацию о структуре </a:t>
            </a:r>
            <a:r>
              <a:rPr lang="ru-RU" sz="2200" dirty="0" smtClean="0">
                <a:latin typeface="Times New Roman" panose="02020603050405020304" pitchFamily="18" charset="0"/>
                <a:cs typeface="Times New Roman" panose="02020603050405020304" pitchFamily="18" charset="0"/>
              </a:rPr>
              <a:t>«беспорядка» </a:t>
            </a:r>
            <a:r>
              <a:rPr lang="ru-RU" sz="2200" dirty="0">
                <a:latin typeface="Times New Roman" panose="02020603050405020304" pitchFamily="18" charset="0"/>
                <a:cs typeface="Times New Roman" panose="02020603050405020304" pitchFamily="18" charset="0"/>
              </a:rPr>
              <a:t>перестановки. Такая информация оказывается </a:t>
            </a:r>
            <a:r>
              <a:rPr lang="ru-RU" sz="2200" dirty="0" smtClean="0">
                <a:latin typeface="Times New Roman" panose="02020603050405020304" pitchFamily="18" charset="0"/>
                <a:cs typeface="Times New Roman" panose="02020603050405020304" pitchFamily="18" charset="0"/>
              </a:rPr>
              <a:t>необходимой </a:t>
            </a:r>
            <a:r>
              <a:rPr lang="ru-RU" sz="2200" dirty="0">
                <a:latin typeface="Times New Roman" panose="02020603050405020304" pitchFamily="18" charset="0"/>
                <a:cs typeface="Times New Roman" panose="02020603050405020304" pitchFamily="18" charset="0"/>
              </a:rPr>
              <a:t>при </a:t>
            </a:r>
            <a:r>
              <a:rPr lang="ru-RU" sz="2200" dirty="0" smtClean="0">
                <a:latin typeface="Times New Roman" panose="02020603050405020304" pitchFamily="18" charset="0"/>
                <a:cs typeface="Times New Roman" panose="02020603050405020304" pitchFamily="18" charset="0"/>
              </a:rPr>
              <a:t>разработке </a:t>
            </a:r>
            <a:r>
              <a:rPr lang="ru-RU" sz="2200" dirty="0">
                <a:latin typeface="Times New Roman" panose="02020603050405020304" pitchFamily="18" charset="0"/>
                <a:cs typeface="Times New Roman" panose="02020603050405020304" pitchFamily="18" charset="0"/>
              </a:rPr>
              <a:t>различных алгоритмов обработки данных. </a:t>
            </a:r>
            <a:endParaRPr lang="ru-RU" sz="2200" dirty="0" smtClean="0">
              <a:latin typeface="Times New Roman" panose="02020603050405020304" pitchFamily="18" charset="0"/>
              <a:cs typeface="Times New Roman" panose="02020603050405020304" pitchFamily="18" charset="0"/>
            </a:endParaRPr>
          </a:p>
          <a:p>
            <a:pPr marL="358775" indent="-358775" algn="just"/>
            <a:endParaRPr lang="ru-RU" sz="2200" dirty="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3</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0376991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381515"/>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вектор </a:t>
            </a:r>
            <a:r>
              <a:rPr lang="ru-RU" sz="2400" b="1" dirty="0" smtClean="0">
                <a:solidFill>
                  <a:srgbClr val="333333"/>
                </a:solidFill>
                <a:latin typeface="Times New Roman" panose="02020603050405020304" pitchFamily="18" charset="0"/>
                <a:cs typeface="Times New Roman" panose="02020603050405020304" pitchFamily="18" charset="0"/>
              </a:rPr>
              <a:t>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4</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5" name="Таблица 4"/>
          <p:cNvGraphicFramePr>
            <a:graphicFrameLocks noGrp="1"/>
          </p:cNvGraphicFramePr>
          <p:nvPr>
            <p:extLst/>
          </p:nvPr>
        </p:nvGraphicFramePr>
        <p:xfrm>
          <a:off x="1423479" y="1208039"/>
          <a:ext cx="9351820" cy="2072640"/>
        </p:xfrm>
        <a:graphic>
          <a:graphicData uri="http://schemas.openxmlformats.org/drawingml/2006/table">
            <a:tbl>
              <a:tblPr firstRow="1" bandRow="1">
                <a:tableStyleId>{5C22544A-7EE6-4342-B048-85BDC9FD1C3A}</a:tableStyleId>
              </a:tblPr>
              <a:tblGrid>
                <a:gridCol w="935182"/>
                <a:gridCol w="935182"/>
                <a:gridCol w="935182"/>
                <a:gridCol w="935182"/>
                <a:gridCol w="935182"/>
                <a:gridCol w="935182"/>
                <a:gridCol w="935182"/>
                <a:gridCol w="935182"/>
                <a:gridCol w="935182"/>
                <a:gridCol w="935182"/>
              </a:tblGrid>
              <a:tr h="469236">
                <a:tc>
                  <a:txBody>
                    <a:bodyPr/>
                    <a:lstStyle/>
                    <a:p>
                      <a:pPr algn="ctr"/>
                      <a:r>
                        <a:rPr lang="en-US" sz="2800" dirty="0" smtClean="0"/>
                        <a:t>j</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tc>
                  <a:txBody>
                    <a:bodyPr/>
                    <a:lstStyle/>
                    <a:p>
                      <a:pPr algn="ctr"/>
                      <a:r>
                        <a:rPr lang="en-US" sz="2800" dirty="0" smtClean="0"/>
                        <a:t>6</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9</a:t>
                      </a:r>
                      <a:endParaRPr lang="ru-RU" sz="2800" dirty="0"/>
                    </a:p>
                  </a:txBody>
                  <a:tcPr/>
                </a:tc>
              </a:tr>
              <a:tr h="469236">
                <a:tc>
                  <a:txBody>
                    <a:bodyPr/>
                    <a:lstStyle/>
                    <a:p>
                      <a:pPr algn="ctr"/>
                      <a:r>
                        <a:rPr lang="en-US" sz="2800" dirty="0" err="1" smtClean="0"/>
                        <a:t>a</a:t>
                      </a:r>
                      <a:r>
                        <a:rPr lang="en-US" sz="2800" baseline="-25000" dirty="0" err="1" smtClean="0"/>
                        <a:t>j</a:t>
                      </a:r>
                      <a:endParaRPr lang="ru-RU" sz="2800" baseline="-25000" dirty="0"/>
                    </a:p>
                  </a:txBody>
                  <a:tcPr/>
                </a:tc>
                <a:tc>
                  <a:txBody>
                    <a:bodyPr/>
                    <a:lstStyle/>
                    <a:p>
                      <a:pPr algn="ctr"/>
                      <a:r>
                        <a:rPr lang="en-US" sz="2800" u="sng" dirty="0" smtClean="0"/>
                        <a:t>5</a:t>
                      </a:r>
                      <a:endParaRPr lang="ru-RU" sz="2800" u="sng" dirty="0"/>
                    </a:p>
                  </a:txBody>
                  <a:tcPr/>
                </a:tc>
                <a:tc>
                  <a:txBody>
                    <a:bodyPr/>
                    <a:lstStyle/>
                    <a:p>
                      <a:pPr algn="ctr"/>
                      <a:r>
                        <a:rPr lang="en-US" sz="2800" u="sng" dirty="0" smtClean="0">
                          <a:solidFill>
                            <a:srgbClr val="FFFF00"/>
                          </a:solidFill>
                        </a:rPr>
                        <a:t>9</a:t>
                      </a:r>
                      <a:endParaRPr lang="ru-RU" sz="2800" u="sng" dirty="0">
                        <a:solidFill>
                          <a:srgbClr val="FFFF00"/>
                        </a:solidFill>
                      </a:endParaRPr>
                    </a:p>
                  </a:txBody>
                  <a:tcPr/>
                </a:tc>
                <a:tc>
                  <a:txBody>
                    <a:bodyPr/>
                    <a:lstStyle/>
                    <a:p>
                      <a:pPr algn="ctr"/>
                      <a:r>
                        <a:rPr lang="en-US" sz="2800" u="sng" dirty="0" smtClean="0"/>
                        <a:t>1</a:t>
                      </a:r>
                      <a:endParaRPr lang="ru-RU" sz="2800" u="sng" dirty="0"/>
                    </a:p>
                  </a:txBody>
                  <a:tcPr/>
                </a:tc>
                <a:tc>
                  <a:txBody>
                    <a:bodyPr/>
                    <a:lstStyle/>
                    <a:p>
                      <a:pPr algn="ctr"/>
                      <a:r>
                        <a:rPr lang="en-US" sz="2800" dirty="0" smtClean="0">
                          <a:solidFill>
                            <a:srgbClr val="FF0000"/>
                          </a:solidFill>
                        </a:rPr>
                        <a:t>8</a:t>
                      </a:r>
                      <a:endParaRPr lang="ru-RU" sz="2800" dirty="0">
                        <a:solidFill>
                          <a:srgbClr val="FF0000"/>
                        </a:solidFill>
                      </a:endParaRPr>
                    </a:p>
                  </a:txBody>
                  <a:tcPr/>
                </a:tc>
                <a:tc>
                  <a:txBody>
                    <a:bodyPr/>
                    <a:lstStyle/>
                    <a:p>
                      <a:pPr algn="ctr"/>
                      <a:r>
                        <a:rPr lang="en-US" sz="2800" dirty="0" smtClean="0"/>
                        <a:t>2</a:t>
                      </a:r>
                      <a:endParaRPr lang="ru-RU" sz="2800" dirty="0"/>
                    </a:p>
                  </a:txBody>
                  <a:tcPr/>
                </a:tc>
                <a:tc>
                  <a:txBody>
                    <a:bodyPr/>
                    <a:lstStyle/>
                    <a:p>
                      <a:pPr algn="ctr"/>
                      <a:r>
                        <a:rPr lang="en-US" sz="2800" dirty="0" smtClean="0"/>
                        <a:t>6</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3</a:t>
                      </a:r>
                      <a:endParaRPr lang="ru-RU" sz="2800" dirty="0"/>
                    </a:p>
                  </a:txBody>
                  <a:tcPr/>
                </a:tc>
              </a:tr>
              <a:tr h="469236">
                <a:tc>
                  <a:txBody>
                    <a:bodyPr/>
                    <a:lstStyle/>
                    <a:p>
                      <a:pPr algn="ctr"/>
                      <a:r>
                        <a:rPr lang="en-US" sz="2800" dirty="0" err="1" smtClean="0"/>
                        <a:t>d</a:t>
                      </a:r>
                      <a:r>
                        <a:rPr lang="en-US" sz="2800" baseline="-25000" dirty="0" err="1" smtClean="0"/>
                        <a:t>j</a:t>
                      </a:r>
                      <a:endParaRPr lang="ru-RU" sz="2800" baseline="-250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6</a:t>
                      </a:r>
                      <a:endParaRPr lang="ru-RU" sz="2800" dirty="0"/>
                    </a:p>
                  </a:txBody>
                  <a:tcPr/>
                </a:tc>
              </a:tr>
              <a:tr h="508454">
                <a:tc>
                  <a:txBody>
                    <a:bodyPr/>
                    <a:lstStyle/>
                    <a:p>
                      <a:pPr algn="ctr"/>
                      <a:r>
                        <a:rPr lang="en-US" sz="2800" dirty="0" err="1" smtClean="0"/>
                        <a:t>w</a:t>
                      </a:r>
                      <a:r>
                        <a:rPr lang="en-US" sz="2800" baseline="-25000" dirty="0" err="1" smtClean="0"/>
                        <a:t>j</a:t>
                      </a:r>
                      <a:endParaRPr lang="ru-RU" sz="2800" baseline="-25000" dirty="0"/>
                    </a:p>
                  </a:txBody>
                  <a:tcPr/>
                </a:tc>
                <a:tc>
                  <a:txBody>
                    <a:bodyPr/>
                    <a:lstStyle/>
                    <a:p>
                      <a:pPr algn="ctr"/>
                      <a:r>
                        <a:rPr lang="en-US" sz="2800" u="sng" dirty="0" smtClean="0">
                          <a:solidFill>
                            <a:srgbClr val="00B050"/>
                          </a:solidFill>
                        </a:rPr>
                        <a:t>2</a:t>
                      </a:r>
                      <a:endParaRPr lang="ru-RU" sz="2800" u="sng" dirty="0">
                        <a:solidFill>
                          <a:srgbClr val="00B050"/>
                        </a:solidFill>
                      </a:endParaRPr>
                    </a:p>
                  </a:txBody>
                  <a:tcPr/>
                </a:tc>
                <a:tc>
                  <a:txBody>
                    <a:bodyPr/>
                    <a:lstStyle/>
                    <a:p>
                      <a:pPr algn="ctr"/>
                      <a:r>
                        <a:rPr lang="en-US" sz="2800" dirty="0" smtClean="0"/>
                        <a:t>3</a:t>
                      </a:r>
                      <a:endParaRPr lang="ru-RU" sz="2800" dirty="0"/>
                    </a:p>
                  </a:txBody>
                  <a:tcPr/>
                </a:tc>
                <a:tc>
                  <a:txBody>
                    <a:bodyPr/>
                    <a:lstStyle/>
                    <a:p>
                      <a:pPr algn="ctr"/>
                      <a:r>
                        <a:rPr lang="en-US" sz="2800" dirty="0" smtClean="0"/>
                        <a:t>6</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solidFill>
                            <a:srgbClr val="FF0000"/>
                          </a:solidFill>
                        </a:rPr>
                        <a:t>1</a:t>
                      </a:r>
                      <a:endParaRPr lang="ru-RU" sz="2800" dirty="0">
                        <a:solidFill>
                          <a:srgbClr val="FF0000"/>
                        </a:solidFill>
                      </a:endParaRPr>
                    </a:p>
                  </a:txBody>
                  <a:tcPr/>
                </a:tc>
                <a:tc>
                  <a:txBody>
                    <a:bodyPr/>
                    <a:lstStyle/>
                    <a:p>
                      <a:pPr algn="ctr"/>
                      <a:r>
                        <a:rPr lang="en-US" sz="2800" dirty="0" smtClean="0"/>
                        <a:t>0</a:t>
                      </a:r>
                      <a:endParaRPr lang="ru-RU" sz="2800" dirty="0"/>
                    </a:p>
                  </a:txBody>
                  <a:tcPr/>
                </a:tc>
              </a:tr>
            </a:tbl>
          </a:graphicData>
        </a:graphic>
      </p:graphicFrame>
      <p:graphicFrame>
        <p:nvGraphicFramePr>
          <p:cNvPr id="7" name="Таблица 6"/>
          <p:cNvGraphicFramePr>
            <a:graphicFrameLocks noGrp="1"/>
          </p:cNvGraphicFramePr>
          <p:nvPr>
            <p:extLst/>
          </p:nvPr>
        </p:nvGraphicFramePr>
        <p:xfrm>
          <a:off x="1411125" y="4578065"/>
          <a:ext cx="9351820" cy="2072640"/>
        </p:xfrm>
        <a:graphic>
          <a:graphicData uri="http://schemas.openxmlformats.org/drawingml/2006/table">
            <a:tbl>
              <a:tblPr firstRow="1" bandRow="1">
                <a:tableStyleId>{5C22544A-7EE6-4342-B048-85BDC9FD1C3A}</a:tableStyleId>
              </a:tblPr>
              <a:tblGrid>
                <a:gridCol w="935182"/>
                <a:gridCol w="935182"/>
                <a:gridCol w="935182"/>
                <a:gridCol w="935182"/>
                <a:gridCol w="935182"/>
                <a:gridCol w="935182"/>
                <a:gridCol w="935182"/>
                <a:gridCol w="935182"/>
                <a:gridCol w="935182"/>
                <a:gridCol w="935182"/>
              </a:tblGrid>
              <a:tr h="0">
                <a:tc>
                  <a:txBody>
                    <a:bodyPr/>
                    <a:lstStyle/>
                    <a:p>
                      <a:pPr algn="ctr"/>
                      <a:r>
                        <a:rPr lang="en-US" sz="2800" dirty="0" smtClean="0"/>
                        <a:t>j</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tc>
                  <a:txBody>
                    <a:bodyPr/>
                    <a:lstStyle/>
                    <a:p>
                      <a:pPr algn="ctr"/>
                      <a:r>
                        <a:rPr lang="en-US" sz="2800" dirty="0" smtClean="0"/>
                        <a:t>6</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9</a:t>
                      </a:r>
                      <a:endParaRPr lang="ru-RU" sz="2800" dirty="0"/>
                    </a:p>
                  </a:txBody>
                  <a:tcPr/>
                </a:tc>
              </a:tr>
              <a:tr h="370840">
                <a:tc>
                  <a:txBody>
                    <a:bodyPr/>
                    <a:lstStyle/>
                    <a:p>
                      <a:pPr algn="ctr"/>
                      <a:r>
                        <a:rPr lang="en-US" sz="2800" dirty="0" err="1" smtClean="0"/>
                        <a:t>a</a:t>
                      </a:r>
                      <a:r>
                        <a:rPr lang="en-US" sz="2800" baseline="-25000" dirty="0" err="1" smtClean="0"/>
                        <a:t>j</a:t>
                      </a:r>
                      <a:endParaRPr lang="ru-RU" sz="2800" baseline="-25000" dirty="0"/>
                    </a:p>
                  </a:txBody>
                  <a:tcPr/>
                </a:tc>
                <a:tc>
                  <a:txBody>
                    <a:bodyPr/>
                    <a:lstStyle/>
                    <a:p>
                      <a:pPr algn="ctr"/>
                      <a:r>
                        <a:rPr lang="en-US"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5</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6</a:t>
                      </a:r>
                      <a:endParaRPr lang="ru-RU" sz="2800" dirty="0"/>
                    </a:p>
                  </a:txBody>
                  <a:tcPr/>
                </a:tc>
                <a:tc>
                  <a:txBody>
                    <a:bodyPr/>
                    <a:lstStyle/>
                    <a:p>
                      <a:pPr algn="ctr"/>
                      <a:r>
                        <a:rPr lang="en-US" sz="2800" dirty="0" smtClean="0"/>
                        <a:t>9</a:t>
                      </a:r>
                      <a:endParaRPr lang="ru-RU" sz="2800" dirty="0"/>
                    </a:p>
                  </a:txBody>
                  <a:tcPr/>
                </a:tc>
              </a:tr>
              <a:tr h="370840">
                <a:tc>
                  <a:txBody>
                    <a:bodyPr/>
                    <a:lstStyle/>
                    <a:p>
                      <a:pPr algn="ctr"/>
                      <a:r>
                        <a:rPr lang="en-US" sz="2800" dirty="0" err="1" smtClean="0"/>
                        <a:t>d</a:t>
                      </a:r>
                      <a:r>
                        <a:rPr lang="en-US" sz="2800" baseline="-25000" dirty="0" err="1" smtClean="0"/>
                        <a:t>j</a:t>
                      </a:r>
                      <a:endParaRPr lang="ru-RU" sz="2800" baseline="-250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0</a:t>
                      </a:r>
                      <a:endParaRPr lang="ru-RU" sz="2800" dirty="0"/>
                    </a:p>
                  </a:txBody>
                  <a:tcPr/>
                </a:tc>
              </a:tr>
              <a:tr h="370840">
                <a:tc>
                  <a:txBody>
                    <a:bodyPr/>
                    <a:lstStyle/>
                    <a:p>
                      <a:pPr algn="ctr"/>
                      <a:r>
                        <a:rPr lang="en-US" sz="2800" dirty="0" err="1" smtClean="0"/>
                        <a:t>w</a:t>
                      </a:r>
                      <a:r>
                        <a:rPr lang="en-US" sz="2800" baseline="-25000" dirty="0" err="1" smtClean="0"/>
                        <a:t>j</a:t>
                      </a:r>
                      <a:endParaRPr lang="ru-RU" sz="2800" baseline="-25000" dirty="0"/>
                    </a:p>
                  </a:txBody>
                  <a:tcPr/>
                </a:tc>
                <a:tc>
                  <a:txBody>
                    <a:bodyPr/>
                    <a:lstStyle/>
                    <a:p>
                      <a:pPr algn="ctr"/>
                      <a:r>
                        <a:rPr lang="en-US"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r>
            </a:tbl>
          </a:graphicData>
        </a:graphic>
      </p:graphicFrame>
      <p:sp>
        <p:nvSpPr>
          <p:cNvPr id="8" name="Прямоугольник 7"/>
          <p:cNvSpPr/>
          <p:nvPr/>
        </p:nvSpPr>
        <p:spPr>
          <a:xfrm>
            <a:off x="192741" y="3276600"/>
            <a:ext cx="11506200" cy="1200329"/>
          </a:xfrm>
          <a:prstGeom prst="rect">
            <a:avLst/>
          </a:prstGeom>
        </p:spPr>
        <p:txBody>
          <a:bodyPr wrap="square">
            <a:spAutoFit/>
          </a:bodyPr>
          <a:lstStyle/>
          <a:p>
            <a:pPr algn="just"/>
            <a:r>
              <a:rPr lang="ru-RU" dirty="0" smtClean="0">
                <a:solidFill>
                  <a:srgbClr val="000000"/>
                </a:solidFill>
                <a:latin typeface="verdana" panose="020B0604030504040204" pitchFamily="34" charset="0"/>
              </a:rPr>
              <a:t>В этом </a:t>
            </a:r>
            <a:r>
              <a:rPr lang="ru-RU" dirty="0">
                <a:solidFill>
                  <a:srgbClr val="000000"/>
                </a:solidFill>
                <a:latin typeface="verdana" panose="020B0604030504040204" pitchFamily="34" charset="0"/>
              </a:rPr>
              <a:t>примере </a:t>
            </a:r>
            <a:r>
              <a:rPr lang="en-US" b="1" dirty="0" smtClean="0">
                <a:solidFill>
                  <a:srgbClr val="000000"/>
                </a:solidFill>
                <a:latin typeface="verdana" panose="020B0604030504040204" pitchFamily="34" charset="0"/>
              </a:rPr>
              <a:t>d</a:t>
            </a:r>
            <a:r>
              <a:rPr lang="ru-RU" b="1" baseline="-25000" dirty="0" smtClean="0">
                <a:solidFill>
                  <a:srgbClr val="000000"/>
                </a:solidFill>
                <a:latin typeface="verdana" panose="020B0604030504040204" pitchFamily="34" charset="0"/>
              </a:rPr>
              <a:t>8</a:t>
            </a:r>
            <a:r>
              <a:rPr lang="ru-RU" b="1" dirty="0" smtClean="0">
                <a:solidFill>
                  <a:srgbClr val="000000"/>
                </a:solidFill>
                <a:latin typeface="verdana" panose="020B0604030504040204" pitchFamily="34" charset="0"/>
              </a:rPr>
              <a:t>=2</a:t>
            </a:r>
            <a:r>
              <a:rPr lang="ru-RU" dirty="0">
                <a:solidFill>
                  <a:srgbClr val="000000"/>
                </a:solidFill>
                <a:latin typeface="verdana" panose="020B0604030504040204" pitchFamily="34" charset="0"/>
              </a:rPr>
              <a:t>, </a:t>
            </a:r>
            <a:r>
              <a:rPr lang="ru-RU" dirty="0" smtClean="0">
                <a:solidFill>
                  <a:srgbClr val="000000"/>
                </a:solidFill>
                <a:latin typeface="verdana" panose="020B0604030504040204" pitchFamily="34" charset="0"/>
              </a:rPr>
              <a:t>так как слева </a:t>
            </a:r>
            <a:r>
              <a:rPr lang="ru-RU" dirty="0">
                <a:solidFill>
                  <a:srgbClr val="000000"/>
                </a:solidFill>
                <a:latin typeface="verdana" panose="020B0604030504040204" pitchFamily="34" charset="0"/>
              </a:rPr>
              <a:t>от элемента </a:t>
            </a:r>
            <a:r>
              <a:rPr lang="ru-RU" b="1" dirty="0" smtClean="0">
                <a:solidFill>
                  <a:srgbClr val="000000"/>
                </a:solidFill>
                <a:latin typeface="verdana" panose="020B0604030504040204" pitchFamily="34" charset="0"/>
              </a:rPr>
              <a:t>А</a:t>
            </a:r>
            <a:r>
              <a:rPr lang="ru-RU" b="1" baseline="-25000" dirty="0" smtClean="0">
                <a:solidFill>
                  <a:srgbClr val="000000"/>
                </a:solidFill>
                <a:latin typeface="verdana" panose="020B0604030504040204" pitchFamily="34" charset="0"/>
              </a:rPr>
              <a:t>8</a:t>
            </a:r>
            <a:r>
              <a:rPr lang="ru-RU" b="1" dirty="0" smtClean="0">
                <a:solidFill>
                  <a:srgbClr val="000000"/>
                </a:solidFill>
                <a:latin typeface="verdana" panose="020B0604030504040204" pitchFamily="34" charset="0"/>
              </a:rPr>
              <a:t>=7</a:t>
            </a:r>
            <a:r>
              <a:rPr lang="ru-RU" dirty="0">
                <a:solidFill>
                  <a:srgbClr val="000000"/>
                </a:solidFill>
                <a:latin typeface="verdana" panose="020B0604030504040204" pitchFamily="34" charset="0"/>
              </a:rPr>
              <a:t> в перестановке есть </a:t>
            </a:r>
            <a:r>
              <a:rPr lang="ru-RU" b="1" dirty="0">
                <a:solidFill>
                  <a:srgbClr val="000000"/>
                </a:solidFill>
                <a:latin typeface="verdana" panose="020B0604030504040204" pitchFamily="34" charset="0"/>
              </a:rPr>
              <a:t>2</a:t>
            </a:r>
            <a:r>
              <a:rPr lang="ru-RU" dirty="0">
                <a:solidFill>
                  <a:srgbClr val="000000"/>
                </a:solidFill>
                <a:latin typeface="verdana" panose="020B0604030504040204" pitchFamily="34" charset="0"/>
              </a:rPr>
              <a:t> элемента </a:t>
            </a:r>
            <a:r>
              <a:rPr lang="ru-RU" b="1" dirty="0" smtClean="0">
                <a:solidFill>
                  <a:srgbClr val="000000"/>
                </a:solidFill>
                <a:latin typeface="verdana" panose="020B0604030504040204" pitchFamily="34" charset="0"/>
              </a:rPr>
              <a:t>А</a:t>
            </a:r>
            <a:r>
              <a:rPr lang="ru-RU" b="1" baseline="-25000" dirty="0" smtClean="0">
                <a:solidFill>
                  <a:srgbClr val="000000"/>
                </a:solidFill>
                <a:latin typeface="verdana" panose="020B0604030504040204" pitchFamily="34" charset="0"/>
              </a:rPr>
              <a:t>2</a:t>
            </a:r>
            <a:r>
              <a:rPr lang="ru-RU" b="1" dirty="0" smtClean="0">
                <a:solidFill>
                  <a:srgbClr val="000000"/>
                </a:solidFill>
                <a:latin typeface="verdana" panose="020B0604030504040204" pitchFamily="34" charset="0"/>
              </a:rPr>
              <a:t>=9</a:t>
            </a:r>
            <a:r>
              <a:rPr lang="ru-RU" dirty="0">
                <a:solidFill>
                  <a:srgbClr val="000000"/>
                </a:solidFill>
                <a:latin typeface="verdana" panose="020B0604030504040204" pitchFamily="34" charset="0"/>
              </a:rPr>
              <a:t> и </a:t>
            </a:r>
            <a:r>
              <a:rPr lang="ru-RU" b="1" dirty="0" smtClean="0">
                <a:solidFill>
                  <a:srgbClr val="000000"/>
                </a:solidFill>
                <a:latin typeface="verdana" panose="020B0604030504040204" pitchFamily="34" charset="0"/>
              </a:rPr>
              <a:t>А</a:t>
            </a:r>
            <a:r>
              <a:rPr lang="ru-RU" b="1" baseline="-25000" dirty="0" smtClean="0">
                <a:solidFill>
                  <a:srgbClr val="000000"/>
                </a:solidFill>
                <a:latin typeface="verdana" panose="020B0604030504040204" pitchFamily="34" charset="0"/>
              </a:rPr>
              <a:t>4</a:t>
            </a:r>
            <a:r>
              <a:rPr lang="ru-RU" b="1" dirty="0" smtClean="0">
                <a:solidFill>
                  <a:srgbClr val="000000"/>
                </a:solidFill>
                <a:latin typeface="verdana" panose="020B0604030504040204" pitchFamily="34" charset="0"/>
              </a:rPr>
              <a:t>=8</a:t>
            </a:r>
            <a:r>
              <a:rPr lang="ru-RU" dirty="0">
                <a:solidFill>
                  <a:srgbClr val="000000"/>
                </a:solidFill>
                <a:latin typeface="verdana" panose="020B0604030504040204" pitchFamily="34" charset="0"/>
              </a:rPr>
              <a:t> с большим значением, чем </a:t>
            </a:r>
            <a:r>
              <a:rPr lang="ru-RU" b="1" dirty="0">
                <a:solidFill>
                  <a:srgbClr val="000000"/>
                </a:solidFill>
                <a:latin typeface="verdana" panose="020B0604030504040204" pitchFamily="34" charset="0"/>
              </a:rPr>
              <a:t>7</a:t>
            </a:r>
            <a:r>
              <a:rPr lang="ru-RU" dirty="0">
                <a:solidFill>
                  <a:srgbClr val="000000"/>
                </a:solidFill>
                <a:latin typeface="verdana" panose="020B0604030504040204" pitchFamily="34" charset="0"/>
              </a:rPr>
              <a:t>. С другой стороны, </a:t>
            </a:r>
            <a:r>
              <a:rPr lang="ru-RU" b="1" dirty="0" smtClean="0">
                <a:solidFill>
                  <a:srgbClr val="000000"/>
                </a:solidFill>
                <a:latin typeface="verdana" panose="020B0604030504040204" pitchFamily="34" charset="0"/>
              </a:rPr>
              <a:t>W</a:t>
            </a:r>
            <a:r>
              <a:rPr lang="ru-RU" b="1" baseline="-25000" dirty="0" smtClean="0">
                <a:solidFill>
                  <a:srgbClr val="000000"/>
                </a:solidFill>
                <a:latin typeface="verdana" panose="020B0604030504040204" pitchFamily="34" charset="0"/>
              </a:rPr>
              <a:t>8</a:t>
            </a:r>
            <a:r>
              <a:rPr lang="ru-RU" b="1" dirty="0" smtClean="0">
                <a:solidFill>
                  <a:srgbClr val="000000"/>
                </a:solidFill>
                <a:latin typeface="verdana" panose="020B0604030504040204" pitchFamily="34" charset="0"/>
              </a:rPr>
              <a:t>=1</a:t>
            </a:r>
            <a:r>
              <a:rPr lang="ru-RU" dirty="0" smtClean="0">
                <a:solidFill>
                  <a:srgbClr val="000000"/>
                </a:solidFill>
                <a:latin typeface="verdana" panose="020B0604030504040204" pitchFamily="34" charset="0"/>
              </a:rPr>
              <a:t>, так как слева </a:t>
            </a:r>
            <a:r>
              <a:rPr lang="ru-RU" dirty="0">
                <a:solidFill>
                  <a:srgbClr val="000000"/>
                </a:solidFill>
                <a:latin typeface="verdana" panose="020B0604030504040204" pitchFamily="34" charset="0"/>
              </a:rPr>
              <a:t>от элемента со значением </a:t>
            </a:r>
            <a:r>
              <a:rPr lang="ru-RU" b="1" dirty="0">
                <a:solidFill>
                  <a:srgbClr val="000000"/>
                </a:solidFill>
                <a:latin typeface="verdana" panose="020B0604030504040204" pitchFamily="34" charset="0"/>
              </a:rPr>
              <a:t>8</a:t>
            </a:r>
            <a:r>
              <a:rPr lang="ru-RU" dirty="0">
                <a:solidFill>
                  <a:srgbClr val="000000"/>
                </a:solidFill>
                <a:latin typeface="verdana" panose="020B0604030504040204" pitchFamily="34" charset="0"/>
              </a:rPr>
              <a:t> (это </a:t>
            </a:r>
            <a:r>
              <a:rPr lang="ru-RU" b="1" dirty="0" smtClean="0">
                <a:solidFill>
                  <a:srgbClr val="000000"/>
                </a:solidFill>
                <a:latin typeface="verdana" panose="020B0604030504040204" pitchFamily="34" charset="0"/>
              </a:rPr>
              <a:t>А</a:t>
            </a:r>
            <a:r>
              <a:rPr lang="ru-RU" b="1" baseline="-25000" dirty="0" smtClean="0">
                <a:solidFill>
                  <a:srgbClr val="000000"/>
                </a:solidFill>
                <a:latin typeface="verdana" panose="020B0604030504040204" pitchFamily="34" charset="0"/>
              </a:rPr>
              <a:t>4</a:t>
            </a:r>
            <a:r>
              <a:rPr lang="ru-RU" dirty="0">
                <a:solidFill>
                  <a:srgbClr val="000000"/>
                </a:solidFill>
                <a:latin typeface="verdana" panose="020B0604030504040204" pitchFamily="34" charset="0"/>
              </a:rPr>
              <a:t>) в перестановке </a:t>
            </a:r>
            <a:r>
              <a:rPr lang="ru-RU" dirty="0" smtClean="0">
                <a:solidFill>
                  <a:srgbClr val="000000"/>
                </a:solidFill>
                <a:latin typeface="verdana" panose="020B0604030504040204" pitchFamily="34" charset="0"/>
              </a:rPr>
              <a:t>имеется </a:t>
            </a:r>
            <a:r>
              <a:rPr lang="ru-RU" dirty="0">
                <a:solidFill>
                  <a:srgbClr val="000000"/>
                </a:solidFill>
                <a:latin typeface="verdana" panose="020B0604030504040204" pitchFamily="34" charset="0"/>
              </a:rPr>
              <a:t>только </a:t>
            </a:r>
            <a:r>
              <a:rPr lang="ru-RU" b="1" dirty="0">
                <a:solidFill>
                  <a:srgbClr val="000000"/>
                </a:solidFill>
                <a:latin typeface="verdana" panose="020B0604030504040204" pitchFamily="34" charset="0"/>
              </a:rPr>
              <a:t>1</a:t>
            </a:r>
            <a:r>
              <a:rPr lang="ru-RU" dirty="0">
                <a:solidFill>
                  <a:srgbClr val="000000"/>
                </a:solidFill>
                <a:latin typeface="verdana" panose="020B0604030504040204" pitchFamily="34" charset="0"/>
              </a:rPr>
              <a:t> элемент </a:t>
            </a:r>
            <a:r>
              <a:rPr lang="ru-RU" b="1" dirty="0" smtClean="0">
                <a:solidFill>
                  <a:srgbClr val="000000"/>
                </a:solidFill>
                <a:latin typeface="verdana" panose="020B0604030504040204" pitchFamily="34" charset="0"/>
              </a:rPr>
              <a:t>(А</a:t>
            </a:r>
            <a:r>
              <a:rPr lang="ru-RU" b="1" baseline="-25000" dirty="0" smtClean="0">
                <a:solidFill>
                  <a:srgbClr val="000000"/>
                </a:solidFill>
                <a:latin typeface="verdana" panose="020B0604030504040204" pitchFamily="34" charset="0"/>
              </a:rPr>
              <a:t>2</a:t>
            </a:r>
            <a:r>
              <a:rPr lang="ru-RU" b="1" dirty="0" smtClean="0">
                <a:solidFill>
                  <a:srgbClr val="000000"/>
                </a:solidFill>
                <a:latin typeface="verdana" panose="020B0604030504040204" pitchFamily="34" charset="0"/>
              </a:rPr>
              <a:t>=9</a:t>
            </a:r>
            <a:r>
              <a:rPr lang="ru-RU" b="1" dirty="0">
                <a:solidFill>
                  <a:srgbClr val="000000"/>
                </a:solidFill>
                <a:latin typeface="verdana" panose="020B0604030504040204" pitchFamily="34" charset="0"/>
              </a:rPr>
              <a:t>)</a:t>
            </a:r>
            <a:r>
              <a:rPr lang="ru-RU" dirty="0">
                <a:solidFill>
                  <a:srgbClr val="000000"/>
                </a:solidFill>
                <a:latin typeface="verdana" panose="020B0604030504040204" pitchFamily="34" charset="0"/>
              </a:rPr>
              <a:t>, значение которого больше, чем </a:t>
            </a:r>
            <a:r>
              <a:rPr lang="ru-RU" b="1" dirty="0">
                <a:solidFill>
                  <a:srgbClr val="000000"/>
                </a:solidFill>
                <a:latin typeface="verdana" panose="020B0604030504040204" pitchFamily="34" charset="0"/>
              </a:rPr>
              <a:t>8</a:t>
            </a:r>
            <a:r>
              <a:rPr lang="ru-RU" dirty="0">
                <a:solidFill>
                  <a:srgbClr val="000000"/>
                </a:solidFill>
                <a:latin typeface="verdana" panose="020B0604030504040204" pitchFamily="34" charset="0"/>
              </a:rPr>
              <a:t>.</a:t>
            </a:r>
            <a:endParaRPr lang="ru-RU" dirty="0"/>
          </a:p>
        </p:txBody>
      </p:sp>
    </p:spTree>
    <p:extLst>
      <p:ext uri="{BB962C8B-B14F-4D97-AF65-F5344CB8AC3E}">
        <p14:creationId xmlns:p14="http://schemas.microsoft.com/office/powerpoint/2010/main" val="42180913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173228" y="914400"/>
            <a:ext cx="11790172" cy="6106159"/>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вектор </a:t>
            </a:r>
            <a:r>
              <a:rPr lang="ru-RU" sz="2400" b="1" dirty="0" smtClean="0">
                <a:solidFill>
                  <a:srgbClr val="333333"/>
                </a:solidFill>
                <a:latin typeface="Times New Roman" panose="02020603050405020304" pitchFamily="18" charset="0"/>
                <a:cs typeface="Times New Roman" panose="02020603050405020304" pitchFamily="18" charset="0"/>
              </a:rPr>
              <a:t>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Для </a:t>
            </a:r>
            <a:r>
              <a:rPr lang="ru-RU" sz="2200" dirty="0">
                <a:latin typeface="Times New Roman" panose="02020603050405020304" pitchFamily="18" charset="0"/>
                <a:cs typeface="Times New Roman" panose="02020603050405020304" pitchFamily="18" charset="0"/>
              </a:rPr>
              <a:t>любой перестановки значения компонентов вектора и таблицы инверсий связаны следующими соотношениями</a:t>
            </a:r>
            <a:r>
              <a:rPr lang="ru-RU" sz="2200" dirty="0" smtClean="0">
                <a:latin typeface="Times New Roman" panose="02020603050405020304" pitchFamily="18" charset="0"/>
                <a:cs typeface="Times New Roman" panose="02020603050405020304" pitchFamily="18" charset="0"/>
              </a:rPr>
              <a:t>:</a:t>
            </a:r>
          </a:p>
          <a:p>
            <a:pPr marL="358775" indent="-358775" algn="just"/>
            <a:endParaRPr lang="ru-RU" sz="400" dirty="0">
              <a:latin typeface="Times New Roman" panose="02020603050405020304" pitchFamily="18" charset="0"/>
              <a:cs typeface="Times New Roman" panose="02020603050405020304" pitchFamily="18" charset="0"/>
            </a:endParaRPr>
          </a:p>
          <a:p>
            <a:pPr algn="ctr"/>
            <a:r>
              <a:rPr lang="en-US" sz="2400" b="1" dirty="0" smtClean="0">
                <a:latin typeface="Arial Rounded MT Bold" panose="020F0704030504030204" pitchFamily="34" charset="0"/>
              </a:rPr>
              <a:t>d</a:t>
            </a:r>
            <a:r>
              <a:rPr lang="ru-RU" sz="2400" b="1" baseline="-25000" dirty="0" smtClean="0"/>
              <a:t>1</a:t>
            </a:r>
            <a:r>
              <a:rPr lang="ru-RU" sz="2400" b="1" dirty="0"/>
              <a:t> = </a:t>
            </a:r>
            <a:r>
              <a:rPr lang="ru-RU" sz="2400" b="1" dirty="0" err="1"/>
              <a:t>W</a:t>
            </a:r>
            <a:r>
              <a:rPr lang="ru-RU" sz="2400" b="1" baseline="-25000" dirty="0" err="1"/>
              <a:t>n</a:t>
            </a:r>
            <a:r>
              <a:rPr lang="ru-RU" sz="2400" b="1" dirty="0"/>
              <a:t> = 0; </a:t>
            </a:r>
            <a:r>
              <a:rPr lang="en-US" sz="2400" b="1" dirty="0" smtClean="0">
                <a:latin typeface="Arial Rounded MT Bold" panose="020F0704030504030204" pitchFamily="34" charset="0"/>
              </a:rPr>
              <a:t>d</a:t>
            </a:r>
            <a:r>
              <a:rPr lang="ru-RU" sz="2400" b="1" baseline="-25000" dirty="0" smtClean="0"/>
              <a:t>j</a:t>
            </a:r>
            <a:r>
              <a:rPr lang="ru-RU" sz="2400" b="1" baseline="-25000" dirty="0"/>
              <a:t> </a:t>
            </a:r>
            <a:r>
              <a:rPr lang="ru-RU" sz="2400" b="1" dirty="0"/>
              <a:t>= </a:t>
            </a:r>
            <a:r>
              <a:rPr lang="ru-RU" sz="2400" b="1" dirty="0" err="1"/>
              <a:t>W</a:t>
            </a:r>
            <a:r>
              <a:rPr lang="ru-RU" sz="2400" b="1" baseline="-25000" dirty="0" err="1"/>
              <a:t>i</a:t>
            </a:r>
            <a:r>
              <a:rPr lang="ru-RU" sz="2400" b="1" dirty="0"/>
              <a:t> | i = </a:t>
            </a:r>
            <a:r>
              <a:rPr lang="en-US" sz="2400" b="1" dirty="0">
                <a:latin typeface="Arial Rounded MT Bold" panose="020F0704030504030204" pitchFamily="34" charset="0"/>
              </a:rPr>
              <a:t>A</a:t>
            </a:r>
            <a:r>
              <a:rPr lang="ru-RU" sz="2400" b="1" baseline="-25000" dirty="0" smtClean="0"/>
              <a:t>j</a:t>
            </a:r>
            <a:r>
              <a:rPr lang="ru-RU" sz="2400" b="1" dirty="0"/>
              <a:t>; </a:t>
            </a:r>
            <a:r>
              <a:rPr lang="ru-RU" sz="2400" b="1" dirty="0" err="1"/>
              <a:t>W</a:t>
            </a:r>
            <a:r>
              <a:rPr lang="ru-RU" sz="2400" b="1" baseline="-25000" dirty="0" err="1"/>
              <a:t>j</a:t>
            </a:r>
            <a:r>
              <a:rPr lang="ru-RU" sz="2400" b="1" dirty="0"/>
              <a:t> = </a:t>
            </a:r>
            <a:r>
              <a:rPr lang="en-US" sz="2400" b="1" dirty="0" smtClean="0">
                <a:latin typeface="Arial Rounded MT Bold" panose="020F0704030504030204" pitchFamily="34" charset="0"/>
              </a:rPr>
              <a:t>d</a:t>
            </a:r>
            <a:r>
              <a:rPr lang="ru-RU" sz="2400" b="1" baseline="-25000" dirty="0" smtClean="0"/>
              <a:t>i</a:t>
            </a:r>
            <a:r>
              <a:rPr lang="ru-RU" sz="2400" b="1" dirty="0"/>
              <a:t> | </a:t>
            </a:r>
            <a:r>
              <a:rPr lang="en-US" sz="2400" b="1" dirty="0" smtClean="0">
                <a:latin typeface="Arial Rounded MT Bold" panose="020F0704030504030204" pitchFamily="34" charset="0"/>
              </a:rPr>
              <a:t>A</a:t>
            </a:r>
            <a:r>
              <a:rPr lang="ru-RU" sz="2400" b="1" baseline="-25000" dirty="0" smtClean="0"/>
              <a:t>i</a:t>
            </a:r>
            <a:r>
              <a:rPr lang="ru-RU" sz="2400" b="1" dirty="0"/>
              <a:t> = </a:t>
            </a:r>
            <a:r>
              <a:rPr lang="ru-RU" sz="2400" b="1" dirty="0" smtClean="0"/>
              <a:t>j</a:t>
            </a:r>
          </a:p>
          <a:p>
            <a:pPr algn="ctr"/>
            <a:endParaRPr lang="ru-RU" sz="400" dirty="0"/>
          </a:p>
          <a:p>
            <a:pPr marL="358775" indent="-358775" algn="just"/>
            <a:r>
              <a:rPr lang="ru-RU" sz="2200" dirty="0" smtClean="0">
                <a:latin typeface="Times New Roman" panose="02020603050405020304" pitchFamily="18" charset="0"/>
                <a:cs typeface="Times New Roman" panose="02020603050405020304" pitchFamily="18" charset="0"/>
              </a:rPr>
              <a:t>Сумма </a:t>
            </a:r>
            <a:r>
              <a:rPr lang="ru-RU" sz="2200" dirty="0">
                <a:latin typeface="Times New Roman" panose="02020603050405020304" pitchFamily="18" charset="0"/>
                <a:cs typeface="Times New Roman" panose="02020603050405020304" pitchFamily="18" charset="0"/>
              </a:rPr>
              <a:t>значений всех компонентов вектора или таблицы инверсий определяет общее число инверсий I перестановки. В частности, для рассмотренного примера оно равно 20</a:t>
            </a:r>
            <a:r>
              <a:rPr lang="ru-RU" sz="2200" dirty="0" smtClean="0">
                <a:latin typeface="Times New Roman" panose="02020603050405020304" pitchFamily="18" charset="0"/>
                <a:cs typeface="Times New Roman" panose="02020603050405020304" pitchFamily="18" charset="0"/>
              </a:rPr>
              <a:t>:</a:t>
            </a:r>
          </a:p>
          <a:p>
            <a:pPr marL="358775" indent="-358775" algn="just"/>
            <a:endParaRPr lang="ru-RU" sz="400" dirty="0">
              <a:latin typeface="Times New Roman" panose="02020603050405020304" pitchFamily="18" charset="0"/>
              <a:cs typeface="Times New Roman" panose="02020603050405020304" pitchFamily="18" charset="0"/>
            </a:endParaRPr>
          </a:p>
          <a:p>
            <a:pPr algn="ctr"/>
            <a:r>
              <a:rPr lang="ru-RU" sz="2400" b="1" dirty="0">
                <a:latin typeface="Arial Narrow" panose="020B0606020202030204" pitchFamily="34" charset="0"/>
              </a:rPr>
              <a:t>I(5, 9, 1, 8, 2, 6, 4, 7, 3) = </a:t>
            </a:r>
            <a:r>
              <a:rPr lang="ru-RU" sz="2400" b="1" dirty="0" smtClean="0">
                <a:solidFill>
                  <a:schemeClr val="accent3">
                    <a:lumMod val="75000"/>
                  </a:schemeClr>
                </a:solidFill>
                <a:latin typeface="Arial Narrow" panose="020B0606020202030204" pitchFamily="34" charset="0"/>
              </a:rPr>
              <a:t>0+0+2+1+3+2+4+2+6</a:t>
            </a:r>
            <a:r>
              <a:rPr lang="ru-RU" sz="2400" b="1" dirty="0" smtClean="0">
                <a:latin typeface="Arial Narrow" panose="020B0606020202030204" pitchFamily="34" charset="0"/>
              </a:rPr>
              <a:t>=</a:t>
            </a:r>
            <a:r>
              <a:rPr lang="ru-RU" sz="2400" b="1" dirty="0" smtClean="0">
                <a:solidFill>
                  <a:schemeClr val="accent5">
                    <a:lumMod val="75000"/>
                  </a:schemeClr>
                </a:solidFill>
                <a:latin typeface="Arial Narrow" panose="020B0606020202030204" pitchFamily="34" charset="0"/>
              </a:rPr>
              <a:t>2+3+6+4+0+2+2+1+0</a:t>
            </a:r>
            <a:r>
              <a:rPr lang="ru-RU" sz="2400" b="1" dirty="0" smtClean="0">
                <a:latin typeface="Arial Narrow" panose="020B0606020202030204" pitchFamily="34" charset="0"/>
              </a:rPr>
              <a:t>=20</a:t>
            </a:r>
          </a:p>
          <a:p>
            <a:pPr algn="ctr"/>
            <a:endParaRPr lang="ru-RU" sz="400" dirty="0">
              <a:latin typeface="Arial Narrow" panose="020B0606020202030204" pitchFamily="34" charset="0"/>
            </a:endParaRPr>
          </a:p>
          <a:p>
            <a:pPr marL="358775" indent="-358775" algn="just"/>
            <a:r>
              <a:rPr lang="ru-RU" sz="2200" dirty="0">
                <a:latin typeface="Times New Roman" panose="02020603050405020304" pitchFamily="18" charset="0"/>
                <a:cs typeface="Times New Roman" panose="02020603050405020304" pitchFamily="18" charset="0"/>
              </a:rPr>
              <a:t>В общем случае число инверсий произвольной перестановки из n элементов всегда лежит в пределах от 0, у </a:t>
            </a:r>
            <a:r>
              <a:rPr lang="ru-RU" sz="2200" dirty="0" err="1">
                <a:latin typeface="Times New Roman" panose="02020603050405020304" pitchFamily="18" charset="0"/>
                <a:cs typeface="Times New Roman" panose="02020603050405020304" pitchFamily="18" charset="0"/>
              </a:rPr>
              <a:t>лексиграфически</a:t>
            </a:r>
            <a:r>
              <a:rPr lang="ru-RU" sz="2200" dirty="0">
                <a:latin typeface="Times New Roman" panose="02020603050405020304" pitchFamily="18" charset="0"/>
                <a:cs typeface="Times New Roman" panose="02020603050405020304" pitchFamily="18" charset="0"/>
              </a:rPr>
              <a:t> наименьшей перестановки, до максимального значения, равного n(n−1)/2, которое имеет </a:t>
            </a:r>
            <a:r>
              <a:rPr lang="ru-RU" sz="2200" dirty="0" err="1">
                <a:latin typeface="Times New Roman" panose="02020603050405020304" pitchFamily="18" charset="0"/>
                <a:cs typeface="Times New Roman" panose="02020603050405020304" pitchFamily="18" charset="0"/>
              </a:rPr>
              <a:t>лексигафически</a:t>
            </a:r>
            <a:r>
              <a:rPr lang="ru-RU" sz="2200" dirty="0">
                <a:latin typeface="Times New Roman" panose="02020603050405020304" pitchFamily="18" charset="0"/>
                <a:cs typeface="Times New Roman" panose="02020603050405020304" pitchFamily="18" charset="0"/>
              </a:rPr>
              <a:t> наибольшая перестановка</a:t>
            </a:r>
            <a:r>
              <a:rPr lang="ru-RU" sz="2200" dirty="0" smtClean="0">
                <a:latin typeface="Times New Roman" panose="02020603050405020304" pitchFamily="18" charset="0"/>
                <a:cs typeface="Times New Roman" panose="02020603050405020304" pitchFamily="18" charset="0"/>
              </a:rPr>
              <a:t>:</a:t>
            </a:r>
          </a:p>
          <a:p>
            <a:pPr marL="358775" indent="-358775" algn="just"/>
            <a:endParaRPr lang="ru-RU" sz="800" dirty="0">
              <a:latin typeface="Times New Roman" panose="02020603050405020304" pitchFamily="18" charset="0"/>
              <a:cs typeface="Times New Roman" panose="02020603050405020304" pitchFamily="18" charset="0"/>
            </a:endParaRPr>
          </a:p>
          <a:p>
            <a:pPr algn="ctr"/>
            <a:r>
              <a:rPr lang="ru-RU" sz="2400" b="1" dirty="0"/>
              <a:t>I(1, 2, …, n−1, n) = 0 ≤ I(p</a:t>
            </a:r>
            <a:r>
              <a:rPr lang="ru-RU" sz="2400" b="1" baseline="-25000" dirty="0"/>
              <a:t>1</a:t>
            </a:r>
            <a:r>
              <a:rPr lang="ru-RU" sz="2400" b="1" dirty="0"/>
              <a:t>, …, </a:t>
            </a:r>
            <a:r>
              <a:rPr lang="ru-RU" sz="2400" b="1" dirty="0" err="1"/>
              <a:t>p</a:t>
            </a:r>
            <a:r>
              <a:rPr lang="ru-RU" sz="2400" b="1" baseline="-25000" dirty="0" err="1"/>
              <a:t>i</a:t>
            </a:r>
            <a:r>
              <a:rPr lang="ru-RU" sz="2400" b="1" dirty="0"/>
              <a:t>, …, </a:t>
            </a:r>
            <a:r>
              <a:rPr lang="ru-RU" sz="2400" b="1" dirty="0" err="1"/>
              <a:t>p</a:t>
            </a:r>
            <a:r>
              <a:rPr lang="ru-RU" sz="2400" b="1" baseline="-25000" dirty="0" err="1"/>
              <a:t>n</a:t>
            </a:r>
            <a:r>
              <a:rPr lang="ru-RU" sz="2400" b="1" dirty="0"/>
              <a:t>) ≤ I(n, n−1, …, 2, 1) = n(n-1)2</a:t>
            </a:r>
            <a:endParaRPr lang="ru-RU" sz="2400" dirty="0"/>
          </a:p>
          <a:p>
            <a:pPr marL="358775" indent="-358775" algn="just" rtl="0" eaLnBrk="0" fontAlgn="base" hangingPunct="0">
              <a:spcBef>
                <a:spcPct val="0"/>
              </a:spcBef>
              <a:spcAft>
                <a:spcPct val="0"/>
              </a:spcAft>
            </a:pPr>
            <a:r>
              <a:rPr lang="ru-RU" sz="2200" dirty="0" smtClean="0">
                <a:latin typeface="Times New Roman" panose="02020603050405020304" pitchFamily="18" charset="0"/>
                <a:cs typeface="Times New Roman" panose="02020603050405020304" pitchFamily="18" charset="0"/>
              </a:rPr>
              <a:t>Кроме информации </a:t>
            </a:r>
            <a:r>
              <a:rPr lang="ru-RU" sz="2200" dirty="0">
                <a:latin typeface="Times New Roman" panose="02020603050405020304" pitchFamily="18" charset="0"/>
                <a:cs typeface="Times New Roman" panose="02020603050405020304" pitchFamily="18" charset="0"/>
              </a:rPr>
              <a:t>о распределении беспорядка в перестановке, важное практическое значение имеет </a:t>
            </a:r>
            <a:r>
              <a:rPr lang="ru-RU" sz="2200" dirty="0" smtClean="0">
                <a:latin typeface="Times New Roman" panose="02020603050405020304" pitchFamily="18" charset="0"/>
                <a:cs typeface="Times New Roman" panose="02020603050405020304" pitchFamily="18" charset="0"/>
              </a:rPr>
              <a:t>то, </a:t>
            </a:r>
            <a:r>
              <a:rPr lang="ru-RU" sz="2200" dirty="0">
                <a:latin typeface="Times New Roman" panose="02020603050405020304" pitchFamily="18" charset="0"/>
                <a:cs typeface="Times New Roman" panose="02020603050405020304" pitchFamily="18" charset="0"/>
              </a:rPr>
              <a:t>что вектор и таблица инверсий однозначно определяют перестановки, которым они соответствуют. Это означает, что любая перестановка может быть всегда однозначно восстановлена по соответствующему вектору или по таблице инверсий. Для выполнения этих преобразований предусмотрены следующие два алгоритма восстановления.</a:t>
            </a:r>
            <a:endParaRPr lang="en-US" sz="2200" dirty="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5</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236692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706049"/>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вектор </a:t>
            </a:r>
            <a:r>
              <a:rPr lang="ru-RU" sz="2400" b="1" dirty="0" smtClean="0">
                <a:solidFill>
                  <a:srgbClr val="333333"/>
                </a:solidFill>
                <a:latin typeface="Times New Roman" panose="02020603050405020304" pitchFamily="18" charset="0"/>
                <a:cs typeface="Times New Roman" panose="02020603050405020304" pitchFamily="18" charset="0"/>
              </a:rPr>
              <a:t>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a:latin typeface="Times New Roman" panose="02020603050405020304" pitchFamily="18" charset="0"/>
                <a:cs typeface="Times New Roman" panose="02020603050405020304" pitchFamily="18" charset="0"/>
              </a:rPr>
              <a:t>В частности, при восстановлении из вектора инверсий </a:t>
            </a:r>
            <a:r>
              <a:rPr lang="en-US" sz="2200" b="1" dirty="0" smtClean="0">
                <a:latin typeface="Times New Roman" panose="02020603050405020304" pitchFamily="18" charset="0"/>
                <a:cs typeface="Times New Roman" panose="02020603050405020304" pitchFamily="18" charset="0"/>
              </a:rPr>
              <a:t>d</a:t>
            </a:r>
            <a:r>
              <a:rPr lang="ru-RU" sz="2200" dirty="0" smtClean="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элементы искомой перестановки </a:t>
            </a:r>
            <a:r>
              <a:rPr lang="en-US" sz="2200" b="1" dirty="0" smtClean="0">
                <a:latin typeface="Times New Roman" panose="02020603050405020304" pitchFamily="18" charset="0"/>
                <a:cs typeface="Times New Roman" panose="02020603050405020304" pitchFamily="18" charset="0"/>
              </a:rPr>
              <a:t>A</a:t>
            </a:r>
            <a:r>
              <a:rPr lang="ru-RU" sz="2200" dirty="0" smtClean="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нужно последовательно вычислять справа налево в </a:t>
            </a:r>
            <a:r>
              <a:rPr lang="ru-RU" sz="2200" u="sng" dirty="0">
                <a:latin typeface="Times New Roman" panose="02020603050405020304" pitchFamily="18" charset="0"/>
                <a:cs typeface="Times New Roman" panose="02020603050405020304" pitchFamily="18" charset="0"/>
              </a:rPr>
              <a:t>порядке уменьшения индекса</a:t>
            </a:r>
            <a:r>
              <a:rPr lang="ru-RU" sz="2200" dirty="0">
                <a:latin typeface="Times New Roman" panose="02020603050405020304" pitchFamily="18" charset="0"/>
                <a:cs typeface="Times New Roman" panose="02020603050405020304" pitchFamily="18" charset="0"/>
              </a:rPr>
              <a:t>, а их значения должны выбираться из списка </a:t>
            </a:r>
            <a:r>
              <a:rPr lang="ru-RU" sz="2200" b="1" dirty="0">
                <a:latin typeface="Times New Roman" panose="02020603050405020304" pitchFamily="18" charset="0"/>
                <a:cs typeface="Times New Roman" panose="02020603050405020304" pitchFamily="18" charset="0"/>
              </a:rPr>
              <a:t>L</a:t>
            </a:r>
            <a:r>
              <a:rPr lang="ru-RU" sz="2200" dirty="0">
                <a:latin typeface="Times New Roman" panose="02020603050405020304" pitchFamily="18" charset="0"/>
                <a:cs typeface="Times New Roman" panose="02020603050405020304" pitchFamily="18" charset="0"/>
              </a:rPr>
              <a:t> </a:t>
            </a:r>
            <a:r>
              <a:rPr lang="ru-RU" sz="2200" u="sng" dirty="0">
                <a:latin typeface="Times New Roman" panose="02020603050405020304" pitchFamily="18" charset="0"/>
                <a:cs typeface="Times New Roman" panose="02020603050405020304" pitchFamily="18" charset="0"/>
              </a:rPr>
              <a:t>упорядоченных по убыванию целых чисел </a:t>
            </a:r>
            <a:r>
              <a:rPr lang="ru-RU" sz="2200" dirty="0">
                <a:latin typeface="Times New Roman" panose="02020603050405020304" pitchFamily="18" charset="0"/>
                <a:cs typeface="Times New Roman" panose="02020603050405020304" pitchFamily="18" charset="0"/>
              </a:rPr>
              <a:t>от</a:t>
            </a:r>
            <a:r>
              <a:rPr lang="ru-RU" sz="2200" b="1" dirty="0">
                <a:latin typeface="Times New Roman" panose="02020603050405020304" pitchFamily="18" charset="0"/>
                <a:cs typeface="Times New Roman" panose="02020603050405020304" pitchFamily="18" charset="0"/>
              </a:rPr>
              <a:t> n до 1</a:t>
            </a:r>
            <a:r>
              <a:rPr lang="ru-RU" sz="2200" dirty="0" smtClean="0">
                <a:latin typeface="Times New Roman" panose="02020603050405020304" pitchFamily="18" charset="0"/>
                <a:cs typeface="Times New Roman" panose="02020603050405020304" pitchFamily="18" charset="0"/>
              </a:rPr>
              <a:t>.</a:t>
            </a:r>
            <a:endParaRPr lang="en-US" sz="2200" dirty="0" smtClean="0">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При этом значение очередного элемента перестановки </a:t>
            </a:r>
            <a:r>
              <a:rPr lang="en-US" sz="2200" b="1" dirty="0" smtClean="0">
                <a:latin typeface="Times New Roman" panose="02020603050405020304" pitchFamily="18" charset="0"/>
                <a:cs typeface="Times New Roman" panose="02020603050405020304" pitchFamily="18" charset="0"/>
              </a:rPr>
              <a:t>a</a:t>
            </a:r>
            <a:r>
              <a:rPr lang="ru-RU" sz="2200" baseline="-25000" dirty="0" smtClean="0">
                <a:latin typeface="Times New Roman" panose="02020603050405020304" pitchFamily="18" charset="0"/>
                <a:cs typeface="Times New Roman" panose="02020603050405020304" pitchFamily="18" charset="0"/>
              </a:rPr>
              <a:t>i</a:t>
            </a:r>
            <a:r>
              <a:rPr lang="ru-RU" sz="2200" dirty="0">
                <a:latin typeface="Times New Roman" panose="02020603050405020304" pitchFamily="18" charset="0"/>
                <a:cs typeface="Times New Roman" panose="02020603050405020304" pitchFamily="18" charset="0"/>
              </a:rPr>
              <a:t> принимается равным </a:t>
            </a:r>
            <a:r>
              <a:rPr lang="ru-RU" sz="2200" dirty="0" smtClean="0">
                <a:latin typeface="Times New Roman" panose="02020603050405020304" pitchFamily="18" charset="0"/>
                <a:cs typeface="Times New Roman" panose="02020603050405020304" pitchFamily="18" charset="0"/>
              </a:rPr>
              <a:t>(</a:t>
            </a:r>
            <a:r>
              <a:rPr lang="en-US" sz="2200" b="1" dirty="0" smtClean="0">
                <a:latin typeface="Times New Roman" panose="02020603050405020304" pitchFamily="18" charset="0"/>
                <a:cs typeface="Times New Roman" panose="02020603050405020304" pitchFamily="18" charset="0"/>
              </a:rPr>
              <a:t>d</a:t>
            </a:r>
            <a:r>
              <a:rPr lang="ru-RU" sz="2200" b="1" baseline="-25000" dirty="0" smtClean="0">
                <a:latin typeface="Times New Roman" panose="02020603050405020304" pitchFamily="18" charset="0"/>
                <a:cs typeface="Times New Roman" panose="02020603050405020304" pitchFamily="18" charset="0"/>
              </a:rPr>
              <a:t>i</a:t>
            </a:r>
            <a:r>
              <a:rPr lang="ru-RU" sz="2200" b="1" dirty="0" smtClean="0">
                <a:latin typeface="Times New Roman" panose="02020603050405020304" pitchFamily="18" charset="0"/>
                <a:cs typeface="Times New Roman" panose="02020603050405020304" pitchFamily="18" charset="0"/>
              </a:rPr>
              <a:t>+1</a:t>
            </a:r>
            <a:r>
              <a:rPr lang="ru-RU" sz="2200" dirty="0">
                <a:latin typeface="Times New Roman" panose="02020603050405020304" pitchFamily="18" charset="0"/>
                <a:cs typeface="Times New Roman" panose="02020603050405020304" pitchFamily="18" charset="0"/>
              </a:rPr>
              <a:t>)-му по величине числу списка L. </a:t>
            </a:r>
            <a:endParaRPr lang="en-US" sz="2200" dirty="0" smtClean="0">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После </a:t>
            </a:r>
            <a:r>
              <a:rPr lang="ru-RU" sz="2200" dirty="0">
                <a:latin typeface="Times New Roman" panose="02020603050405020304" pitchFamily="18" charset="0"/>
                <a:cs typeface="Times New Roman" panose="02020603050405020304" pitchFamily="18" charset="0"/>
              </a:rPr>
              <a:t>этого выбранное число должно быть исключено из списка. </a:t>
            </a:r>
            <a:endParaRPr lang="ru-RU" sz="2200" dirty="0" smtClean="0">
              <a:latin typeface="Times New Roman" panose="02020603050405020304" pitchFamily="18" charset="0"/>
              <a:cs typeface="Times New Roman" panose="02020603050405020304" pitchFamily="18" charset="0"/>
            </a:endParaRPr>
          </a:p>
          <a:p>
            <a:pPr marL="358775" indent="-358775" algn="just"/>
            <a:endParaRPr lang="ru-RU" sz="2200" b="1" dirty="0">
              <a:latin typeface="Times New Roman" panose="02020603050405020304" pitchFamily="18" charset="0"/>
              <a:cs typeface="Times New Roman" panose="02020603050405020304" pitchFamily="18" charset="0"/>
            </a:endParaRPr>
          </a:p>
          <a:p>
            <a:pPr marL="358775" indent="-358775" algn="just"/>
            <a:r>
              <a:rPr lang="ru-RU" sz="2400" b="1" dirty="0" smtClean="0">
                <a:latin typeface="Times New Roman" panose="02020603050405020304" pitchFamily="18" charset="0"/>
                <a:cs typeface="Times New Roman" panose="02020603050405020304" pitchFamily="18" charset="0"/>
              </a:rPr>
              <a:t>Пример. </a:t>
            </a:r>
            <a:r>
              <a:rPr lang="ru-RU" sz="2400" dirty="0">
                <a:latin typeface="Times New Roman" panose="02020603050405020304" pitchFamily="18" charset="0"/>
                <a:cs typeface="Times New Roman" panose="02020603050405020304" pitchFamily="18" charset="0"/>
              </a:rPr>
              <a:t>Процесс восстановления перестановки </a:t>
            </a:r>
            <a:r>
              <a:rPr lang="ru-RU" sz="2400" i="1" dirty="0">
                <a:latin typeface="Times New Roman" panose="02020603050405020304" pitchFamily="18" charset="0"/>
                <a:cs typeface="Times New Roman" panose="02020603050405020304" pitchFamily="18" charset="0"/>
              </a:rPr>
              <a:t>α </a:t>
            </a:r>
            <a:r>
              <a:rPr lang="ru-RU" sz="2400" dirty="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α</a:t>
            </a:r>
            <a:r>
              <a:rPr lang="ru-RU" sz="2400" baseline="-25000" dirty="0">
                <a:latin typeface="Times New Roman" panose="02020603050405020304" pitchFamily="18" charset="0"/>
                <a:cs typeface="Times New Roman" panose="02020603050405020304" pitchFamily="18" charset="0"/>
              </a:rPr>
              <a:t>1</a:t>
            </a:r>
            <a:r>
              <a:rPr lang="ru-RU" sz="2400" i="1" dirty="0">
                <a:latin typeface="Times New Roman" panose="02020603050405020304" pitchFamily="18" charset="0"/>
                <a:cs typeface="Times New Roman" panose="02020603050405020304" pitchFamily="18" charset="0"/>
              </a:rPr>
              <a:t>, . . . , α</a:t>
            </a:r>
            <a:r>
              <a:rPr lang="ru-RU" sz="2400" baseline="-25000" dirty="0">
                <a:latin typeface="Times New Roman" panose="02020603050405020304" pitchFamily="18" charset="0"/>
                <a:cs typeface="Times New Roman" panose="02020603050405020304" pitchFamily="18" charset="0"/>
              </a:rPr>
              <a:t>5</a:t>
            </a:r>
            <a:r>
              <a:rPr lang="ru-RU" sz="2400" dirty="0">
                <a:latin typeface="Times New Roman" panose="02020603050405020304" pitchFamily="18" charset="0"/>
                <a:cs typeface="Times New Roman" panose="02020603050405020304" pitchFamily="18" charset="0"/>
              </a:rPr>
              <a:t>), имеющей вектор инверсий </a:t>
            </a:r>
            <a:r>
              <a:rPr lang="ru-RU" sz="2400" i="1" dirty="0">
                <a:latin typeface="Times New Roman" panose="02020603050405020304" pitchFamily="18" charset="0"/>
                <a:cs typeface="Times New Roman" panose="02020603050405020304" pitchFamily="18" charset="0"/>
              </a:rPr>
              <a:t>d </a:t>
            </a:r>
            <a:r>
              <a:rPr lang="ru-RU" sz="2400" dirty="0">
                <a:latin typeface="Times New Roman" panose="02020603050405020304" pitchFamily="18" charset="0"/>
                <a:cs typeface="Times New Roman" panose="02020603050405020304" pitchFamily="18" charset="0"/>
              </a:rPr>
              <a:t>= (0</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0</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2</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1</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1), выглядит так:</a:t>
            </a:r>
          </a:p>
          <a:p>
            <a:r>
              <a:rPr lang="en-US" sz="2400" i="1" dirty="0" err="1">
                <a:latin typeface="Times New Roman" panose="02020603050405020304" pitchFamily="18" charset="0"/>
                <a:cs typeface="Times New Roman" panose="02020603050405020304" pitchFamily="18" charset="0"/>
              </a:rPr>
              <a:t>i</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5</a:t>
            </a:r>
            <a:r>
              <a:rPr lang="en-US" sz="2400" i="1" dirty="0">
                <a:latin typeface="Times New Roman" panose="02020603050405020304" pitchFamily="18" charset="0"/>
                <a:cs typeface="Times New Roman" panose="02020603050405020304" pitchFamily="18" charset="0"/>
              </a:rPr>
              <a:t>,  I</a:t>
            </a:r>
            <a:r>
              <a:rPr lang="en-US" sz="2400" baseline="-25000" dirty="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 = </a:t>
            </a:r>
            <a:r>
              <a:rPr lang="en-US" sz="2400"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5, 4, 3, 2, 1</a:t>
            </a:r>
            <a:r>
              <a:rPr lang="en-US" sz="2400" dirty="0" smtClean="0">
                <a:latin typeface="Times New Roman" panose="02020603050405020304" pitchFamily="18" charset="0"/>
                <a:cs typeface="Times New Roman" panose="02020603050405020304" pitchFamily="18" charset="0"/>
              </a:rPr>
              <a:t>}</a:t>
            </a:r>
            <a:r>
              <a:rPr lang="en-US" sz="2400" i="1" dirty="0" smtClean="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d</a:t>
            </a:r>
            <a:r>
              <a:rPr lang="en-US" sz="2400" baseline="-25000" dirty="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 + 1 = 2</a:t>
            </a:r>
            <a:r>
              <a:rPr lang="en-US" sz="2400" i="1" dirty="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α</a:t>
            </a:r>
            <a:r>
              <a:rPr lang="en-US" sz="2400" baseline="-25000" dirty="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 = 4;</a:t>
            </a:r>
            <a:endParaRPr lang="ru-RU" sz="2400" dirty="0">
              <a:latin typeface="Times New Roman" panose="02020603050405020304" pitchFamily="18" charset="0"/>
              <a:cs typeface="Times New Roman" panose="02020603050405020304" pitchFamily="18" charset="0"/>
            </a:endParaRPr>
          </a:p>
          <a:p>
            <a:r>
              <a:rPr lang="en-US" sz="2400" i="1" dirty="0" err="1">
                <a:latin typeface="Times New Roman" panose="02020603050405020304" pitchFamily="18" charset="0"/>
                <a:cs typeface="Times New Roman" panose="02020603050405020304" pitchFamily="18" charset="0"/>
              </a:rPr>
              <a:t>i</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4</a:t>
            </a:r>
            <a:r>
              <a:rPr lang="en-US" sz="2400" i="1" dirty="0">
                <a:latin typeface="Times New Roman" panose="02020603050405020304" pitchFamily="18" charset="0"/>
                <a:cs typeface="Times New Roman" panose="02020603050405020304" pitchFamily="18" charset="0"/>
              </a:rPr>
              <a:t>,  I</a:t>
            </a:r>
            <a:r>
              <a:rPr lang="en-US" sz="2400" baseline="-250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 </a:t>
            </a:r>
            <a:r>
              <a:rPr lang="en-US" sz="2400"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5, 3, 2, 1</a:t>
            </a:r>
            <a:r>
              <a:rPr lang="en-US" sz="2400" dirty="0" smtClean="0">
                <a:latin typeface="Times New Roman" panose="02020603050405020304" pitchFamily="18" charset="0"/>
                <a:cs typeface="Times New Roman" panose="02020603050405020304" pitchFamily="18" charset="0"/>
              </a:rPr>
              <a:t>}</a:t>
            </a:r>
            <a:r>
              <a:rPr lang="en-US" sz="2400" i="1" dirty="0" smtClean="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d</a:t>
            </a:r>
            <a:r>
              <a:rPr lang="en-US" sz="2400" baseline="-250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+ 1 = 2</a:t>
            </a:r>
            <a:r>
              <a:rPr lang="en-US" sz="2400" i="1" dirty="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α</a:t>
            </a:r>
            <a:r>
              <a:rPr lang="en-US" sz="2400" baseline="-250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 3;</a:t>
            </a:r>
            <a:endParaRPr lang="ru-RU" sz="2400" dirty="0">
              <a:latin typeface="Times New Roman" panose="02020603050405020304" pitchFamily="18" charset="0"/>
              <a:cs typeface="Times New Roman" panose="02020603050405020304" pitchFamily="18" charset="0"/>
            </a:endParaRPr>
          </a:p>
          <a:p>
            <a:r>
              <a:rPr lang="en-US" sz="2400" i="1" dirty="0" err="1">
                <a:latin typeface="Times New Roman" panose="02020603050405020304" pitchFamily="18" charset="0"/>
                <a:cs typeface="Times New Roman" panose="02020603050405020304" pitchFamily="18" charset="0"/>
              </a:rPr>
              <a:t>i</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3</a:t>
            </a:r>
            <a:r>
              <a:rPr lang="en-US" sz="2400" i="1" dirty="0">
                <a:latin typeface="Times New Roman" panose="02020603050405020304" pitchFamily="18" charset="0"/>
                <a:cs typeface="Times New Roman" panose="02020603050405020304" pitchFamily="18" charset="0"/>
              </a:rPr>
              <a:t>,  I</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 </a:t>
            </a:r>
            <a:r>
              <a:rPr lang="en-US" sz="2400"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5, 2, 1</a:t>
            </a:r>
            <a:r>
              <a:rPr lang="en-US" sz="2400" dirty="0" smtClean="0">
                <a:latin typeface="Times New Roman" panose="02020603050405020304" pitchFamily="18" charset="0"/>
                <a:cs typeface="Times New Roman" panose="02020603050405020304" pitchFamily="18" charset="0"/>
              </a:rPr>
              <a:t>}</a:t>
            </a:r>
            <a:r>
              <a:rPr lang="en-US" sz="2400" i="1" dirty="0" smtClean="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d</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+ 1 = 3</a:t>
            </a:r>
            <a:r>
              <a:rPr lang="en-US" sz="2400" i="1" dirty="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α</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 1;</a:t>
            </a:r>
            <a:endParaRPr lang="ru-RU" sz="2400" dirty="0">
              <a:latin typeface="Times New Roman" panose="02020603050405020304" pitchFamily="18" charset="0"/>
              <a:cs typeface="Times New Roman" panose="02020603050405020304" pitchFamily="18" charset="0"/>
            </a:endParaRPr>
          </a:p>
          <a:p>
            <a:r>
              <a:rPr lang="ru-RU" sz="2400" i="1" dirty="0">
                <a:latin typeface="Times New Roman" panose="02020603050405020304" pitchFamily="18" charset="0"/>
                <a:cs typeface="Times New Roman" panose="02020603050405020304" pitchFamily="18" charset="0"/>
              </a:rPr>
              <a:t>i </a:t>
            </a:r>
            <a:r>
              <a:rPr lang="ru-RU" sz="2400" dirty="0">
                <a:latin typeface="Times New Roman" panose="02020603050405020304" pitchFamily="18" charset="0"/>
                <a:cs typeface="Times New Roman" panose="02020603050405020304" pitchFamily="18" charset="0"/>
              </a:rPr>
              <a:t>= 2</a:t>
            </a:r>
            <a:r>
              <a:rPr lang="ru-RU" sz="2400" i="1" dirty="0">
                <a:latin typeface="Times New Roman" panose="02020603050405020304" pitchFamily="18" charset="0"/>
                <a:cs typeface="Times New Roman" panose="02020603050405020304" pitchFamily="18" charset="0"/>
              </a:rPr>
              <a:t>,  I</a:t>
            </a:r>
            <a:r>
              <a:rPr lang="ru-RU" sz="2400" baseline="-25000" dirty="0">
                <a:latin typeface="Times New Roman" panose="02020603050405020304" pitchFamily="18" charset="0"/>
                <a:cs typeface="Times New Roman" panose="02020603050405020304" pitchFamily="18" charset="0"/>
              </a:rPr>
              <a:t>2</a:t>
            </a:r>
            <a:r>
              <a:rPr lang="ru-RU" sz="2400" dirty="0">
                <a:latin typeface="Times New Roman" panose="02020603050405020304" pitchFamily="18" charset="0"/>
                <a:cs typeface="Times New Roman" panose="02020603050405020304" pitchFamily="18" charset="0"/>
              </a:rPr>
              <a:t> = </a:t>
            </a:r>
            <a:r>
              <a:rPr lang="ru-RU" sz="2400" dirty="0" smtClean="0">
                <a:latin typeface="Times New Roman" panose="02020603050405020304" pitchFamily="18" charset="0"/>
                <a:cs typeface="Times New Roman" panose="02020603050405020304" pitchFamily="18" charset="0"/>
              </a:rPr>
              <a:t>{5, 2}</a:t>
            </a:r>
            <a:r>
              <a:rPr lang="ru-RU" sz="2400" i="1" dirty="0" smtClean="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d</a:t>
            </a:r>
            <a:r>
              <a:rPr lang="ru-RU" sz="2400" baseline="-25000" dirty="0">
                <a:latin typeface="Times New Roman" panose="02020603050405020304" pitchFamily="18" charset="0"/>
                <a:cs typeface="Times New Roman" panose="02020603050405020304" pitchFamily="18" charset="0"/>
              </a:rPr>
              <a:t>2</a:t>
            </a:r>
            <a:r>
              <a:rPr lang="ru-RU" sz="2400" dirty="0">
                <a:latin typeface="Times New Roman" panose="02020603050405020304" pitchFamily="18" charset="0"/>
                <a:cs typeface="Times New Roman" panose="02020603050405020304" pitchFamily="18" charset="0"/>
              </a:rPr>
              <a:t> + 1 = 1</a:t>
            </a:r>
            <a:r>
              <a:rPr lang="ru-RU" sz="2400" i="1" dirty="0">
                <a:latin typeface="Times New Roman" panose="02020603050405020304" pitchFamily="18" charset="0"/>
                <a:cs typeface="Times New Roman" panose="02020603050405020304" pitchFamily="18" charset="0"/>
              </a:rPr>
              <a:t>,   α</a:t>
            </a:r>
            <a:r>
              <a:rPr lang="ru-RU" sz="2400" baseline="-25000" dirty="0">
                <a:latin typeface="Times New Roman" panose="02020603050405020304" pitchFamily="18" charset="0"/>
                <a:cs typeface="Times New Roman" panose="02020603050405020304" pitchFamily="18" charset="0"/>
              </a:rPr>
              <a:t>2</a:t>
            </a:r>
            <a:r>
              <a:rPr lang="ru-RU" sz="2400" dirty="0">
                <a:latin typeface="Times New Roman" panose="02020603050405020304" pitchFamily="18" charset="0"/>
                <a:cs typeface="Times New Roman" panose="02020603050405020304" pitchFamily="18" charset="0"/>
              </a:rPr>
              <a:t> = 5;</a:t>
            </a:r>
          </a:p>
          <a:p>
            <a:r>
              <a:rPr lang="ru-RU" sz="2400" i="1" dirty="0">
                <a:latin typeface="Times New Roman" panose="02020603050405020304" pitchFamily="18" charset="0"/>
                <a:cs typeface="Times New Roman" panose="02020603050405020304" pitchFamily="18" charset="0"/>
              </a:rPr>
              <a:t>i </a:t>
            </a:r>
            <a:r>
              <a:rPr lang="ru-RU" sz="2400" dirty="0">
                <a:latin typeface="Times New Roman" panose="02020603050405020304" pitchFamily="18" charset="0"/>
                <a:cs typeface="Times New Roman" panose="02020603050405020304" pitchFamily="18" charset="0"/>
              </a:rPr>
              <a:t>= 1</a:t>
            </a:r>
            <a:r>
              <a:rPr lang="ru-RU" sz="2400" i="1" dirty="0">
                <a:latin typeface="Times New Roman" panose="02020603050405020304" pitchFamily="18" charset="0"/>
                <a:cs typeface="Times New Roman" panose="02020603050405020304" pitchFamily="18" charset="0"/>
              </a:rPr>
              <a:t>,  I</a:t>
            </a:r>
            <a:r>
              <a:rPr lang="ru-RU" sz="2400" baseline="-25000" dirty="0">
                <a:latin typeface="Times New Roman" panose="02020603050405020304" pitchFamily="18" charset="0"/>
                <a:cs typeface="Times New Roman" panose="02020603050405020304" pitchFamily="18" charset="0"/>
              </a:rPr>
              <a:t>1</a:t>
            </a:r>
            <a:r>
              <a:rPr lang="ru-RU" sz="2400" dirty="0">
                <a:latin typeface="Times New Roman" panose="02020603050405020304" pitchFamily="18" charset="0"/>
                <a:cs typeface="Times New Roman" panose="02020603050405020304" pitchFamily="18" charset="0"/>
              </a:rPr>
              <a:t> = </a:t>
            </a:r>
            <a:r>
              <a:rPr lang="ru-RU" sz="2400" dirty="0" smtClean="0">
                <a:latin typeface="Times New Roman" panose="02020603050405020304" pitchFamily="18" charset="0"/>
                <a:cs typeface="Times New Roman" panose="02020603050405020304" pitchFamily="18" charset="0"/>
              </a:rPr>
              <a:t>{2}</a:t>
            </a:r>
            <a:r>
              <a:rPr lang="ru-RU" sz="2400" i="1" dirty="0" smtClean="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d</a:t>
            </a:r>
            <a:r>
              <a:rPr lang="ru-RU" sz="2400" baseline="-25000" dirty="0">
                <a:latin typeface="Times New Roman" panose="02020603050405020304" pitchFamily="18" charset="0"/>
                <a:cs typeface="Times New Roman" panose="02020603050405020304" pitchFamily="18" charset="0"/>
              </a:rPr>
              <a:t>1</a:t>
            </a:r>
            <a:r>
              <a:rPr lang="ru-RU" sz="2400" dirty="0">
                <a:latin typeface="Times New Roman" panose="02020603050405020304" pitchFamily="18" charset="0"/>
                <a:cs typeface="Times New Roman" panose="02020603050405020304" pitchFamily="18" charset="0"/>
              </a:rPr>
              <a:t> + 1 = 1</a:t>
            </a:r>
            <a:r>
              <a:rPr lang="ru-RU" sz="2400" i="1" dirty="0">
                <a:latin typeface="Times New Roman" panose="02020603050405020304" pitchFamily="18" charset="0"/>
                <a:cs typeface="Times New Roman" panose="02020603050405020304" pitchFamily="18" charset="0"/>
              </a:rPr>
              <a:t>,   α</a:t>
            </a:r>
            <a:r>
              <a:rPr lang="ru-RU" sz="2400" baseline="-25000" dirty="0">
                <a:latin typeface="Times New Roman" panose="02020603050405020304" pitchFamily="18" charset="0"/>
                <a:cs typeface="Times New Roman" panose="02020603050405020304" pitchFamily="18" charset="0"/>
              </a:rPr>
              <a:t>1</a:t>
            </a:r>
            <a:r>
              <a:rPr lang="ru-RU" sz="2400" dirty="0">
                <a:latin typeface="Times New Roman" panose="02020603050405020304" pitchFamily="18" charset="0"/>
                <a:cs typeface="Times New Roman" panose="02020603050405020304" pitchFamily="18" charset="0"/>
              </a:rPr>
              <a:t> = 2;</a:t>
            </a:r>
          </a:p>
          <a:p>
            <a:r>
              <a:rPr lang="ru-RU" sz="2400" i="1" dirty="0">
                <a:latin typeface="Times New Roman" panose="02020603050405020304" pitchFamily="18" charset="0"/>
                <a:cs typeface="Times New Roman" panose="02020603050405020304" pitchFamily="18" charset="0"/>
              </a:rPr>
              <a:t>α </a:t>
            </a:r>
            <a:r>
              <a:rPr lang="ru-RU" sz="2400" dirty="0">
                <a:latin typeface="Times New Roman" panose="02020603050405020304" pitchFamily="18" charset="0"/>
                <a:cs typeface="Times New Roman" panose="02020603050405020304" pitchFamily="18" charset="0"/>
              </a:rPr>
              <a:t>= (2</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5</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1</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3</a:t>
            </a:r>
            <a:r>
              <a:rPr lang="ru-RU" sz="2400" i="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4</a:t>
            </a:r>
            <a:r>
              <a:rPr lang="ru-RU" sz="2400" dirty="0" smtClean="0">
                <a:latin typeface="Times New Roman" panose="02020603050405020304" pitchFamily="18" charset="0"/>
                <a:cs typeface="Times New Roman" panose="02020603050405020304" pitchFamily="18" charset="0"/>
              </a:rPr>
              <a:t>)</a:t>
            </a:r>
            <a:r>
              <a:rPr lang="ru-RU" sz="2400" i="1" dirty="0" smtClean="0">
                <a:latin typeface="Times New Roman" panose="02020603050405020304" pitchFamily="18" charset="0"/>
                <a:cs typeface="Times New Roman" panose="02020603050405020304" pitchFamily="18" charset="0"/>
              </a:rPr>
              <a:t>.</a:t>
            </a:r>
            <a:endParaRPr lang="en-US" sz="2400" b="1" dirty="0" smtClean="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6</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4389499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2074286"/>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вектор </a:t>
            </a:r>
            <a:r>
              <a:rPr lang="ru-RU" sz="2400" b="1" dirty="0" smtClean="0">
                <a:solidFill>
                  <a:srgbClr val="333333"/>
                </a:solidFill>
                <a:latin typeface="Times New Roman" panose="02020603050405020304" pitchFamily="18" charset="0"/>
                <a:cs typeface="Times New Roman" panose="02020603050405020304" pitchFamily="18" charset="0"/>
              </a:rPr>
              <a:t>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Остается сгенерировать таблицу инверсий или вектор инверсии. Для этого представим вектор инверсий как </a:t>
            </a:r>
            <a:r>
              <a:rPr lang="en-US" sz="2200" dirty="0" smtClean="0">
                <a:latin typeface="Times New Roman" panose="02020603050405020304" pitchFamily="18" charset="0"/>
                <a:cs typeface="Times New Roman" panose="02020603050405020304" pitchFamily="18" charset="0"/>
              </a:rPr>
              <a:t>N</a:t>
            </a:r>
            <a:r>
              <a:rPr lang="ru-RU" sz="2200" dirty="0" smtClean="0">
                <a:latin typeface="Times New Roman" panose="02020603050405020304" pitchFamily="18" charset="0"/>
                <a:cs typeface="Times New Roman" panose="02020603050405020304" pitchFamily="18" charset="0"/>
              </a:rPr>
              <a:t>-</a:t>
            </a:r>
            <a:r>
              <a:rPr lang="ru-RU" sz="2200" dirty="0" err="1" smtClean="0">
                <a:latin typeface="Times New Roman" panose="02020603050405020304" pitchFamily="18" charset="0"/>
                <a:cs typeface="Times New Roman" panose="02020603050405020304" pitchFamily="18" charset="0"/>
              </a:rPr>
              <a:t>значное</a:t>
            </a:r>
            <a:r>
              <a:rPr lang="ru-RU" sz="2200" dirty="0" smtClean="0">
                <a:latin typeface="Times New Roman" panose="02020603050405020304" pitchFamily="18" charset="0"/>
                <a:cs typeface="Times New Roman" panose="02020603050405020304" pitchFamily="18" charset="0"/>
              </a:rPr>
              <a:t> количество цифр, при этом значение, которое  можно использовать в </a:t>
            </a:r>
            <a:r>
              <a:rPr lang="en-US" sz="2200" dirty="0" err="1" smtClean="0">
                <a:latin typeface="Times New Roman" panose="02020603050405020304" pitchFamily="18" charset="0"/>
                <a:cs typeface="Times New Roman" panose="02020603050405020304" pitchFamily="18" charset="0"/>
              </a:rPr>
              <a:t>i</a:t>
            </a:r>
            <a:r>
              <a:rPr lang="en-US" sz="2200" dirty="0" smtClean="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 разряде (начиная с 0) равно </a:t>
            </a:r>
            <a:r>
              <a:rPr lang="en-US" sz="2200" dirty="0" err="1" smtClean="0">
                <a:latin typeface="Times New Roman" panose="02020603050405020304" pitchFamily="18" charset="0"/>
                <a:cs typeface="Times New Roman" panose="02020603050405020304" pitchFamily="18" charset="0"/>
              </a:rPr>
              <a:t>i</a:t>
            </a:r>
            <a:r>
              <a:rPr lang="ru-RU" sz="2200" dirty="0" smtClean="0">
                <a:latin typeface="Times New Roman" panose="02020603050405020304" pitchFamily="18" charset="0"/>
                <a:cs typeface="Times New Roman" panose="02020603050405020304" pitchFamily="18" charset="0"/>
              </a:rPr>
              <a:t>. Для этого можно взять минимальную таблицу и последовательно прибавлять 1 пользуясь алгоритмом сложения с переносом для многоразрядных чисел.</a:t>
            </a:r>
            <a:endParaRPr lang="en-US" sz="2400" b="1" dirty="0" smtClean="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7</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5" name="Таблица 4"/>
          <p:cNvGraphicFramePr>
            <a:graphicFrameLocks noGrp="1"/>
          </p:cNvGraphicFramePr>
          <p:nvPr>
            <p:extLst>
              <p:ext uri="{D42A27DB-BD31-4B8C-83A1-F6EECF244321}">
                <p14:modId xmlns:p14="http://schemas.microsoft.com/office/powerpoint/2010/main" val="2721558295"/>
              </p:ext>
            </p:extLst>
          </p:nvPr>
        </p:nvGraphicFramePr>
        <p:xfrm>
          <a:off x="1219200" y="2971800"/>
          <a:ext cx="2936836" cy="3708400"/>
        </p:xfrm>
        <a:graphic>
          <a:graphicData uri="http://schemas.openxmlformats.org/drawingml/2006/table">
            <a:tbl>
              <a:tblPr firstRow="1" bandRow="1">
                <a:tableStyleId>{5C22544A-7EE6-4342-B048-85BDC9FD1C3A}</a:tableStyleId>
              </a:tblPr>
              <a:tblGrid>
                <a:gridCol w="734209"/>
                <a:gridCol w="734209"/>
                <a:gridCol w="734209"/>
                <a:gridCol w="734209"/>
              </a:tblGrid>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3</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2</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r>
            </a:tbl>
          </a:graphicData>
        </a:graphic>
      </p:graphicFrame>
      <p:graphicFrame>
        <p:nvGraphicFramePr>
          <p:cNvPr id="7" name="Таблица 6"/>
          <p:cNvGraphicFramePr>
            <a:graphicFrameLocks noGrp="1"/>
          </p:cNvGraphicFramePr>
          <p:nvPr>
            <p:extLst>
              <p:ext uri="{D42A27DB-BD31-4B8C-83A1-F6EECF244321}">
                <p14:modId xmlns:p14="http://schemas.microsoft.com/office/powerpoint/2010/main" val="3626448856"/>
              </p:ext>
            </p:extLst>
          </p:nvPr>
        </p:nvGraphicFramePr>
        <p:xfrm>
          <a:off x="4953000" y="2971800"/>
          <a:ext cx="2743200" cy="3708400"/>
        </p:xfrm>
        <a:graphic>
          <a:graphicData uri="http://schemas.openxmlformats.org/drawingml/2006/table">
            <a:tbl>
              <a:tblPr firstRow="1" bandRow="1">
                <a:tableStyleId>{5C22544A-7EE6-4342-B048-85BDC9FD1C3A}</a:tableStyleId>
              </a:tblPr>
              <a:tblGrid>
                <a:gridCol w="685800"/>
                <a:gridCol w="685800"/>
                <a:gridCol w="685800"/>
                <a:gridCol w="685800"/>
              </a:tblGrid>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3</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r>
              <a:tr h="370840">
                <a:tc>
                  <a:txBody>
                    <a:bodyPr/>
                    <a:lstStyle/>
                    <a:p>
                      <a:r>
                        <a:rPr lang="ru-RU"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2</a:t>
                      </a:r>
                      <a:endParaRPr lang="ru-RU" dirty="0"/>
                    </a:p>
                  </a:txBody>
                  <a:tcPr/>
                </a:tc>
              </a:tr>
              <a:tr h="370840">
                <a:tc>
                  <a:txBody>
                    <a:bodyPr/>
                    <a:lstStyle/>
                    <a:p>
                      <a:r>
                        <a:rPr lang="ru-RU"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2</a:t>
                      </a:r>
                      <a:endParaRPr lang="ru-RU" dirty="0"/>
                    </a:p>
                  </a:txBody>
                  <a:tcPr/>
                </a:tc>
              </a:tr>
              <a:tr h="370840">
                <a:tc>
                  <a:txBody>
                    <a:bodyPr/>
                    <a:lstStyle/>
                    <a:p>
                      <a:r>
                        <a:rPr lang="ru-RU" smtClean="0"/>
                        <a:t>0</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r>
              <a:tr h="370840">
                <a:tc>
                  <a:txBody>
                    <a:bodyPr/>
                    <a:lstStyle/>
                    <a:p>
                      <a:r>
                        <a:rPr lang="ru-RU" smtClean="0"/>
                        <a:t>0</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r>
              <a:tr h="370840">
                <a:tc>
                  <a:txBody>
                    <a:bodyPr/>
                    <a:lstStyle/>
                    <a:p>
                      <a:r>
                        <a:rPr lang="ru-RU" smtClean="0"/>
                        <a:t>0</a:t>
                      </a:r>
                      <a:endParaRPr lang="ru-RU" dirty="0"/>
                    </a:p>
                  </a:txBody>
                  <a:tcPr/>
                </a:tc>
                <a:tc>
                  <a:txBody>
                    <a:bodyPr/>
                    <a:lstStyle/>
                    <a:p>
                      <a:r>
                        <a:rPr lang="ru-RU" dirty="0" smtClean="0"/>
                        <a:t>0</a:t>
                      </a:r>
                      <a:endParaRPr lang="ru-RU" dirty="0"/>
                    </a:p>
                  </a:txBody>
                  <a:tcPr/>
                </a:tc>
                <a:tc>
                  <a:txBody>
                    <a:bodyPr/>
                    <a:lstStyle/>
                    <a:p>
                      <a:r>
                        <a:rPr lang="ru-RU" dirty="0" smtClean="0"/>
                        <a:t>2</a:t>
                      </a:r>
                      <a:endParaRPr lang="ru-RU" dirty="0"/>
                    </a:p>
                  </a:txBody>
                  <a:tcPr/>
                </a:tc>
                <a:tc>
                  <a:txBody>
                    <a:bodyPr/>
                    <a:lstStyle/>
                    <a:p>
                      <a:r>
                        <a:rPr lang="ru-RU" dirty="0" smtClean="0"/>
                        <a:t>2</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2</a:t>
                      </a:r>
                      <a:endParaRPr lang="ru-RU" dirty="0"/>
                    </a:p>
                  </a:txBody>
                  <a:tcPr/>
                </a:tc>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624888156"/>
              </p:ext>
            </p:extLst>
          </p:nvPr>
        </p:nvGraphicFramePr>
        <p:xfrm>
          <a:off x="8458200" y="2971800"/>
          <a:ext cx="2743200" cy="3708400"/>
        </p:xfrm>
        <a:graphic>
          <a:graphicData uri="http://schemas.openxmlformats.org/drawingml/2006/table">
            <a:tbl>
              <a:tblPr firstRow="1" bandRow="1">
                <a:tableStyleId>{5C22544A-7EE6-4342-B048-85BDC9FD1C3A}</a:tableStyleId>
              </a:tblPr>
              <a:tblGrid>
                <a:gridCol w="685800"/>
                <a:gridCol w="685800"/>
                <a:gridCol w="685800"/>
                <a:gridCol w="685800"/>
              </a:tblGrid>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3</a:t>
                      </a:r>
                      <a:endParaRPr lang="ru-RU" dirty="0"/>
                    </a:p>
                  </a:txBody>
                  <a:tcPr/>
                </a:tc>
              </a:tr>
              <a:tr h="370840">
                <a:tc>
                  <a:txBody>
                    <a:bodyPr/>
                    <a:lstStyle/>
                    <a:p>
                      <a:r>
                        <a:rPr lang="ru-RU"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3</a:t>
                      </a:r>
                      <a:endParaRPr lang="ru-RU" dirty="0"/>
                    </a:p>
                  </a:txBody>
                  <a:tcPr/>
                </a:tc>
              </a:tr>
              <a:tr h="370840">
                <a:tc>
                  <a:txBody>
                    <a:bodyPr/>
                    <a:lstStyle/>
                    <a:p>
                      <a:r>
                        <a:rPr lang="ru-RU"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3</a:t>
                      </a:r>
                      <a:endParaRPr lang="ru-RU" dirty="0"/>
                    </a:p>
                  </a:txBody>
                  <a:tcPr/>
                </a:tc>
              </a:tr>
              <a:tr h="370840">
                <a:tc>
                  <a:txBody>
                    <a:bodyPr/>
                    <a:lstStyle/>
                    <a:p>
                      <a:r>
                        <a:rPr lang="ru-RU"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smtClean="0"/>
                        <a:t>3</a:t>
                      </a:r>
                      <a:endParaRPr lang="ru-RU" dirty="0"/>
                    </a:p>
                  </a:txBody>
                  <a:tcPr/>
                </a:tc>
              </a:tr>
              <a:tr h="370840">
                <a:tc>
                  <a:txBody>
                    <a:bodyPr/>
                    <a:lstStyle/>
                    <a:p>
                      <a:r>
                        <a:rPr lang="ru-RU" smtClean="0"/>
                        <a:t>0</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smtClean="0"/>
                        <a:t>3</a:t>
                      </a:r>
                      <a:endParaRPr lang="ru-RU" dirty="0"/>
                    </a:p>
                  </a:txBody>
                  <a:tcPr/>
                </a:tc>
              </a:tr>
              <a:tr h="370840">
                <a:tc>
                  <a:txBody>
                    <a:bodyPr/>
                    <a:lstStyle/>
                    <a:p>
                      <a:r>
                        <a:rPr lang="ru-RU" smtClean="0"/>
                        <a:t>0</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smtClean="0"/>
                        <a:t>3</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2</a:t>
                      </a:r>
                      <a:endParaRPr lang="ru-RU" dirty="0"/>
                    </a:p>
                  </a:txBody>
                  <a:tcPr/>
                </a:tc>
                <a:tc>
                  <a:txBody>
                    <a:bodyPr/>
                    <a:lstStyle/>
                    <a:p>
                      <a:r>
                        <a:rPr lang="ru-RU" dirty="0" smtClean="0"/>
                        <a:t>3</a:t>
                      </a:r>
                      <a:endParaRPr lang="ru-RU" dirty="0"/>
                    </a:p>
                  </a:txBody>
                  <a:tcPr/>
                </a:tc>
              </a:tr>
              <a:tr h="370840">
                <a:tc>
                  <a:txBody>
                    <a:bodyPr/>
                    <a:lstStyle/>
                    <a:p>
                      <a:r>
                        <a:rPr lang="ru-RU" dirty="0" smtClean="0">
                          <a:solidFill>
                            <a:srgbClr val="FF0000"/>
                          </a:solidFill>
                        </a:rPr>
                        <a:t>0</a:t>
                      </a:r>
                      <a:endParaRPr lang="ru-RU" dirty="0">
                        <a:solidFill>
                          <a:srgbClr val="FF0000"/>
                        </a:solidFill>
                      </a:endParaRPr>
                    </a:p>
                  </a:txBody>
                  <a:tcPr/>
                </a:tc>
                <a:tc>
                  <a:txBody>
                    <a:bodyPr/>
                    <a:lstStyle/>
                    <a:p>
                      <a:r>
                        <a:rPr lang="ru-RU" dirty="0" smtClean="0">
                          <a:solidFill>
                            <a:srgbClr val="FF0000"/>
                          </a:solidFill>
                        </a:rPr>
                        <a:t>0</a:t>
                      </a:r>
                      <a:endParaRPr lang="ru-RU" dirty="0">
                        <a:solidFill>
                          <a:srgbClr val="FF0000"/>
                        </a:solidFill>
                      </a:endParaRPr>
                    </a:p>
                  </a:txBody>
                  <a:tcPr/>
                </a:tc>
                <a:tc>
                  <a:txBody>
                    <a:bodyPr/>
                    <a:lstStyle/>
                    <a:p>
                      <a:r>
                        <a:rPr lang="ru-RU" dirty="0" smtClean="0">
                          <a:solidFill>
                            <a:srgbClr val="FF0000"/>
                          </a:solidFill>
                        </a:rPr>
                        <a:t>0</a:t>
                      </a:r>
                      <a:endParaRPr lang="ru-RU" dirty="0">
                        <a:solidFill>
                          <a:srgbClr val="FF0000"/>
                        </a:solidFill>
                      </a:endParaRPr>
                    </a:p>
                  </a:txBody>
                  <a:tcPr/>
                </a:tc>
                <a:tc>
                  <a:txBody>
                    <a:bodyPr/>
                    <a:lstStyle/>
                    <a:p>
                      <a:r>
                        <a:rPr lang="ru-RU" dirty="0" smtClean="0">
                          <a:solidFill>
                            <a:srgbClr val="FF0000"/>
                          </a:solidFill>
                        </a:rPr>
                        <a:t>0</a:t>
                      </a:r>
                      <a:endParaRPr lang="ru-RU" dirty="0">
                        <a:solidFill>
                          <a:srgbClr val="FF0000"/>
                        </a:solidFill>
                      </a:endParaRPr>
                    </a:p>
                  </a:txBody>
                  <a:tcPr/>
                </a:tc>
              </a:tr>
              <a:tr h="370840">
                <a:tc>
                  <a:txBody>
                    <a:bodyPr/>
                    <a:lstStyle/>
                    <a:p>
                      <a:endParaRPr lang="ru-RU" dirty="0"/>
                    </a:p>
                  </a:txBody>
                  <a:tcPr/>
                </a:tc>
                <a:tc>
                  <a:txBody>
                    <a:bodyPr/>
                    <a:lstStyle/>
                    <a:p>
                      <a:endParaRPr lang="ru-RU" dirty="0"/>
                    </a:p>
                  </a:txBody>
                  <a:tcPr/>
                </a:tc>
                <a:tc>
                  <a:txBody>
                    <a:bodyPr/>
                    <a:lstStyle/>
                    <a:p>
                      <a:endParaRPr lang="ru-RU" dirty="0"/>
                    </a:p>
                  </a:txBody>
                  <a:tcPr/>
                </a:tc>
                <a:tc>
                  <a:txBody>
                    <a:bodyPr/>
                    <a:lstStyle/>
                    <a:p>
                      <a:endParaRPr lang="ru-RU" dirty="0"/>
                    </a:p>
                  </a:txBody>
                  <a:tcPr/>
                </a:tc>
              </a:tr>
              <a:tr h="370840">
                <a:tc>
                  <a:txBody>
                    <a:bodyPr/>
                    <a:lstStyle/>
                    <a:p>
                      <a:endParaRPr lang="ru-RU" dirty="0"/>
                    </a:p>
                  </a:txBody>
                  <a:tcPr/>
                </a:tc>
                <a:tc>
                  <a:txBody>
                    <a:bodyPr/>
                    <a:lstStyle/>
                    <a:p>
                      <a:endParaRPr lang="ru-RU" dirty="0"/>
                    </a:p>
                  </a:txBody>
                  <a:tcPr/>
                </a:tc>
                <a:tc>
                  <a:txBody>
                    <a:bodyPr/>
                    <a:lstStyle/>
                    <a:p>
                      <a:endParaRPr lang="ru-RU" dirty="0"/>
                    </a:p>
                  </a:txBody>
                  <a:tcPr/>
                </a:tc>
                <a:tc>
                  <a:txBody>
                    <a:bodyPr/>
                    <a:lstStyle/>
                    <a:p>
                      <a:endParaRPr lang="ru-RU" dirty="0"/>
                    </a:p>
                  </a:txBody>
                  <a:tcPr/>
                </a:tc>
              </a:tr>
            </a:tbl>
          </a:graphicData>
        </a:graphic>
      </p:graphicFrame>
    </p:spTree>
    <p:extLst>
      <p:ext uri="{BB962C8B-B14F-4D97-AF65-F5344CB8AC3E}">
        <p14:creationId xmlns:p14="http://schemas.microsoft.com/office/powerpoint/2010/main" val="30295973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829160"/>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a:t>
            </a:r>
            <a:r>
              <a:rPr lang="ru-RU" sz="2400" b="1" dirty="0" smtClean="0">
                <a:solidFill>
                  <a:srgbClr val="333333"/>
                </a:solidFill>
                <a:latin typeface="Times New Roman" panose="02020603050405020304" pitchFamily="18" charset="0"/>
                <a:cs typeface="Times New Roman" panose="02020603050405020304" pitchFamily="18" charset="0"/>
              </a:rPr>
              <a:t>таблицу 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Создается заготовка перестановки из одного максимального числа. На каждом шаге в нее вставляется следующий по величине элемент с учетом того, сколько элементов, больших него, должно стоять перед ним. </a:t>
            </a:r>
          </a:p>
          <a:p>
            <a:pPr marL="358775" indent="-358775" algn="just"/>
            <a:r>
              <a:rPr lang="ru-RU" sz="2400" b="1" dirty="0" smtClean="0">
                <a:latin typeface="Times New Roman" panose="02020603050405020304" pitchFamily="18" charset="0"/>
                <a:cs typeface="Times New Roman" panose="02020603050405020304" pitchFamily="18" charset="0"/>
              </a:rPr>
              <a:t>Пример. </a:t>
            </a:r>
            <a:r>
              <a:rPr lang="ru-RU" sz="2400" dirty="0">
                <a:latin typeface="Times New Roman" panose="02020603050405020304" pitchFamily="18" charset="0"/>
                <a:cs typeface="Times New Roman" panose="02020603050405020304" pitchFamily="18" charset="0"/>
              </a:rPr>
              <a:t>Процесс восстановления перестановки </a:t>
            </a:r>
            <a:r>
              <a:rPr lang="ru-RU" sz="2400" i="1" dirty="0">
                <a:latin typeface="Times New Roman" panose="02020603050405020304" pitchFamily="18" charset="0"/>
                <a:cs typeface="Times New Roman" panose="02020603050405020304" pitchFamily="18" charset="0"/>
              </a:rPr>
              <a:t>α </a:t>
            </a:r>
            <a:r>
              <a:rPr lang="ru-RU" sz="2400" dirty="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α</a:t>
            </a:r>
            <a:r>
              <a:rPr lang="ru-RU" sz="2400" baseline="-25000" dirty="0">
                <a:latin typeface="Times New Roman" panose="02020603050405020304" pitchFamily="18" charset="0"/>
                <a:cs typeface="Times New Roman" panose="02020603050405020304" pitchFamily="18" charset="0"/>
              </a:rPr>
              <a:t>1</a:t>
            </a:r>
            <a:r>
              <a:rPr lang="ru-RU" sz="2400" i="1" dirty="0">
                <a:latin typeface="Times New Roman" panose="02020603050405020304" pitchFamily="18" charset="0"/>
                <a:cs typeface="Times New Roman" panose="02020603050405020304" pitchFamily="18" charset="0"/>
              </a:rPr>
              <a:t>, . . . , </a:t>
            </a:r>
            <a:r>
              <a:rPr lang="ru-RU" sz="2400" i="1" dirty="0" smtClean="0">
                <a:latin typeface="Times New Roman" panose="02020603050405020304" pitchFamily="18" charset="0"/>
                <a:cs typeface="Times New Roman" panose="02020603050405020304" pitchFamily="18" charset="0"/>
              </a:rPr>
              <a:t>α</a:t>
            </a:r>
            <a:r>
              <a:rPr lang="ru-RU" sz="2400" baseline="-25000" dirty="0">
                <a:latin typeface="Times New Roman" panose="02020603050405020304" pitchFamily="18" charset="0"/>
                <a:cs typeface="Times New Roman" panose="02020603050405020304" pitchFamily="18" charset="0"/>
              </a:rPr>
              <a:t>9</a:t>
            </a:r>
            <a:r>
              <a:rPr lang="ru-RU" sz="2400"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имеющей </a:t>
            </a:r>
            <a:r>
              <a:rPr lang="ru-RU" sz="2400" dirty="0" smtClean="0">
                <a:latin typeface="Times New Roman" panose="02020603050405020304" pitchFamily="18" charset="0"/>
                <a:cs typeface="Times New Roman" panose="02020603050405020304" pitchFamily="18" charset="0"/>
              </a:rPr>
              <a:t>таблицу инверсий </a:t>
            </a:r>
            <a:r>
              <a:rPr lang="en-US" sz="2400" i="1" dirty="0">
                <a:latin typeface="Times New Roman" panose="02020603050405020304" pitchFamily="18" charset="0"/>
                <a:cs typeface="Times New Roman" panose="02020603050405020304" pitchFamily="18" charset="0"/>
              </a:rPr>
              <a:t>w</a:t>
            </a:r>
            <a:r>
              <a:rPr lang="ru-RU" sz="2400" i="1"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 </a:t>
            </a:r>
            <a:r>
              <a:rPr lang="ru-RU" sz="2400" dirty="0" smtClean="0">
                <a:latin typeface="Times New Roman" panose="02020603050405020304" pitchFamily="18" charset="0"/>
                <a:cs typeface="Times New Roman" panose="02020603050405020304" pitchFamily="18" charset="0"/>
              </a:rPr>
              <a:t>(2, 3, 6, 4, 0, 2, 2, 1, 0), </a:t>
            </a:r>
            <a:r>
              <a:rPr lang="ru-RU" sz="2400" dirty="0">
                <a:latin typeface="Times New Roman" panose="02020603050405020304" pitchFamily="18" charset="0"/>
                <a:cs typeface="Times New Roman" panose="02020603050405020304" pitchFamily="18" charset="0"/>
              </a:rPr>
              <a:t>выглядит так:</a:t>
            </a:r>
          </a:p>
          <a:p>
            <a:pPr marL="457200" indent="-457200">
              <a:buAutoNum type="arabicPeriod"/>
            </a:pPr>
            <a:r>
              <a:rPr lang="ru-RU" sz="2400" i="1" dirty="0" smtClean="0">
                <a:solidFill>
                  <a:srgbClr val="FF0000"/>
                </a:solidFill>
                <a:latin typeface="Times New Roman" panose="02020603050405020304" pitchFamily="18" charset="0"/>
                <a:cs typeface="Times New Roman" panose="02020603050405020304" pitchFamily="18" charset="0"/>
              </a:rPr>
              <a:t>9</a:t>
            </a:r>
          </a:p>
          <a:p>
            <a:pPr marL="457200" indent="-457200">
              <a:buAutoNum type="arabicPeriod"/>
            </a:pPr>
            <a:r>
              <a:rPr lang="ru-RU" sz="2400" i="1" dirty="0" smtClean="0">
                <a:latin typeface="Times New Roman" panose="02020603050405020304" pitchFamily="18" charset="0"/>
                <a:cs typeface="Times New Roman" panose="02020603050405020304" pitchFamily="18" charset="0"/>
              </a:rPr>
              <a:t>9</a:t>
            </a:r>
            <a:r>
              <a:rPr lang="ru-RU" sz="2400" i="1" dirty="0" smtClean="0">
                <a:solidFill>
                  <a:srgbClr val="FF0000"/>
                </a:solidFill>
                <a:latin typeface="Times New Roman" panose="02020603050405020304" pitchFamily="18" charset="0"/>
                <a:cs typeface="Times New Roman" panose="02020603050405020304" pitchFamily="18" charset="0"/>
              </a:rPr>
              <a:t> 8</a:t>
            </a:r>
          </a:p>
          <a:p>
            <a:pPr marL="457200" indent="-457200">
              <a:buAutoNum type="arabicPeriod"/>
            </a:pPr>
            <a:r>
              <a:rPr lang="ru-RU" sz="2400" dirty="0" smtClean="0">
                <a:latin typeface="Times New Roman" panose="02020603050405020304" pitchFamily="18" charset="0"/>
                <a:cs typeface="Times New Roman" panose="02020603050405020304" pitchFamily="18" charset="0"/>
              </a:rPr>
              <a:t>9 8 </a:t>
            </a:r>
            <a:r>
              <a:rPr lang="ru-RU" sz="2400" dirty="0" smtClean="0">
                <a:solidFill>
                  <a:srgbClr val="FF0000"/>
                </a:solidFill>
                <a:latin typeface="Times New Roman" panose="02020603050405020304" pitchFamily="18" charset="0"/>
                <a:cs typeface="Times New Roman" panose="02020603050405020304" pitchFamily="18" charset="0"/>
              </a:rPr>
              <a:t>7</a:t>
            </a:r>
          </a:p>
          <a:p>
            <a:pPr marL="457200" indent="-457200">
              <a:buAutoNum type="arabicPeriod"/>
            </a:pPr>
            <a:r>
              <a:rPr lang="ru-RU" sz="2400" dirty="0" smtClean="0">
                <a:latin typeface="Times New Roman" panose="02020603050405020304" pitchFamily="18" charset="0"/>
                <a:cs typeface="Times New Roman" panose="02020603050405020304" pitchFamily="18" charset="0"/>
              </a:rPr>
              <a:t>9 8 </a:t>
            </a:r>
            <a:r>
              <a:rPr lang="ru-RU" sz="2400" dirty="0" smtClean="0">
                <a:solidFill>
                  <a:srgbClr val="FF0000"/>
                </a:solidFill>
                <a:latin typeface="Times New Roman" panose="02020603050405020304" pitchFamily="18" charset="0"/>
                <a:cs typeface="Times New Roman" panose="02020603050405020304" pitchFamily="18" charset="0"/>
              </a:rPr>
              <a:t>6</a:t>
            </a:r>
            <a:r>
              <a:rPr lang="ru-RU" sz="2400" dirty="0" smtClean="0">
                <a:latin typeface="Times New Roman" panose="02020603050405020304" pitchFamily="18" charset="0"/>
                <a:cs typeface="Times New Roman" panose="02020603050405020304" pitchFamily="18" charset="0"/>
              </a:rPr>
              <a:t> 7</a:t>
            </a:r>
          </a:p>
          <a:p>
            <a:pPr marL="457200" indent="-457200">
              <a:buAutoNum type="arabicPeriod"/>
            </a:pPr>
            <a:r>
              <a:rPr lang="ru-RU" sz="2400" dirty="0" smtClean="0">
                <a:solidFill>
                  <a:srgbClr val="FF0000"/>
                </a:solidFill>
                <a:latin typeface="Times New Roman" panose="02020603050405020304" pitchFamily="18" charset="0"/>
                <a:cs typeface="Times New Roman" panose="02020603050405020304" pitchFamily="18" charset="0"/>
              </a:rPr>
              <a:t>5</a:t>
            </a:r>
            <a:r>
              <a:rPr lang="ru-RU" sz="2400" dirty="0" smtClean="0">
                <a:latin typeface="Times New Roman" panose="02020603050405020304" pitchFamily="18" charset="0"/>
                <a:cs typeface="Times New Roman" panose="02020603050405020304" pitchFamily="18" charset="0"/>
              </a:rPr>
              <a:t> 9 8 6 7</a:t>
            </a:r>
          </a:p>
          <a:p>
            <a:pPr marL="457200" indent="-457200">
              <a:buAutoNum type="arabicPeriod"/>
            </a:pPr>
            <a:r>
              <a:rPr lang="ru-RU" sz="2400" dirty="0" smtClean="0">
                <a:latin typeface="Times New Roman" panose="02020603050405020304" pitchFamily="18" charset="0"/>
                <a:cs typeface="Times New Roman" panose="02020603050405020304" pitchFamily="18" charset="0"/>
              </a:rPr>
              <a:t>5 9 8 6 </a:t>
            </a:r>
            <a:r>
              <a:rPr lang="ru-RU" sz="2400" dirty="0" smtClean="0">
                <a:solidFill>
                  <a:srgbClr val="FF0000"/>
                </a:solidFill>
                <a:latin typeface="Times New Roman" panose="02020603050405020304" pitchFamily="18" charset="0"/>
                <a:cs typeface="Times New Roman" panose="02020603050405020304" pitchFamily="18" charset="0"/>
              </a:rPr>
              <a:t>4</a:t>
            </a:r>
            <a:r>
              <a:rPr lang="ru-RU" sz="2400" dirty="0" smtClean="0">
                <a:latin typeface="Times New Roman" panose="02020603050405020304" pitchFamily="18" charset="0"/>
                <a:cs typeface="Times New Roman" panose="02020603050405020304" pitchFamily="18" charset="0"/>
              </a:rPr>
              <a:t> 7</a:t>
            </a:r>
          </a:p>
          <a:p>
            <a:pPr marL="457200" indent="-457200">
              <a:buFontTx/>
              <a:buAutoNum type="arabicPeriod"/>
            </a:pPr>
            <a:r>
              <a:rPr lang="ru-RU" sz="2400" dirty="0">
                <a:latin typeface="Times New Roman" panose="02020603050405020304" pitchFamily="18" charset="0"/>
                <a:cs typeface="Times New Roman" panose="02020603050405020304" pitchFamily="18" charset="0"/>
              </a:rPr>
              <a:t>5 9 8 6 4 </a:t>
            </a:r>
            <a:r>
              <a:rPr lang="ru-RU" sz="2400" dirty="0" smtClean="0">
                <a:latin typeface="Times New Roman" panose="02020603050405020304" pitchFamily="18" charset="0"/>
                <a:cs typeface="Times New Roman" panose="02020603050405020304" pitchFamily="18" charset="0"/>
              </a:rPr>
              <a:t>7 </a:t>
            </a:r>
            <a:r>
              <a:rPr lang="ru-RU" sz="2400" dirty="0" smtClean="0">
                <a:solidFill>
                  <a:srgbClr val="FF0000"/>
                </a:solidFill>
                <a:latin typeface="Times New Roman" panose="02020603050405020304" pitchFamily="18" charset="0"/>
                <a:cs typeface="Times New Roman" panose="02020603050405020304" pitchFamily="18" charset="0"/>
              </a:rPr>
              <a:t>3</a:t>
            </a:r>
          </a:p>
          <a:p>
            <a:pPr marL="457200" indent="-457200">
              <a:buFontTx/>
              <a:buAutoNum type="arabicPeriod"/>
            </a:pPr>
            <a:r>
              <a:rPr lang="ru-RU" sz="2400" dirty="0">
                <a:latin typeface="Times New Roman" panose="02020603050405020304" pitchFamily="18" charset="0"/>
                <a:cs typeface="Times New Roman" panose="02020603050405020304" pitchFamily="18" charset="0"/>
              </a:rPr>
              <a:t>5 9 </a:t>
            </a:r>
            <a:r>
              <a:rPr lang="ru-RU" sz="2400" dirty="0" smtClean="0">
                <a:latin typeface="Times New Roman" panose="02020603050405020304" pitchFamily="18" charset="0"/>
                <a:cs typeface="Times New Roman" panose="02020603050405020304" pitchFamily="18" charset="0"/>
              </a:rPr>
              <a:t>8 </a:t>
            </a:r>
            <a:r>
              <a:rPr lang="ru-RU" sz="2400" dirty="0" smtClean="0">
                <a:solidFill>
                  <a:srgbClr val="FF0000"/>
                </a:solidFill>
                <a:latin typeface="Times New Roman" panose="02020603050405020304" pitchFamily="18" charset="0"/>
                <a:cs typeface="Times New Roman" panose="02020603050405020304" pitchFamily="18" charset="0"/>
              </a:rPr>
              <a:t>2</a:t>
            </a:r>
            <a:r>
              <a:rPr lang="ru-RU" sz="2400"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6 4 7 3</a:t>
            </a:r>
          </a:p>
          <a:p>
            <a:pPr marL="457200" indent="-457200">
              <a:buFontTx/>
              <a:buAutoNum type="arabicPeriod"/>
            </a:pPr>
            <a:r>
              <a:rPr lang="ru-RU" sz="2400" dirty="0">
                <a:latin typeface="Times New Roman" panose="02020603050405020304" pitchFamily="18" charset="0"/>
                <a:cs typeface="Times New Roman" panose="02020603050405020304" pitchFamily="18" charset="0"/>
              </a:rPr>
              <a:t>5 9 </a:t>
            </a:r>
            <a:r>
              <a:rPr lang="ru-RU" sz="2400" dirty="0" smtClean="0">
                <a:solidFill>
                  <a:srgbClr val="FF0000"/>
                </a:solidFill>
                <a:latin typeface="Times New Roman" panose="02020603050405020304" pitchFamily="18" charset="0"/>
                <a:cs typeface="Times New Roman" panose="02020603050405020304" pitchFamily="18" charset="0"/>
              </a:rPr>
              <a:t>1</a:t>
            </a:r>
            <a:r>
              <a:rPr lang="ru-RU" sz="2400" dirty="0" smtClean="0">
                <a:latin typeface="Times New Roman" panose="02020603050405020304" pitchFamily="18" charset="0"/>
                <a:cs typeface="Times New Roman" panose="02020603050405020304" pitchFamily="18" charset="0"/>
              </a:rPr>
              <a:t> 8 </a:t>
            </a:r>
            <a:r>
              <a:rPr lang="ru-RU" sz="2400" dirty="0">
                <a:latin typeface="Times New Roman" panose="02020603050405020304" pitchFamily="18" charset="0"/>
                <a:cs typeface="Times New Roman" panose="02020603050405020304" pitchFamily="18" charset="0"/>
              </a:rPr>
              <a:t>2 6 4 7 </a:t>
            </a:r>
            <a:r>
              <a:rPr lang="ru-RU" sz="2400" dirty="0" smtClean="0">
                <a:latin typeface="Times New Roman" panose="02020603050405020304" pitchFamily="18" charset="0"/>
                <a:cs typeface="Times New Roman" panose="02020603050405020304" pitchFamily="18" charset="0"/>
              </a:rPr>
              <a:t>3</a:t>
            </a:r>
            <a:endParaRPr lang="ru-RU" sz="2400" dirty="0">
              <a:latin typeface="Times New Roman" panose="02020603050405020304" pitchFamily="18" charset="0"/>
              <a:cs typeface="Times New Roman" panose="02020603050405020304" pitchFamily="18" charset="0"/>
            </a:endParaRPr>
          </a:p>
          <a:p>
            <a:r>
              <a:rPr lang="ru-RU" sz="2400" i="1" dirty="0">
                <a:latin typeface="Times New Roman" panose="02020603050405020304" pitchFamily="18" charset="0"/>
                <a:cs typeface="Times New Roman" panose="02020603050405020304" pitchFamily="18" charset="0"/>
              </a:rPr>
              <a:t>α </a:t>
            </a:r>
            <a:r>
              <a:rPr lang="ru-RU" sz="2400" dirty="0">
                <a:latin typeface="Times New Roman" panose="02020603050405020304" pitchFamily="18" charset="0"/>
                <a:cs typeface="Times New Roman" panose="02020603050405020304" pitchFamily="18" charset="0"/>
              </a:rPr>
              <a:t>= (</a:t>
            </a:r>
            <a:r>
              <a:rPr lang="ru-RU" sz="2400" dirty="0" smtClean="0">
                <a:latin typeface="Times New Roman" panose="02020603050405020304" pitchFamily="18" charset="0"/>
                <a:cs typeface="Times New Roman" panose="02020603050405020304" pitchFamily="18" charset="0"/>
              </a:rPr>
              <a:t>5, 9, 1, 8, 2, 6, 4, 7, 3)</a:t>
            </a:r>
            <a:r>
              <a:rPr lang="ru-RU" sz="2400" i="1" dirty="0" smtClean="0">
                <a:latin typeface="Times New Roman" panose="02020603050405020304" pitchFamily="18" charset="0"/>
                <a:cs typeface="Times New Roman" panose="02020603050405020304" pitchFamily="18" charset="0"/>
              </a:rPr>
              <a:t>.</a:t>
            </a:r>
            <a:endParaRPr lang="en-US" sz="2400" b="1" dirty="0" smtClean="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8</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19630341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490606"/>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a:t>
            </a:r>
            <a:r>
              <a:rPr lang="ru-RU" sz="2400" b="1" dirty="0" smtClean="0">
                <a:solidFill>
                  <a:srgbClr val="333333"/>
                </a:solidFill>
                <a:latin typeface="Times New Roman" panose="02020603050405020304" pitchFamily="18" charset="0"/>
                <a:cs typeface="Times New Roman" panose="02020603050405020304" pitchFamily="18" charset="0"/>
              </a:rPr>
              <a:t>таблицу 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На каждом шаге в таблице вставляется следующий по величине элемент с учетом того, сколько элементов, больших него, должно стоять перед ним. </a:t>
            </a:r>
          </a:p>
          <a:p>
            <a:pPr marL="358775" indent="-358775" algn="just"/>
            <a:r>
              <a:rPr lang="ru-RU" sz="2400" b="1" dirty="0" smtClean="0">
                <a:latin typeface="Times New Roman" panose="02020603050405020304" pitchFamily="18" charset="0"/>
                <a:cs typeface="Times New Roman" panose="02020603050405020304" pitchFamily="18" charset="0"/>
              </a:rPr>
              <a:t>Пример. </a:t>
            </a:r>
            <a:r>
              <a:rPr lang="ru-RU" sz="2400" dirty="0">
                <a:latin typeface="Times New Roman" panose="02020603050405020304" pitchFamily="18" charset="0"/>
                <a:cs typeface="Times New Roman" panose="02020603050405020304" pitchFamily="18" charset="0"/>
              </a:rPr>
              <a:t>Процесс восстановления перестановки </a:t>
            </a:r>
            <a:r>
              <a:rPr lang="ru-RU" sz="2400" i="1" dirty="0">
                <a:latin typeface="Times New Roman" panose="02020603050405020304" pitchFamily="18" charset="0"/>
                <a:cs typeface="Times New Roman" panose="02020603050405020304" pitchFamily="18" charset="0"/>
              </a:rPr>
              <a:t>α </a:t>
            </a:r>
            <a:r>
              <a:rPr lang="ru-RU" sz="2400" dirty="0">
                <a:latin typeface="Times New Roman" panose="02020603050405020304" pitchFamily="18" charset="0"/>
                <a:cs typeface="Times New Roman" panose="02020603050405020304" pitchFamily="18" charset="0"/>
              </a:rPr>
              <a:t>= (</a:t>
            </a:r>
            <a:r>
              <a:rPr lang="ru-RU" sz="2400" i="1" dirty="0">
                <a:latin typeface="Times New Roman" panose="02020603050405020304" pitchFamily="18" charset="0"/>
                <a:cs typeface="Times New Roman" panose="02020603050405020304" pitchFamily="18" charset="0"/>
              </a:rPr>
              <a:t>α</a:t>
            </a:r>
            <a:r>
              <a:rPr lang="ru-RU" sz="2400" baseline="-25000" dirty="0">
                <a:latin typeface="Times New Roman" panose="02020603050405020304" pitchFamily="18" charset="0"/>
                <a:cs typeface="Times New Roman" panose="02020603050405020304" pitchFamily="18" charset="0"/>
              </a:rPr>
              <a:t>1</a:t>
            </a:r>
            <a:r>
              <a:rPr lang="ru-RU" sz="2400" i="1" dirty="0">
                <a:latin typeface="Times New Roman" panose="02020603050405020304" pitchFamily="18" charset="0"/>
                <a:cs typeface="Times New Roman" panose="02020603050405020304" pitchFamily="18" charset="0"/>
              </a:rPr>
              <a:t>, . . . , </a:t>
            </a:r>
            <a:r>
              <a:rPr lang="ru-RU" sz="2400" i="1" dirty="0" smtClean="0">
                <a:latin typeface="Times New Roman" panose="02020603050405020304" pitchFamily="18" charset="0"/>
                <a:cs typeface="Times New Roman" panose="02020603050405020304" pitchFamily="18" charset="0"/>
              </a:rPr>
              <a:t>α</a:t>
            </a:r>
            <a:r>
              <a:rPr lang="ru-RU" sz="2400" baseline="-25000" dirty="0">
                <a:latin typeface="Times New Roman" panose="02020603050405020304" pitchFamily="18" charset="0"/>
                <a:cs typeface="Times New Roman" panose="02020603050405020304" pitchFamily="18" charset="0"/>
              </a:rPr>
              <a:t>9</a:t>
            </a:r>
            <a:r>
              <a:rPr lang="ru-RU" sz="2400"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имеющей </a:t>
            </a:r>
            <a:r>
              <a:rPr lang="ru-RU" sz="2400" dirty="0" smtClean="0">
                <a:latin typeface="Times New Roman" panose="02020603050405020304" pitchFamily="18" charset="0"/>
                <a:cs typeface="Times New Roman" panose="02020603050405020304" pitchFamily="18" charset="0"/>
              </a:rPr>
              <a:t>таблицу инверсий </a:t>
            </a:r>
            <a:r>
              <a:rPr lang="en-US" sz="2400" i="1" dirty="0">
                <a:latin typeface="Times New Roman" panose="02020603050405020304" pitchFamily="18" charset="0"/>
                <a:cs typeface="Times New Roman" panose="02020603050405020304" pitchFamily="18" charset="0"/>
              </a:rPr>
              <a:t>w</a:t>
            </a:r>
            <a:r>
              <a:rPr lang="ru-RU" sz="2400" i="1"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 </a:t>
            </a:r>
            <a:r>
              <a:rPr lang="ru-RU" sz="2400" dirty="0" smtClean="0">
                <a:latin typeface="Times New Roman" panose="02020603050405020304" pitchFamily="18" charset="0"/>
                <a:cs typeface="Times New Roman" panose="02020603050405020304" pitchFamily="18" charset="0"/>
              </a:rPr>
              <a:t>(</a:t>
            </a:r>
            <a:r>
              <a:rPr lang="ru-RU" sz="2400" dirty="0" smtClean="0">
                <a:solidFill>
                  <a:schemeClr val="accent6">
                    <a:lumMod val="60000"/>
                    <a:lumOff val="40000"/>
                  </a:schemeClr>
                </a:solidFill>
                <a:latin typeface="Times New Roman" panose="02020603050405020304" pitchFamily="18" charset="0"/>
                <a:cs typeface="Times New Roman" panose="02020603050405020304" pitchFamily="18" charset="0"/>
              </a:rPr>
              <a:t>2</a:t>
            </a:r>
            <a:r>
              <a:rPr lang="ru-RU" sz="2400" dirty="0" smtClean="0">
                <a:latin typeface="Times New Roman" panose="02020603050405020304" pitchFamily="18" charset="0"/>
                <a:cs typeface="Times New Roman" panose="02020603050405020304" pitchFamily="18" charset="0"/>
              </a:rPr>
              <a:t>, </a:t>
            </a:r>
            <a:r>
              <a:rPr lang="ru-RU" sz="2400" dirty="0" smtClean="0">
                <a:solidFill>
                  <a:srgbClr val="FFFF00"/>
                </a:solidFill>
                <a:latin typeface="Times New Roman" panose="02020603050405020304" pitchFamily="18" charset="0"/>
                <a:cs typeface="Times New Roman" panose="02020603050405020304" pitchFamily="18" charset="0"/>
              </a:rPr>
              <a:t>3</a:t>
            </a:r>
            <a:r>
              <a:rPr lang="ru-RU" sz="2400" dirty="0" smtClean="0">
                <a:latin typeface="Times New Roman" panose="02020603050405020304" pitchFamily="18" charset="0"/>
                <a:cs typeface="Times New Roman" panose="02020603050405020304" pitchFamily="18" charset="0"/>
              </a:rPr>
              <a:t>, 6, 4, 0, 2, 2, 1, 0), </a:t>
            </a:r>
            <a:r>
              <a:rPr lang="ru-RU" sz="2400" dirty="0">
                <a:latin typeface="Times New Roman" panose="02020603050405020304" pitchFamily="18" charset="0"/>
                <a:cs typeface="Times New Roman" panose="02020603050405020304" pitchFamily="18" charset="0"/>
              </a:rPr>
              <a:t>выглядит так:</a:t>
            </a:r>
          </a:p>
          <a:p>
            <a:pPr marL="457200" indent="-457200">
              <a:buAutoNum type="arabicPeriod"/>
            </a:pP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r>
              <a:rPr lang="ru-RU" sz="2400" i="1" dirty="0">
                <a:latin typeface="Times New Roman" panose="02020603050405020304" pitchFamily="18" charset="0"/>
                <a:cs typeface="Times New Roman" panose="02020603050405020304" pitchFamily="18" charset="0"/>
              </a:rPr>
              <a:t>α </a:t>
            </a:r>
            <a:r>
              <a:rPr lang="ru-RU" sz="2400" dirty="0">
                <a:latin typeface="Times New Roman" panose="02020603050405020304" pitchFamily="18" charset="0"/>
                <a:cs typeface="Times New Roman" panose="02020603050405020304" pitchFamily="18" charset="0"/>
              </a:rPr>
              <a:t>= (</a:t>
            </a:r>
            <a:r>
              <a:rPr lang="ru-RU" sz="2400" dirty="0" smtClean="0">
                <a:latin typeface="Times New Roman" panose="02020603050405020304" pitchFamily="18" charset="0"/>
                <a:cs typeface="Times New Roman" panose="02020603050405020304" pitchFamily="18" charset="0"/>
              </a:rPr>
              <a:t>5, 9, 1, 8, 2, 6, 4, 7, 3)</a:t>
            </a:r>
            <a:r>
              <a:rPr lang="ru-RU" sz="2400" i="1" dirty="0" smtClean="0">
                <a:latin typeface="Times New Roman" panose="02020603050405020304" pitchFamily="18" charset="0"/>
                <a:cs typeface="Times New Roman" panose="02020603050405020304" pitchFamily="18" charset="0"/>
              </a:rPr>
              <a:t>.</a:t>
            </a:r>
            <a:endParaRPr lang="en-US" sz="2400" b="1" dirty="0" smtClean="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9</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5" name="Таблица 4"/>
          <p:cNvGraphicFramePr>
            <a:graphicFrameLocks noGrp="1"/>
          </p:cNvGraphicFramePr>
          <p:nvPr>
            <p:extLst>
              <p:ext uri="{D42A27DB-BD31-4B8C-83A1-F6EECF244321}">
                <p14:modId xmlns:p14="http://schemas.microsoft.com/office/powerpoint/2010/main" val="3572068049"/>
              </p:ext>
            </p:extLst>
          </p:nvPr>
        </p:nvGraphicFramePr>
        <p:xfrm>
          <a:off x="3886200" y="3048000"/>
          <a:ext cx="8127999" cy="3332480"/>
        </p:xfrm>
        <a:graphic>
          <a:graphicData uri="http://schemas.openxmlformats.org/drawingml/2006/table">
            <a:tbl>
              <a:tblPr firstRow="1" bandRow="1">
                <a:tableStyleId>{5940675A-B579-460E-94D1-54222C63F5DA}</a:tableStyleId>
              </a:tblPr>
              <a:tblGrid>
                <a:gridCol w="903111"/>
                <a:gridCol w="903111"/>
                <a:gridCol w="903111"/>
                <a:gridCol w="903111"/>
                <a:gridCol w="903111"/>
                <a:gridCol w="903111"/>
                <a:gridCol w="903111"/>
                <a:gridCol w="903111"/>
                <a:gridCol w="903111"/>
              </a:tblGrid>
              <a:tr h="328506">
                <a:tc>
                  <a:txBody>
                    <a:bodyPr/>
                    <a:lstStyle/>
                    <a:p>
                      <a:r>
                        <a:rPr lang="en-US" dirty="0" smtClean="0">
                          <a:solidFill>
                            <a:schemeClr val="accent6">
                              <a:lumMod val="60000"/>
                              <a:lumOff val="40000"/>
                            </a:schemeClr>
                          </a:solidFill>
                        </a:rPr>
                        <a:t>-</a:t>
                      </a:r>
                      <a:endParaRPr lang="ru-RU" dirty="0">
                        <a:solidFill>
                          <a:schemeClr val="accent6">
                            <a:lumMod val="60000"/>
                            <a:lumOff val="40000"/>
                          </a:schemeClr>
                        </a:solidFill>
                      </a:endParaRPr>
                    </a:p>
                  </a:txBody>
                  <a:tcPr/>
                </a:tc>
                <a:tc>
                  <a:txBody>
                    <a:bodyPr/>
                    <a:lstStyle/>
                    <a:p>
                      <a:r>
                        <a:rPr lang="en-US" dirty="0" smtClean="0">
                          <a:solidFill>
                            <a:schemeClr val="accent6">
                              <a:lumMod val="60000"/>
                              <a:lumOff val="40000"/>
                            </a:schemeClr>
                          </a:solidFill>
                        </a:rPr>
                        <a:t>-</a:t>
                      </a:r>
                      <a:endParaRPr lang="ru-RU" dirty="0">
                        <a:solidFill>
                          <a:schemeClr val="accent6">
                            <a:lumMod val="60000"/>
                            <a:lumOff val="40000"/>
                          </a:schemeClr>
                        </a:solidFill>
                      </a:endParaRPr>
                    </a:p>
                  </a:txBody>
                  <a:tcPr/>
                </a:tc>
                <a:tc>
                  <a:txBody>
                    <a:bodyPr/>
                    <a:lstStyle/>
                    <a:p>
                      <a:r>
                        <a:rPr lang="en-US" dirty="0" smtClean="0">
                          <a:solidFill>
                            <a:srgbClr val="FF0000"/>
                          </a:solidFill>
                        </a:rPr>
                        <a:t>1</a:t>
                      </a:r>
                      <a:endParaRPr lang="ru-RU" dirty="0">
                        <a:solidFill>
                          <a:srgbClr val="FF0000"/>
                        </a:solidFill>
                      </a:endParaRPr>
                    </a:p>
                  </a:txBody>
                  <a:tcPr/>
                </a:tc>
                <a:tc>
                  <a:txBody>
                    <a:bodyPr/>
                    <a:lstStyle/>
                    <a:p>
                      <a:endParaRPr lang="ru-RU"/>
                    </a:p>
                  </a:txBody>
                  <a:tcPr/>
                </a:tc>
                <a:tc>
                  <a:txBody>
                    <a:bodyPr/>
                    <a:lstStyle/>
                    <a:p>
                      <a:endParaRPr lang="ru-RU"/>
                    </a:p>
                  </a:txBody>
                  <a:tcPr/>
                </a:tc>
                <a:tc>
                  <a:txBody>
                    <a:bodyPr/>
                    <a:lstStyle/>
                    <a:p>
                      <a:endParaRPr lang="ru-RU" dirty="0"/>
                    </a:p>
                  </a:txBody>
                  <a:tcPr/>
                </a:tc>
                <a:tc>
                  <a:txBody>
                    <a:bodyPr/>
                    <a:lstStyle/>
                    <a:p>
                      <a:endParaRPr lang="ru-RU"/>
                    </a:p>
                  </a:txBody>
                  <a:tcPr/>
                </a:tc>
                <a:tc>
                  <a:txBody>
                    <a:bodyPr/>
                    <a:lstStyle/>
                    <a:p>
                      <a:endParaRPr lang="ru-RU"/>
                    </a:p>
                  </a:txBody>
                  <a:tcPr/>
                </a:tc>
                <a:tc>
                  <a:txBody>
                    <a:bodyPr/>
                    <a:lstStyle/>
                    <a:p>
                      <a:endParaRPr lang="ru-RU"/>
                    </a:p>
                  </a:txBody>
                  <a:tcPr/>
                </a:tc>
              </a:tr>
              <a:tr h="370840">
                <a:tc>
                  <a:txBody>
                    <a:bodyPr/>
                    <a:lstStyle/>
                    <a:p>
                      <a:r>
                        <a:rPr lang="en-US" dirty="0" smtClean="0">
                          <a:solidFill>
                            <a:srgbClr val="FFFF00"/>
                          </a:solidFill>
                        </a:rPr>
                        <a:t>-</a:t>
                      </a:r>
                      <a:endParaRPr lang="ru-RU" dirty="0">
                        <a:solidFill>
                          <a:srgbClr val="FFFF00"/>
                        </a:solidFill>
                      </a:endParaRPr>
                    </a:p>
                  </a:txBody>
                  <a:tcPr/>
                </a:tc>
                <a:tc>
                  <a:txBody>
                    <a:bodyPr/>
                    <a:lstStyle/>
                    <a:p>
                      <a:r>
                        <a:rPr lang="en-US" dirty="0" smtClean="0">
                          <a:solidFill>
                            <a:srgbClr val="FFFF00"/>
                          </a:solidFill>
                        </a:rPr>
                        <a:t>-</a:t>
                      </a:r>
                      <a:endParaRPr lang="ru-RU" dirty="0">
                        <a:solidFill>
                          <a:srgbClr val="FFFF00"/>
                        </a:solidFill>
                      </a:endParaRPr>
                    </a:p>
                  </a:txBody>
                  <a:tcPr/>
                </a:tc>
                <a:tc>
                  <a:txBody>
                    <a:bodyPr/>
                    <a:lstStyle/>
                    <a:p>
                      <a:r>
                        <a:rPr lang="en-US" dirty="0" smtClean="0"/>
                        <a:t>1</a:t>
                      </a:r>
                      <a:endParaRPr lang="ru-RU" dirty="0"/>
                    </a:p>
                  </a:txBody>
                  <a:tcPr/>
                </a:tc>
                <a:tc>
                  <a:txBody>
                    <a:bodyPr/>
                    <a:lstStyle/>
                    <a:p>
                      <a:r>
                        <a:rPr lang="en-US" dirty="0" smtClean="0">
                          <a:solidFill>
                            <a:srgbClr val="FFFF00"/>
                          </a:solidFill>
                        </a:rPr>
                        <a:t>-</a:t>
                      </a:r>
                      <a:endParaRPr lang="ru-RU" dirty="0">
                        <a:solidFill>
                          <a:srgbClr val="FFFF00"/>
                        </a:solidFill>
                      </a:endParaRPr>
                    </a:p>
                  </a:txBody>
                  <a:tcPr/>
                </a:tc>
                <a:tc>
                  <a:txBody>
                    <a:bodyPr/>
                    <a:lstStyle/>
                    <a:p>
                      <a:r>
                        <a:rPr lang="en-US" dirty="0" smtClean="0">
                          <a:solidFill>
                            <a:srgbClr val="FF0000"/>
                          </a:solidFill>
                        </a:rPr>
                        <a:t>2</a:t>
                      </a:r>
                      <a:endParaRPr lang="ru-RU" dirty="0">
                        <a:solidFill>
                          <a:srgbClr val="FF0000"/>
                        </a:solidFill>
                      </a:endParaRPr>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tr>
              <a:tr h="370840">
                <a:tc>
                  <a:txBody>
                    <a:bodyPr/>
                    <a:lstStyle/>
                    <a:p>
                      <a:endParaRPr lang="ru-RU" dirty="0"/>
                    </a:p>
                  </a:txBody>
                  <a:tcPr/>
                </a:tc>
                <a:tc>
                  <a:txBody>
                    <a:bodyPr/>
                    <a:lstStyle/>
                    <a:p>
                      <a:endParaRPr lang="ru-RU" dirty="0"/>
                    </a:p>
                  </a:txBody>
                  <a:tcPr/>
                </a:tc>
                <a:tc>
                  <a:txBody>
                    <a:bodyPr/>
                    <a:lstStyle/>
                    <a:p>
                      <a:r>
                        <a:rPr lang="en-US" dirty="0" smtClean="0"/>
                        <a:t>1</a:t>
                      </a:r>
                      <a:endParaRPr lang="ru-RU" dirty="0"/>
                    </a:p>
                  </a:txBody>
                  <a:tcPr/>
                </a:tc>
                <a:tc>
                  <a:txBody>
                    <a:bodyPr/>
                    <a:lstStyle/>
                    <a:p>
                      <a:endParaRPr lang="ru-RU" dirty="0"/>
                    </a:p>
                  </a:txBody>
                  <a:tcPr/>
                </a:tc>
                <a:tc>
                  <a:txBody>
                    <a:bodyPr/>
                    <a:lstStyle/>
                    <a:p>
                      <a:r>
                        <a:rPr lang="en-US" dirty="0" smtClean="0"/>
                        <a:t>2</a:t>
                      </a:r>
                      <a:endParaRPr lang="ru-RU" dirty="0"/>
                    </a:p>
                  </a:txBody>
                  <a:tcPr/>
                </a:tc>
                <a:tc>
                  <a:txBody>
                    <a:bodyPr/>
                    <a:lstStyle/>
                    <a:p>
                      <a:endParaRPr lang="ru-RU" dirty="0"/>
                    </a:p>
                  </a:txBody>
                  <a:tcPr/>
                </a:tc>
                <a:tc>
                  <a:txBody>
                    <a:bodyPr/>
                    <a:lstStyle/>
                    <a:p>
                      <a:endParaRPr lang="ru-RU" dirty="0"/>
                    </a:p>
                  </a:txBody>
                  <a:tcPr/>
                </a:tc>
                <a:tc>
                  <a:txBody>
                    <a:bodyPr/>
                    <a:lstStyle/>
                    <a:p>
                      <a:endParaRPr lang="ru-RU" dirty="0"/>
                    </a:p>
                  </a:txBody>
                  <a:tcPr/>
                </a:tc>
                <a:tc>
                  <a:txBody>
                    <a:bodyPr/>
                    <a:lstStyle/>
                    <a:p>
                      <a:r>
                        <a:rPr lang="en-US" dirty="0" smtClean="0">
                          <a:solidFill>
                            <a:srgbClr val="FF0000"/>
                          </a:solidFill>
                        </a:rPr>
                        <a:t>3</a:t>
                      </a:r>
                      <a:endParaRPr lang="ru-RU" dirty="0">
                        <a:solidFill>
                          <a:srgbClr val="FF0000"/>
                        </a:solidFill>
                      </a:endParaRPr>
                    </a:p>
                  </a:txBody>
                  <a:tcPr/>
                </a:tc>
              </a:tr>
              <a:tr h="370840">
                <a:tc>
                  <a:txBody>
                    <a:bodyPr/>
                    <a:lstStyle/>
                    <a:p>
                      <a:endParaRPr lang="ru-RU" dirty="0"/>
                    </a:p>
                  </a:txBody>
                  <a:tcPr/>
                </a:tc>
                <a:tc>
                  <a:txBody>
                    <a:bodyPr/>
                    <a:lstStyle/>
                    <a:p>
                      <a:endParaRPr lang="ru-RU" dirty="0"/>
                    </a:p>
                  </a:txBody>
                  <a:tcPr/>
                </a:tc>
                <a:tc>
                  <a:txBody>
                    <a:bodyPr/>
                    <a:lstStyle/>
                    <a:p>
                      <a:r>
                        <a:rPr lang="en-US" dirty="0" smtClean="0"/>
                        <a:t>1</a:t>
                      </a:r>
                      <a:endParaRPr lang="ru-RU" dirty="0"/>
                    </a:p>
                  </a:txBody>
                  <a:tcPr/>
                </a:tc>
                <a:tc>
                  <a:txBody>
                    <a:bodyPr/>
                    <a:lstStyle/>
                    <a:p>
                      <a:endParaRPr lang="ru-RU" dirty="0"/>
                    </a:p>
                  </a:txBody>
                  <a:tcPr/>
                </a:tc>
                <a:tc>
                  <a:txBody>
                    <a:bodyPr/>
                    <a:lstStyle/>
                    <a:p>
                      <a:r>
                        <a:rPr lang="en-US" dirty="0" smtClean="0"/>
                        <a:t>2</a:t>
                      </a:r>
                      <a:endParaRPr lang="ru-RU" dirty="0"/>
                    </a:p>
                  </a:txBody>
                  <a:tcPr/>
                </a:tc>
                <a:tc>
                  <a:txBody>
                    <a:bodyPr/>
                    <a:lstStyle/>
                    <a:p>
                      <a:endParaRPr lang="ru-RU" dirty="0"/>
                    </a:p>
                  </a:txBody>
                  <a:tcPr/>
                </a:tc>
                <a:tc>
                  <a:txBody>
                    <a:bodyPr/>
                    <a:lstStyle/>
                    <a:p>
                      <a:r>
                        <a:rPr lang="en-US" dirty="0" smtClean="0">
                          <a:solidFill>
                            <a:srgbClr val="FF0000"/>
                          </a:solidFill>
                        </a:rPr>
                        <a:t>4</a:t>
                      </a:r>
                      <a:endParaRPr lang="ru-RU" dirty="0">
                        <a:solidFill>
                          <a:srgbClr val="FF0000"/>
                        </a:solidFill>
                      </a:endParaRPr>
                    </a:p>
                  </a:txBody>
                  <a:tcPr/>
                </a:tc>
                <a:tc>
                  <a:txBody>
                    <a:bodyPr/>
                    <a:lstStyle/>
                    <a:p>
                      <a:endParaRPr lang="ru-RU"/>
                    </a:p>
                  </a:txBody>
                  <a:tcPr/>
                </a:tc>
                <a:tc>
                  <a:txBody>
                    <a:bodyPr/>
                    <a:lstStyle/>
                    <a:p>
                      <a:r>
                        <a:rPr lang="en-US" dirty="0" smtClean="0"/>
                        <a:t>3</a:t>
                      </a:r>
                      <a:endParaRPr lang="ru-RU" dirty="0"/>
                    </a:p>
                  </a:txBody>
                  <a:tcPr/>
                </a:tc>
              </a:tr>
              <a:tr h="370840">
                <a:tc>
                  <a:txBody>
                    <a:bodyPr/>
                    <a:lstStyle/>
                    <a:p>
                      <a:r>
                        <a:rPr lang="en-US" dirty="0" smtClean="0">
                          <a:solidFill>
                            <a:srgbClr val="FF0000"/>
                          </a:solidFill>
                        </a:rPr>
                        <a:t>5</a:t>
                      </a:r>
                      <a:endParaRPr lang="ru-RU" dirty="0">
                        <a:solidFill>
                          <a:srgbClr val="FF0000"/>
                        </a:solidFill>
                      </a:endParaRPr>
                    </a:p>
                  </a:txBody>
                  <a:tcPr/>
                </a:tc>
                <a:tc>
                  <a:txBody>
                    <a:bodyPr/>
                    <a:lstStyle/>
                    <a:p>
                      <a:endParaRPr lang="ru-RU" dirty="0"/>
                    </a:p>
                  </a:txBody>
                  <a:tcPr/>
                </a:tc>
                <a:tc>
                  <a:txBody>
                    <a:bodyPr/>
                    <a:lstStyle/>
                    <a:p>
                      <a:r>
                        <a:rPr lang="en-US" dirty="0" smtClean="0"/>
                        <a:t>1</a:t>
                      </a:r>
                      <a:endParaRPr lang="ru-RU" dirty="0"/>
                    </a:p>
                  </a:txBody>
                  <a:tcPr/>
                </a:tc>
                <a:tc>
                  <a:txBody>
                    <a:bodyPr/>
                    <a:lstStyle/>
                    <a:p>
                      <a:endParaRPr lang="ru-RU" dirty="0"/>
                    </a:p>
                  </a:txBody>
                  <a:tcPr/>
                </a:tc>
                <a:tc>
                  <a:txBody>
                    <a:bodyPr/>
                    <a:lstStyle/>
                    <a:p>
                      <a:r>
                        <a:rPr lang="en-US" dirty="0" smtClean="0"/>
                        <a:t>2</a:t>
                      </a:r>
                      <a:endParaRPr lang="ru-RU" dirty="0"/>
                    </a:p>
                  </a:txBody>
                  <a:tcPr/>
                </a:tc>
                <a:tc>
                  <a:txBody>
                    <a:bodyPr/>
                    <a:lstStyle/>
                    <a:p>
                      <a:endParaRPr lang="ru-RU" dirty="0"/>
                    </a:p>
                  </a:txBody>
                  <a:tcPr/>
                </a:tc>
                <a:tc>
                  <a:txBody>
                    <a:bodyPr/>
                    <a:lstStyle/>
                    <a:p>
                      <a:r>
                        <a:rPr lang="en-US" dirty="0" smtClean="0"/>
                        <a:t>4</a:t>
                      </a:r>
                      <a:endParaRPr lang="ru-RU" dirty="0"/>
                    </a:p>
                  </a:txBody>
                  <a:tcPr/>
                </a:tc>
                <a:tc>
                  <a:txBody>
                    <a:bodyPr/>
                    <a:lstStyle/>
                    <a:p>
                      <a:endParaRPr lang="ru-RU"/>
                    </a:p>
                  </a:txBody>
                  <a:tcPr/>
                </a:tc>
                <a:tc>
                  <a:txBody>
                    <a:bodyPr/>
                    <a:lstStyle/>
                    <a:p>
                      <a:r>
                        <a:rPr lang="en-US" dirty="0" smtClean="0"/>
                        <a:t>3</a:t>
                      </a:r>
                      <a:endParaRPr lang="ru-RU" dirty="0"/>
                    </a:p>
                  </a:txBody>
                  <a:tcPr/>
                </a:tc>
              </a:tr>
              <a:tr h="370840">
                <a:tc>
                  <a:txBody>
                    <a:bodyPr/>
                    <a:lstStyle/>
                    <a:p>
                      <a:r>
                        <a:rPr lang="en-US" dirty="0" smtClean="0"/>
                        <a:t>5</a:t>
                      </a:r>
                      <a:endParaRPr lang="ru-RU" dirty="0"/>
                    </a:p>
                  </a:txBody>
                  <a:tcPr/>
                </a:tc>
                <a:tc>
                  <a:txBody>
                    <a:bodyPr/>
                    <a:lstStyle/>
                    <a:p>
                      <a:endParaRPr lang="ru-RU"/>
                    </a:p>
                  </a:txBody>
                  <a:tcPr/>
                </a:tc>
                <a:tc>
                  <a:txBody>
                    <a:bodyPr/>
                    <a:lstStyle/>
                    <a:p>
                      <a:r>
                        <a:rPr lang="en-US" dirty="0" smtClean="0"/>
                        <a:t>1</a:t>
                      </a:r>
                      <a:endParaRPr lang="ru-RU" dirty="0"/>
                    </a:p>
                  </a:txBody>
                  <a:tcPr/>
                </a:tc>
                <a:tc>
                  <a:txBody>
                    <a:bodyPr/>
                    <a:lstStyle/>
                    <a:p>
                      <a:endParaRPr lang="ru-RU"/>
                    </a:p>
                  </a:txBody>
                  <a:tcPr/>
                </a:tc>
                <a:tc>
                  <a:txBody>
                    <a:bodyPr/>
                    <a:lstStyle/>
                    <a:p>
                      <a:r>
                        <a:rPr lang="en-US" dirty="0" smtClean="0"/>
                        <a:t>2</a:t>
                      </a:r>
                      <a:endParaRPr lang="ru-RU" dirty="0"/>
                    </a:p>
                  </a:txBody>
                  <a:tcPr/>
                </a:tc>
                <a:tc>
                  <a:txBody>
                    <a:bodyPr/>
                    <a:lstStyle/>
                    <a:p>
                      <a:r>
                        <a:rPr lang="en-US" dirty="0" smtClean="0">
                          <a:solidFill>
                            <a:srgbClr val="FF0000"/>
                          </a:solidFill>
                        </a:rPr>
                        <a:t>6</a:t>
                      </a:r>
                      <a:endParaRPr lang="ru-RU" dirty="0">
                        <a:solidFill>
                          <a:srgbClr val="FF0000"/>
                        </a:solidFill>
                      </a:endParaRPr>
                    </a:p>
                  </a:txBody>
                  <a:tcPr/>
                </a:tc>
                <a:tc>
                  <a:txBody>
                    <a:bodyPr/>
                    <a:lstStyle/>
                    <a:p>
                      <a:r>
                        <a:rPr lang="en-US" dirty="0" smtClean="0"/>
                        <a:t>4</a:t>
                      </a:r>
                      <a:endParaRPr lang="ru-RU" dirty="0"/>
                    </a:p>
                  </a:txBody>
                  <a:tcPr/>
                </a:tc>
                <a:tc>
                  <a:txBody>
                    <a:bodyPr/>
                    <a:lstStyle/>
                    <a:p>
                      <a:endParaRPr lang="ru-RU"/>
                    </a:p>
                  </a:txBody>
                  <a:tcPr/>
                </a:tc>
                <a:tc>
                  <a:txBody>
                    <a:bodyPr/>
                    <a:lstStyle/>
                    <a:p>
                      <a:r>
                        <a:rPr lang="en-US" dirty="0" smtClean="0"/>
                        <a:t>3</a:t>
                      </a:r>
                      <a:endParaRPr lang="ru-RU" dirty="0"/>
                    </a:p>
                  </a:txBody>
                  <a:tcPr/>
                </a:tc>
              </a:tr>
              <a:tr h="370840">
                <a:tc>
                  <a:txBody>
                    <a:bodyPr/>
                    <a:lstStyle/>
                    <a:p>
                      <a:r>
                        <a:rPr lang="en-US" dirty="0" smtClean="0"/>
                        <a:t>5</a:t>
                      </a:r>
                      <a:endParaRPr lang="ru-RU" dirty="0"/>
                    </a:p>
                  </a:txBody>
                  <a:tcPr/>
                </a:tc>
                <a:tc>
                  <a:txBody>
                    <a:bodyPr/>
                    <a:lstStyle/>
                    <a:p>
                      <a:endParaRPr lang="ru-RU" dirty="0"/>
                    </a:p>
                  </a:txBody>
                  <a:tcPr/>
                </a:tc>
                <a:tc>
                  <a:txBody>
                    <a:bodyPr/>
                    <a:lstStyle/>
                    <a:p>
                      <a:r>
                        <a:rPr lang="en-US" dirty="0" smtClean="0"/>
                        <a:t>1</a:t>
                      </a:r>
                      <a:endParaRPr lang="ru-RU" dirty="0"/>
                    </a:p>
                  </a:txBody>
                  <a:tcPr/>
                </a:tc>
                <a:tc>
                  <a:txBody>
                    <a:bodyPr/>
                    <a:lstStyle/>
                    <a:p>
                      <a:endParaRPr lang="ru-RU" dirty="0"/>
                    </a:p>
                  </a:txBody>
                  <a:tcPr/>
                </a:tc>
                <a:tc>
                  <a:txBody>
                    <a:bodyPr/>
                    <a:lstStyle/>
                    <a:p>
                      <a:r>
                        <a:rPr lang="en-US" dirty="0" smtClean="0"/>
                        <a:t>2</a:t>
                      </a:r>
                      <a:endParaRPr lang="ru-RU" dirty="0"/>
                    </a:p>
                  </a:txBody>
                  <a:tcPr/>
                </a:tc>
                <a:tc>
                  <a:txBody>
                    <a:bodyPr/>
                    <a:lstStyle/>
                    <a:p>
                      <a:r>
                        <a:rPr lang="en-US" dirty="0" smtClean="0"/>
                        <a:t>6</a:t>
                      </a:r>
                      <a:endParaRPr lang="ru-RU" dirty="0"/>
                    </a:p>
                  </a:txBody>
                  <a:tcPr/>
                </a:tc>
                <a:tc>
                  <a:txBody>
                    <a:bodyPr/>
                    <a:lstStyle/>
                    <a:p>
                      <a:r>
                        <a:rPr lang="en-US" dirty="0" smtClean="0"/>
                        <a:t>4</a:t>
                      </a:r>
                      <a:endParaRPr lang="ru-RU" dirty="0"/>
                    </a:p>
                  </a:txBody>
                  <a:tcPr/>
                </a:tc>
                <a:tc>
                  <a:txBody>
                    <a:bodyPr/>
                    <a:lstStyle/>
                    <a:p>
                      <a:r>
                        <a:rPr lang="en-US" dirty="0" smtClean="0">
                          <a:solidFill>
                            <a:srgbClr val="FF0000"/>
                          </a:solidFill>
                        </a:rPr>
                        <a:t>7</a:t>
                      </a:r>
                      <a:endParaRPr lang="ru-RU" dirty="0">
                        <a:solidFill>
                          <a:srgbClr val="FF0000"/>
                        </a:solidFill>
                      </a:endParaRPr>
                    </a:p>
                  </a:txBody>
                  <a:tcPr/>
                </a:tc>
                <a:tc>
                  <a:txBody>
                    <a:bodyPr/>
                    <a:lstStyle/>
                    <a:p>
                      <a:r>
                        <a:rPr lang="en-US" dirty="0" smtClean="0"/>
                        <a:t>3</a:t>
                      </a:r>
                      <a:endParaRPr lang="ru-RU" dirty="0"/>
                    </a:p>
                  </a:txBody>
                  <a:tcPr/>
                </a:tc>
              </a:tr>
              <a:tr h="370840">
                <a:tc>
                  <a:txBody>
                    <a:bodyPr/>
                    <a:lstStyle/>
                    <a:p>
                      <a:r>
                        <a:rPr lang="en-US" dirty="0" smtClean="0"/>
                        <a:t>5</a:t>
                      </a:r>
                      <a:endParaRPr lang="ru-RU" dirty="0"/>
                    </a:p>
                  </a:txBody>
                  <a:tcPr/>
                </a:tc>
                <a:tc>
                  <a:txBody>
                    <a:bodyPr/>
                    <a:lstStyle/>
                    <a:p>
                      <a:endParaRPr lang="ru-RU" dirty="0"/>
                    </a:p>
                  </a:txBody>
                  <a:tcPr/>
                </a:tc>
                <a:tc>
                  <a:txBody>
                    <a:bodyPr/>
                    <a:lstStyle/>
                    <a:p>
                      <a:r>
                        <a:rPr lang="en-US" dirty="0" smtClean="0"/>
                        <a:t>1</a:t>
                      </a:r>
                      <a:endParaRPr lang="ru-RU" dirty="0"/>
                    </a:p>
                  </a:txBody>
                  <a:tcPr/>
                </a:tc>
                <a:tc>
                  <a:txBody>
                    <a:bodyPr/>
                    <a:lstStyle/>
                    <a:p>
                      <a:r>
                        <a:rPr lang="en-US" dirty="0" smtClean="0">
                          <a:solidFill>
                            <a:srgbClr val="FF0000"/>
                          </a:solidFill>
                        </a:rPr>
                        <a:t>8</a:t>
                      </a:r>
                      <a:endParaRPr lang="ru-RU" dirty="0">
                        <a:solidFill>
                          <a:srgbClr val="FF0000"/>
                        </a:solidFill>
                      </a:endParaRPr>
                    </a:p>
                  </a:txBody>
                  <a:tcPr/>
                </a:tc>
                <a:tc>
                  <a:txBody>
                    <a:bodyPr/>
                    <a:lstStyle/>
                    <a:p>
                      <a:r>
                        <a:rPr lang="en-US" dirty="0" smtClean="0"/>
                        <a:t>2</a:t>
                      </a:r>
                      <a:endParaRPr lang="ru-RU" dirty="0"/>
                    </a:p>
                  </a:txBody>
                  <a:tcPr/>
                </a:tc>
                <a:tc>
                  <a:txBody>
                    <a:bodyPr/>
                    <a:lstStyle/>
                    <a:p>
                      <a:r>
                        <a:rPr lang="en-US" dirty="0" smtClean="0"/>
                        <a:t>6</a:t>
                      </a:r>
                      <a:endParaRPr lang="ru-RU" dirty="0"/>
                    </a:p>
                  </a:txBody>
                  <a:tcPr/>
                </a:tc>
                <a:tc>
                  <a:txBody>
                    <a:bodyPr/>
                    <a:lstStyle/>
                    <a:p>
                      <a:r>
                        <a:rPr lang="en-US" dirty="0" smtClean="0"/>
                        <a:t>4</a:t>
                      </a:r>
                      <a:endParaRPr lang="ru-RU" dirty="0"/>
                    </a:p>
                  </a:txBody>
                  <a:tcPr/>
                </a:tc>
                <a:tc>
                  <a:txBody>
                    <a:bodyPr/>
                    <a:lstStyle/>
                    <a:p>
                      <a:r>
                        <a:rPr lang="en-US" dirty="0" smtClean="0"/>
                        <a:t>7</a:t>
                      </a:r>
                      <a:endParaRPr lang="ru-RU" dirty="0"/>
                    </a:p>
                  </a:txBody>
                  <a:tcPr/>
                </a:tc>
                <a:tc>
                  <a:txBody>
                    <a:bodyPr/>
                    <a:lstStyle/>
                    <a:p>
                      <a:r>
                        <a:rPr lang="en-US" dirty="0" smtClean="0"/>
                        <a:t>3</a:t>
                      </a:r>
                      <a:endParaRPr lang="ru-RU" dirty="0"/>
                    </a:p>
                  </a:txBody>
                  <a:tcPr/>
                </a:tc>
              </a:tr>
              <a:tr h="370840">
                <a:tc>
                  <a:txBody>
                    <a:bodyPr/>
                    <a:lstStyle/>
                    <a:p>
                      <a:r>
                        <a:rPr lang="en-US" dirty="0" smtClean="0"/>
                        <a:t>5</a:t>
                      </a:r>
                      <a:endParaRPr lang="ru-RU" dirty="0"/>
                    </a:p>
                  </a:txBody>
                  <a:tcPr/>
                </a:tc>
                <a:tc>
                  <a:txBody>
                    <a:bodyPr/>
                    <a:lstStyle/>
                    <a:p>
                      <a:r>
                        <a:rPr lang="en-US" dirty="0" smtClean="0">
                          <a:solidFill>
                            <a:srgbClr val="FF0000"/>
                          </a:solidFill>
                        </a:rPr>
                        <a:t>9</a:t>
                      </a:r>
                      <a:endParaRPr lang="ru-RU" dirty="0">
                        <a:solidFill>
                          <a:srgbClr val="FF0000"/>
                        </a:solidFill>
                      </a:endParaRPr>
                    </a:p>
                  </a:txBody>
                  <a:tcPr/>
                </a:tc>
                <a:tc>
                  <a:txBody>
                    <a:bodyPr/>
                    <a:lstStyle/>
                    <a:p>
                      <a:r>
                        <a:rPr lang="en-US" dirty="0" smtClean="0"/>
                        <a:t>1</a:t>
                      </a:r>
                      <a:endParaRPr lang="ru-RU" dirty="0"/>
                    </a:p>
                  </a:txBody>
                  <a:tcPr/>
                </a:tc>
                <a:tc>
                  <a:txBody>
                    <a:bodyPr/>
                    <a:lstStyle/>
                    <a:p>
                      <a:r>
                        <a:rPr lang="en-US" dirty="0" smtClean="0">
                          <a:solidFill>
                            <a:schemeClr val="tx1"/>
                          </a:solidFill>
                        </a:rPr>
                        <a:t>8</a:t>
                      </a:r>
                      <a:endParaRPr lang="ru-RU" dirty="0">
                        <a:solidFill>
                          <a:schemeClr val="tx1"/>
                        </a:solidFill>
                      </a:endParaRPr>
                    </a:p>
                  </a:txBody>
                  <a:tcPr/>
                </a:tc>
                <a:tc>
                  <a:txBody>
                    <a:bodyPr/>
                    <a:lstStyle/>
                    <a:p>
                      <a:r>
                        <a:rPr lang="en-US" dirty="0" smtClean="0"/>
                        <a:t>2</a:t>
                      </a:r>
                      <a:endParaRPr lang="ru-RU" dirty="0"/>
                    </a:p>
                  </a:txBody>
                  <a:tcPr/>
                </a:tc>
                <a:tc>
                  <a:txBody>
                    <a:bodyPr/>
                    <a:lstStyle/>
                    <a:p>
                      <a:r>
                        <a:rPr lang="en-US" dirty="0" smtClean="0"/>
                        <a:t>6</a:t>
                      </a:r>
                      <a:endParaRPr lang="ru-RU" dirty="0"/>
                    </a:p>
                  </a:txBody>
                  <a:tcPr/>
                </a:tc>
                <a:tc>
                  <a:txBody>
                    <a:bodyPr/>
                    <a:lstStyle/>
                    <a:p>
                      <a:r>
                        <a:rPr lang="en-US" dirty="0" smtClean="0"/>
                        <a:t>4</a:t>
                      </a:r>
                      <a:endParaRPr lang="ru-RU" dirty="0"/>
                    </a:p>
                  </a:txBody>
                  <a:tcPr/>
                </a:tc>
                <a:tc>
                  <a:txBody>
                    <a:bodyPr/>
                    <a:lstStyle/>
                    <a:p>
                      <a:r>
                        <a:rPr lang="en-US" dirty="0" smtClean="0"/>
                        <a:t>7</a:t>
                      </a:r>
                      <a:endParaRPr lang="ru-RU" dirty="0"/>
                    </a:p>
                  </a:txBody>
                  <a:tcPr/>
                </a:tc>
                <a:tc>
                  <a:txBody>
                    <a:bodyPr/>
                    <a:lstStyle/>
                    <a:p>
                      <a:r>
                        <a:rPr lang="en-US" dirty="0" smtClean="0"/>
                        <a:t>3</a:t>
                      </a:r>
                      <a:endParaRPr lang="ru-RU" dirty="0"/>
                    </a:p>
                  </a:txBody>
                  <a:tcPr/>
                </a:tc>
              </a:tr>
            </a:tbl>
          </a:graphicData>
        </a:graphic>
      </p:graphicFrame>
    </p:spTree>
    <p:extLst>
      <p:ext uri="{BB962C8B-B14F-4D97-AF65-F5344CB8AC3E}">
        <p14:creationId xmlns:p14="http://schemas.microsoft.com/office/powerpoint/2010/main" val="23016568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2074286"/>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a:solidFill>
                  <a:srgbClr val="333333"/>
                </a:solidFill>
                <a:latin typeface="Times New Roman" panose="02020603050405020304" pitchFamily="18" charset="0"/>
                <a:cs typeface="Times New Roman" panose="02020603050405020304" pitchFamily="18" charset="0"/>
              </a:rPr>
              <a:t>Порождение перестановок через </a:t>
            </a:r>
            <a:r>
              <a:rPr lang="ru-RU" sz="2400" b="1" dirty="0" smtClean="0">
                <a:solidFill>
                  <a:srgbClr val="333333"/>
                </a:solidFill>
                <a:latin typeface="Times New Roman" panose="02020603050405020304" pitchFamily="18" charset="0"/>
                <a:cs typeface="Times New Roman" panose="02020603050405020304" pitchFamily="18" charset="0"/>
              </a:rPr>
              <a:t>таблицу инверсий</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Остается сгенерировать таблицу инверсий или вектор инверсии. Для этого представим таблицу инверсий как </a:t>
            </a:r>
            <a:r>
              <a:rPr lang="en-US" sz="2200" dirty="0" smtClean="0">
                <a:latin typeface="Times New Roman" panose="02020603050405020304" pitchFamily="18" charset="0"/>
                <a:cs typeface="Times New Roman" panose="02020603050405020304" pitchFamily="18" charset="0"/>
              </a:rPr>
              <a:t>N</a:t>
            </a:r>
            <a:r>
              <a:rPr lang="ru-RU" sz="2200" dirty="0" smtClean="0">
                <a:latin typeface="Times New Roman" panose="02020603050405020304" pitchFamily="18" charset="0"/>
                <a:cs typeface="Times New Roman" panose="02020603050405020304" pitchFamily="18" charset="0"/>
              </a:rPr>
              <a:t>-</a:t>
            </a:r>
            <a:r>
              <a:rPr lang="ru-RU" sz="2200" dirty="0" err="1" smtClean="0">
                <a:latin typeface="Times New Roman" panose="02020603050405020304" pitchFamily="18" charset="0"/>
                <a:cs typeface="Times New Roman" panose="02020603050405020304" pitchFamily="18" charset="0"/>
              </a:rPr>
              <a:t>значное</a:t>
            </a:r>
            <a:r>
              <a:rPr lang="ru-RU" sz="2200" dirty="0" smtClean="0">
                <a:latin typeface="Times New Roman" panose="02020603050405020304" pitchFamily="18" charset="0"/>
                <a:cs typeface="Times New Roman" panose="02020603050405020304" pitchFamily="18" charset="0"/>
              </a:rPr>
              <a:t> количество цифр, при этом значение, которое  можно использовать в </a:t>
            </a:r>
            <a:r>
              <a:rPr lang="en-US" sz="2200" dirty="0" err="1" smtClean="0">
                <a:latin typeface="Times New Roman" panose="02020603050405020304" pitchFamily="18" charset="0"/>
                <a:cs typeface="Times New Roman" panose="02020603050405020304" pitchFamily="18" charset="0"/>
              </a:rPr>
              <a:t>i</a:t>
            </a:r>
            <a:r>
              <a:rPr lang="en-US" sz="2200" dirty="0" smtClean="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 разряде (с конца, начиная с 0) равно </a:t>
            </a:r>
            <a:r>
              <a:rPr lang="en-US" sz="2200" dirty="0" err="1" smtClean="0">
                <a:latin typeface="Times New Roman" panose="02020603050405020304" pitchFamily="18" charset="0"/>
                <a:cs typeface="Times New Roman" panose="02020603050405020304" pitchFamily="18" charset="0"/>
              </a:rPr>
              <a:t>i</a:t>
            </a:r>
            <a:r>
              <a:rPr lang="ru-RU" sz="2200" dirty="0" smtClean="0">
                <a:latin typeface="Times New Roman" panose="02020603050405020304" pitchFamily="18" charset="0"/>
                <a:cs typeface="Times New Roman" panose="02020603050405020304" pitchFamily="18" charset="0"/>
              </a:rPr>
              <a:t>. Для этого можно взять минимальную таблицу и последовательно прибавлять 1 пользуясь алгоритмом сложения с переносом для многоразрядных чисел.</a:t>
            </a:r>
            <a:endParaRPr lang="en-US" sz="2400" b="1" dirty="0" smtClean="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10</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5" name="Таблица 4"/>
          <p:cNvGraphicFramePr>
            <a:graphicFrameLocks noGrp="1"/>
          </p:cNvGraphicFramePr>
          <p:nvPr>
            <p:extLst/>
          </p:nvPr>
        </p:nvGraphicFramePr>
        <p:xfrm>
          <a:off x="1219200" y="2971800"/>
          <a:ext cx="2936836" cy="3708400"/>
        </p:xfrm>
        <a:graphic>
          <a:graphicData uri="http://schemas.openxmlformats.org/drawingml/2006/table">
            <a:tbl>
              <a:tblPr firstRow="1" bandRow="1">
                <a:tableStyleId>{5C22544A-7EE6-4342-B048-85BDC9FD1C3A}</a:tableStyleId>
              </a:tblPr>
              <a:tblGrid>
                <a:gridCol w="734209"/>
                <a:gridCol w="734209"/>
                <a:gridCol w="734209"/>
                <a:gridCol w="734209"/>
              </a:tblGrid>
              <a:tr h="370840">
                <a:tc>
                  <a:txBody>
                    <a:bodyPr/>
                    <a:lstStyle/>
                    <a:p>
                      <a:r>
                        <a:rPr lang="ru-RU" dirty="0" smtClean="0"/>
                        <a:t>3</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2</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0</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bl>
          </a:graphicData>
        </a:graphic>
      </p:graphicFrame>
      <p:graphicFrame>
        <p:nvGraphicFramePr>
          <p:cNvPr id="7" name="Таблица 6"/>
          <p:cNvGraphicFramePr>
            <a:graphicFrameLocks noGrp="1"/>
          </p:cNvGraphicFramePr>
          <p:nvPr>
            <p:extLst/>
          </p:nvPr>
        </p:nvGraphicFramePr>
        <p:xfrm>
          <a:off x="4953000" y="2971800"/>
          <a:ext cx="2743200" cy="3708400"/>
        </p:xfrm>
        <a:graphic>
          <a:graphicData uri="http://schemas.openxmlformats.org/drawingml/2006/table">
            <a:tbl>
              <a:tblPr firstRow="1" bandRow="1">
                <a:tableStyleId>{5C22544A-7EE6-4342-B048-85BDC9FD1C3A}</a:tableStyleId>
              </a:tblPr>
              <a:tblGrid>
                <a:gridCol w="685800"/>
                <a:gridCol w="685800"/>
                <a:gridCol w="685800"/>
                <a:gridCol w="685800"/>
              </a:tblGrid>
              <a:tr h="370840">
                <a:tc>
                  <a:txBody>
                    <a:bodyPr/>
                    <a:lstStyle/>
                    <a:p>
                      <a:r>
                        <a:rPr lang="ru-RU" dirty="0" smtClean="0"/>
                        <a:t>3</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1</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2</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2</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2</a:t>
                      </a:r>
                      <a:endParaRPr lang="ru-RU" dirty="0"/>
                    </a:p>
                  </a:txBody>
                  <a:tcPr/>
                </a:tc>
                <a:tc>
                  <a:txBody>
                    <a:bodyPr/>
                    <a:lstStyle/>
                    <a:p>
                      <a:r>
                        <a:rPr lang="ru-RU" dirty="0" smtClean="0"/>
                        <a:t>2</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2</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bl>
          </a:graphicData>
        </a:graphic>
      </p:graphicFrame>
      <p:graphicFrame>
        <p:nvGraphicFramePr>
          <p:cNvPr id="8" name="Таблица 7"/>
          <p:cNvGraphicFramePr>
            <a:graphicFrameLocks noGrp="1"/>
          </p:cNvGraphicFramePr>
          <p:nvPr>
            <p:extLst/>
          </p:nvPr>
        </p:nvGraphicFramePr>
        <p:xfrm>
          <a:off x="8458200" y="2971800"/>
          <a:ext cx="2743200" cy="3708400"/>
        </p:xfrm>
        <a:graphic>
          <a:graphicData uri="http://schemas.openxmlformats.org/drawingml/2006/table">
            <a:tbl>
              <a:tblPr firstRow="1" bandRow="1">
                <a:tableStyleId>{5C22544A-7EE6-4342-B048-85BDC9FD1C3A}</a:tableStyleId>
              </a:tblPr>
              <a:tblGrid>
                <a:gridCol w="685800"/>
                <a:gridCol w="685800"/>
                <a:gridCol w="685800"/>
                <a:gridCol w="685800"/>
              </a:tblGrid>
              <a:tr h="370840">
                <a:tc>
                  <a:txBody>
                    <a:bodyPr/>
                    <a:lstStyle/>
                    <a:p>
                      <a:r>
                        <a:rPr lang="ru-RU" dirty="0" smtClean="0"/>
                        <a:t>3</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3</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3</a:t>
                      </a:r>
                      <a:endParaRPr lang="ru-RU" dirty="0"/>
                    </a:p>
                  </a:txBody>
                  <a:tcPr/>
                </a:tc>
                <a:tc>
                  <a:txBody>
                    <a:bodyPr/>
                    <a:lstStyle/>
                    <a:p>
                      <a:r>
                        <a:rPr lang="ru-RU" dirty="0" smtClean="0"/>
                        <a:t>0</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3</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3</a:t>
                      </a:r>
                      <a:endParaRPr lang="ru-RU" dirty="0"/>
                    </a:p>
                  </a:txBody>
                  <a:tcPr/>
                </a:tc>
                <a:tc>
                  <a:txBody>
                    <a:bodyPr/>
                    <a:lstStyle/>
                    <a:p>
                      <a:r>
                        <a:rPr lang="ru-RU" dirty="0" smtClean="0"/>
                        <a:t>1</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t>3</a:t>
                      </a:r>
                      <a:endParaRPr lang="ru-RU" dirty="0"/>
                    </a:p>
                  </a:txBody>
                  <a:tcPr/>
                </a:tc>
                <a:tc>
                  <a:txBody>
                    <a:bodyPr/>
                    <a:lstStyle/>
                    <a:p>
                      <a:r>
                        <a:rPr lang="ru-RU" dirty="0" smtClean="0"/>
                        <a:t>2</a:t>
                      </a:r>
                      <a:endParaRPr lang="ru-RU" dirty="0"/>
                    </a:p>
                  </a:txBody>
                  <a:tcPr/>
                </a:tc>
                <a:tc>
                  <a:txBody>
                    <a:bodyPr/>
                    <a:lstStyle/>
                    <a:p>
                      <a:r>
                        <a:rPr lang="ru-RU" dirty="0" smtClean="0"/>
                        <a:t>0</a:t>
                      </a:r>
                      <a:endParaRPr lang="ru-RU" dirty="0"/>
                    </a:p>
                  </a:txBody>
                  <a:tcPr/>
                </a:tc>
                <a:tc>
                  <a:txBody>
                    <a:bodyPr/>
                    <a:lstStyle/>
                    <a:p>
                      <a:r>
                        <a:rPr lang="ru-RU" dirty="0" smtClean="0"/>
                        <a:t>0</a:t>
                      </a:r>
                      <a:endParaRPr lang="ru-RU" dirty="0"/>
                    </a:p>
                  </a:txBody>
                  <a:tcPr/>
                </a:tc>
              </a:tr>
              <a:tr h="370840">
                <a:tc>
                  <a:txBody>
                    <a:bodyPr/>
                    <a:lstStyle/>
                    <a:p>
                      <a:r>
                        <a:rPr lang="ru-RU" dirty="0" smtClean="0"/>
                        <a:t>3</a:t>
                      </a:r>
                      <a:endParaRPr lang="ru-RU" dirty="0"/>
                    </a:p>
                  </a:txBody>
                  <a:tcPr/>
                </a:tc>
                <a:tc>
                  <a:txBody>
                    <a:bodyPr/>
                    <a:lstStyle/>
                    <a:p>
                      <a:r>
                        <a:rPr lang="ru-RU" dirty="0" smtClean="0"/>
                        <a:t>2</a:t>
                      </a:r>
                      <a:endParaRPr lang="ru-RU" dirty="0"/>
                    </a:p>
                  </a:txBody>
                  <a:tcPr/>
                </a:tc>
                <a:tc>
                  <a:txBody>
                    <a:bodyPr/>
                    <a:lstStyle/>
                    <a:p>
                      <a:r>
                        <a:rPr lang="ru-RU" dirty="0" smtClean="0"/>
                        <a:t>1</a:t>
                      </a:r>
                      <a:endParaRPr lang="ru-RU" dirty="0"/>
                    </a:p>
                  </a:txBody>
                  <a:tcPr/>
                </a:tc>
                <a:tc>
                  <a:txBody>
                    <a:bodyPr/>
                    <a:lstStyle/>
                    <a:p>
                      <a:r>
                        <a:rPr lang="ru-RU" dirty="0" smtClean="0"/>
                        <a:t>0</a:t>
                      </a:r>
                      <a:endParaRPr lang="ru-RU" dirty="0"/>
                    </a:p>
                  </a:txBody>
                  <a:tcPr/>
                </a:tc>
              </a:tr>
              <a:tr h="370840">
                <a:tc>
                  <a:txBody>
                    <a:bodyPr/>
                    <a:lstStyle/>
                    <a:p>
                      <a:r>
                        <a:rPr lang="ru-RU" dirty="0" smtClean="0">
                          <a:solidFill>
                            <a:srgbClr val="FF0000"/>
                          </a:solidFill>
                        </a:rPr>
                        <a:t>0</a:t>
                      </a:r>
                      <a:endParaRPr lang="ru-RU" dirty="0">
                        <a:solidFill>
                          <a:srgbClr val="FF0000"/>
                        </a:solidFill>
                      </a:endParaRPr>
                    </a:p>
                  </a:txBody>
                  <a:tcPr/>
                </a:tc>
                <a:tc>
                  <a:txBody>
                    <a:bodyPr/>
                    <a:lstStyle/>
                    <a:p>
                      <a:r>
                        <a:rPr lang="ru-RU" dirty="0" smtClean="0">
                          <a:solidFill>
                            <a:srgbClr val="FF0000"/>
                          </a:solidFill>
                        </a:rPr>
                        <a:t>0</a:t>
                      </a:r>
                      <a:endParaRPr lang="ru-RU" dirty="0">
                        <a:solidFill>
                          <a:srgbClr val="FF0000"/>
                        </a:solidFill>
                      </a:endParaRPr>
                    </a:p>
                  </a:txBody>
                  <a:tcPr/>
                </a:tc>
                <a:tc>
                  <a:txBody>
                    <a:bodyPr/>
                    <a:lstStyle/>
                    <a:p>
                      <a:r>
                        <a:rPr lang="ru-RU" dirty="0" smtClean="0">
                          <a:solidFill>
                            <a:srgbClr val="FF0000"/>
                          </a:solidFill>
                        </a:rPr>
                        <a:t>0</a:t>
                      </a:r>
                      <a:endParaRPr lang="ru-RU" dirty="0">
                        <a:solidFill>
                          <a:srgbClr val="FF0000"/>
                        </a:solidFill>
                      </a:endParaRPr>
                    </a:p>
                  </a:txBody>
                  <a:tcPr/>
                </a:tc>
                <a:tc>
                  <a:txBody>
                    <a:bodyPr/>
                    <a:lstStyle/>
                    <a:p>
                      <a:r>
                        <a:rPr lang="ru-RU" dirty="0" smtClean="0">
                          <a:solidFill>
                            <a:srgbClr val="FF0000"/>
                          </a:solidFill>
                        </a:rPr>
                        <a:t>0</a:t>
                      </a:r>
                      <a:endParaRPr lang="ru-RU" dirty="0">
                        <a:solidFill>
                          <a:srgbClr val="FF0000"/>
                        </a:solidFill>
                      </a:endParaRPr>
                    </a:p>
                  </a:txBody>
                  <a:tcPr/>
                </a:tc>
              </a:tr>
              <a:tr h="370840">
                <a:tc>
                  <a:txBody>
                    <a:bodyPr/>
                    <a:lstStyle/>
                    <a:p>
                      <a:endParaRPr lang="ru-RU" dirty="0"/>
                    </a:p>
                  </a:txBody>
                  <a:tcPr/>
                </a:tc>
                <a:tc>
                  <a:txBody>
                    <a:bodyPr/>
                    <a:lstStyle/>
                    <a:p>
                      <a:endParaRPr lang="ru-RU" dirty="0"/>
                    </a:p>
                  </a:txBody>
                  <a:tcPr/>
                </a:tc>
                <a:tc>
                  <a:txBody>
                    <a:bodyPr/>
                    <a:lstStyle/>
                    <a:p>
                      <a:endParaRPr lang="ru-RU" dirty="0"/>
                    </a:p>
                  </a:txBody>
                  <a:tcPr/>
                </a:tc>
                <a:tc>
                  <a:txBody>
                    <a:bodyPr/>
                    <a:lstStyle/>
                    <a:p>
                      <a:endParaRPr lang="ru-RU" dirty="0"/>
                    </a:p>
                  </a:txBody>
                  <a:tcPr/>
                </a:tc>
              </a:tr>
              <a:tr h="370840">
                <a:tc>
                  <a:txBody>
                    <a:bodyPr/>
                    <a:lstStyle/>
                    <a:p>
                      <a:endParaRPr lang="ru-RU" dirty="0"/>
                    </a:p>
                  </a:txBody>
                  <a:tcPr/>
                </a:tc>
                <a:tc>
                  <a:txBody>
                    <a:bodyPr/>
                    <a:lstStyle/>
                    <a:p>
                      <a:endParaRPr lang="ru-RU" dirty="0"/>
                    </a:p>
                  </a:txBody>
                  <a:tcPr/>
                </a:tc>
                <a:tc>
                  <a:txBody>
                    <a:bodyPr/>
                    <a:lstStyle/>
                    <a:p>
                      <a:endParaRPr lang="ru-RU" dirty="0"/>
                    </a:p>
                  </a:txBody>
                  <a:tcPr/>
                </a:tc>
                <a:tc>
                  <a:txBody>
                    <a:bodyPr/>
                    <a:lstStyle/>
                    <a:p>
                      <a:endParaRPr lang="ru-RU" dirty="0"/>
                    </a:p>
                  </a:txBody>
                  <a:tcPr/>
                </a:tc>
              </a:tr>
            </a:tbl>
          </a:graphicData>
        </a:graphic>
      </p:graphicFrame>
    </p:spTree>
    <p:extLst>
      <p:ext uri="{BB962C8B-B14F-4D97-AF65-F5344CB8AC3E}">
        <p14:creationId xmlns:p14="http://schemas.microsoft.com/office/powerpoint/2010/main" val="30549171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459828"/>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Генерация двоичных векторов и  подмножеств</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Пусть </a:t>
            </a:r>
            <a:r>
              <a:rPr lang="ru-RU" sz="2200" dirty="0">
                <a:latin typeface="Times New Roman" panose="02020603050405020304" pitchFamily="18" charset="0"/>
                <a:cs typeface="Times New Roman" panose="02020603050405020304" pitchFamily="18" charset="0"/>
              </a:rPr>
              <a:t>P(</a:t>
            </a:r>
            <a:r>
              <a:rPr lang="ru-RU" sz="2200" i="1" dirty="0">
                <a:latin typeface="Times New Roman" panose="02020603050405020304" pitchFamily="18" charset="0"/>
                <a:cs typeface="Times New Roman" panose="02020603050405020304" pitchFamily="18" charset="0"/>
              </a:rPr>
              <a:t>A</a:t>
            </a:r>
            <a:r>
              <a:rPr lang="ru-RU" sz="2200"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 множество </a:t>
            </a:r>
            <a:r>
              <a:rPr lang="ru-RU" sz="2200" dirty="0">
                <a:latin typeface="Times New Roman" panose="02020603050405020304" pitchFamily="18" charset="0"/>
                <a:cs typeface="Times New Roman" panose="02020603050405020304" pitchFamily="18" charset="0"/>
              </a:rPr>
              <a:t>всех подмножеств </a:t>
            </a:r>
            <a:r>
              <a:rPr lang="ru-RU" sz="2200" i="1" dirty="0">
                <a:latin typeface="Times New Roman" panose="02020603050405020304" pitchFamily="18" charset="0"/>
                <a:cs typeface="Times New Roman" panose="02020603050405020304" pitchFamily="18" charset="0"/>
              </a:rPr>
              <a:t>n</a:t>
            </a:r>
            <a:r>
              <a:rPr lang="ru-RU" sz="2200" dirty="0">
                <a:latin typeface="Times New Roman" panose="02020603050405020304" pitchFamily="18" charset="0"/>
                <a:cs typeface="Times New Roman" panose="02020603050405020304" pitchFamily="18" charset="0"/>
              </a:rPr>
              <a:t>-элементного множества </a:t>
            </a:r>
            <a:r>
              <a:rPr lang="ru-RU" sz="2200" i="1" dirty="0">
                <a:latin typeface="Times New Roman" panose="02020603050405020304" pitchFamily="18" charset="0"/>
                <a:cs typeface="Times New Roman" panose="02020603050405020304" pitchFamily="18" charset="0"/>
              </a:rPr>
              <a:t>A </a:t>
            </a:r>
            <a:r>
              <a:rPr lang="ru-RU" sz="22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a</a:t>
            </a:r>
            <a:r>
              <a:rPr lang="ru-RU" sz="2200" baseline="-25000" dirty="0">
                <a:latin typeface="Times New Roman" panose="02020603050405020304" pitchFamily="18" charset="0"/>
                <a:cs typeface="Times New Roman" panose="02020603050405020304" pitchFamily="18" charset="0"/>
              </a:rPr>
              <a:t>0</a:t>
            </a:r>
            <a:r>
              <a:rPr lang="ru-RU" sz="2200" i="1" dirty="0">
                <a:latin typeface="Times New Roman" panose="02020603050405020304" pitchFamily="18" charset="0"/>
                <a:cs typeface="Times New Roman" panose="02020603050405020304" pitchFamily="18" charset="0"/>
              </a:rPr>
              <a:t>, a</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 . . , a</a:t>
            </a:r>
            <a:r>
              <a:rPr lang="ru-RU" sz="2200" i="1" baseline="-25000" dirty="0">
                <a:latin typeface="Times New Roman" panose="02020603050405020304" pitchFamily="18" charset="0"/>
                <a:cs typeface="Times New Roman" panose="02020603050405020304" pitchFamily="18" charset="0"/>
              </a:rPr>
              <a:t>n</a:t>
            </a:r>
            <a:r>
              <a:rPr lang="ru-RU" sz="2200" baseline="-25000" dirty="0">
                <a:latin typeface="Times New Roman" panose="02020603050405020304" pitchFamily="18" charset="0"/>
                <a:cs typeface="Times New Roman" panose="02020603050405020304" pitchFamily="18" charset="0"/>
              </a:rPr>
              <a:t>−1</a:t>
            </a:r>
            <a:r>
              <a:rPr lang="ru-RU" sz="2200" dirty="0" smtClean="0">
                <a:latin typeface="Times New Roman" panose="02020603050405020304" pitchFamily="18" charset="0"/>
                <a:cs typeface="Times New Roman" panose="02020603050405020304" pitchFamily="18" charset="0"/>
              </a:rPr>
              <a:t>}. Значения элементов 0 или 1. </a:t>
            </a:r>
            <a:r>
              <a:rPr lang="ru-RU" sz="2200" dirty="0">
                <a:latin typeface="Times New Roman" panose="02020603050405020304" pitchFamily="18" charset="0"/>
                <a:cs typeface="Times New Roman" panose="02020603050405020304" pitchFamily="18" charset="0"/>
              </a:rPr>
              <a:t>Мощность множества P(</a:t>
            </a:r>
            <a:r>
              <a:rPr lang="ru-RU" sz="2200" i="1" dirty="0">
                <a:latin typeface="Times New Roman" panose="02020603050405020304" pitchFamily="18" charset="0"/>
                <a:cs typeface="Times New Roman" panose="02020603050405020304" pitchFamily="18" charset="0"/>
              </a:rPr>
              <a:t>A</a:t>
            </a:r>
            <a:r>
              <a:rPr lang="ru-RU" sz="2200" dirty="0">
                <a:latin typeface="Times New Roman" panose="02020603050405020304" pitchFamily="18" charset="0"/>
                <a:cs typeface="Times New Roman" panose="02020603050405020304" pitchFamily="18" charset="0"/>
              </a:rPr>
              <a:t>) равна </a:t>
            </a:r>
            <a:r>
              <a:rPr lang="ru-RU" sz="2200" dirty="0" smtClean="0">
                <a:latin typeface="Times New Roman" panose="02020603050405020304" pitchFamily="18" charset="0"/>
                <a:cs typeface="Times New Roman" panose="02020603050405020304" pitchFamily="18" charset="0"/>
              </a:rPr>
              <a:t>2</a:t>
            </a:r>
            <a:r>
              <a:rPr lang="ru-RU" sz="2200" i="1" baseline="30000" dirty="0" smtClean="0">
                <a:latin typeface="Times New Roman" panose="02020603050405020304" pitchFamily="18" charset="0"/>
                <a:cs typeface="Times New Roman" panose="02020603050405020304" pitchFamily="18" charset="0"/>
              </a:rPr>
              <a:t>n</a:t>
            </a:r>
            <a:r>
              <a:rPr lang="ru-RU" sz="2200"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Существует </a:t>
            </a:r>
            <a:r>
              <a:rPr lang="ru-RU" sz="2200" dirty="0" err="1">
                <a:latin typeface="Times New Roman" panose="02020603050405020304" pitchFamily="18" charset="0"/>
                <a:cs typeface="Times New Roman" panose="02020603050405020304" pitchFamily="18" charset="0"/>
              </a:rPr>
              <a:t>биективное</a:t>
            </a:r>
            <a:r>
              <a:rPr lang="ru-RU" sz="2200" dirty="0">
                <a:latin typeface="Times New Roman" panose="02020603050405020304" pitchFamily="18" charset="0"/>
                <a:cs typeface="Times New Roman" panose="02020603050405020304" pitchFamily="18" charset="0"/>
              </a:rPr>
              <a:t> отображение </a:t>
            </a:r>
            <a:r>
              <a:rPr lang="ru-RU" sz="2200" i="1" dirty="0">
                <a:latin typeface="Times New Roman" panose="02020603050405020304" pitchFamily="18" charset="0"/>
                <a:cs typeface="Times New Roman" panose="02020603050405020304" pitchFamily="18" charset="0"/>
              </a:rPr>
              <a:t>f </a:t>
            </a:r>
            <a:r>
              <a:rPr lang="ru-RU" sz="2200" dirty="0">
                <a:latin typeface="Times New Roman" panose="02020603050405020304" pitchFamily="18" charset="0"/>
                <a:cs typeface="Times New Roman" panose="02020603050405020304" pitchFamily="18" charset="0"/>
              </a:rPr>
              <a:t>: P(</a:t>
            </a:r>
            <a:r>
              <a:rPr lang="ru-RU" sz="2200" i="1" dirty="0">
                <a:latin typeface="Times New Roman" panose="02020603050405020304" pitchFamily="18" charset="0"/>
                <a:cs typeface="Times New Roman" panose="02020603050405020304" pitchFamily="18" charset="0"/>
              </a:rPr>
              <a:t>A</a:t>
            </a:r>
            <a:r>
              <a:rPr lang="ru-RU" sz="2200" dirty="0">
                <a:latin typeface="Times New Roman" panose="02020603050405020304" pitchFamily="18" charset="0"/>
                <a:cs typeface="Times New Roman" panose="02020603050405020304" pitchFamily="18" charset="0"/>
              </a:rPr>
              <a:t>) → </a:t>
            </a:r>
            <a:r>
              <a:rPr lang="ru-RU" sz="2200" i="1" dirty="0" err="1">
                <a:latin typeface="Times New Roman" panose="02020603050405020304" pitchFamily="18" charset="0"/>
                <a:cs typeface="Times New Roman" panose="02020603050405020304" pitchFamily="18" charset="0"/>
              </a:rPr>
              <a:t>E</a:t>
            </a:r>
            <a:r>
              <a:rPr lang="ru-RU" sz="2200" i="1" baseline="30000" dirty="0" err="1">
                <a:latin typeface="Times New Roman" panose="02020603050405020304" pitchFamily="18" charset="0"/>
                <a:cs typeface="Times New Roman" panose="02020603050405020304" pitchFamily="18" charset="0"/>
              </a:rPr>
              <a:t>n</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из множества всех </a:t>
            </a:r>
            <a:r>
              <a:rPr lang="ru-RU" sz="2200" dirty="0" smtClean="0">
                <a:latin typeface="Times New Roman" panose="02020603050405020304" pitchFamily="18" charset="0"/>
                <a:cs typeface="Times New Roman" panose="02020603050405020304" pitchFamily="18" charset="0"/>
              </a:rPr>
              <a:t>подмножеств </a:t>
            </a:r>
            <a:r>
              <a:rPr lang="ru-RU" sz="2200" dirty="0">
                <a:latin typeface="Times New Roman" panose="02020603050405020304" pitchFamily="18" charset="0"/>
                <a:cs typeface="Times New Roman" panose="02020603050405020304" pitchFamily="18" charset="0"/>
              </a:rPr>
              <a:t>P(</a:t>
            </a:r>
            <a:r>
              <a:rPr lang="ru-RU" sz="2200" i="1" dirty="0">
                <a:latin typeface="Times New Roman" panose="02020603050405020304" pitchFamily="18" charset="0"/>
                <a:cs typeface="Times New Roman" panose="02020603050405020304" pitchFamily="18" charset="0"/>
              </a:rPr>
              <a:t>A</a:t>
            </a:r>
            <a:r>
              <a:rPr lang="ru-RU" sz="2200" dirty="0">
                <a:latin typeface="Times New Roman" panose="02020603050405020304" pitchFamily="18" charset="0"/>
                <a:cs typeface="Times New Roman" panose="02020603050405020304" pitchFamily="18" charset="0"/>
              </a:rPr>
              <a:t>) в </a:t>
            </a:r>
            <a:r>
              <a:rPr lang="ru-RU" sz="2200" i="1" dirty="0">
                <a:latin typeface="Times New Roman" panose="02020603050405020304" pitchFamily="18" charset="0"/>
                <a:cs typeface="Times New Roman" panose="02020603050405020304" pitchFamily="18" charset="0"/>
              </a:rPr>
              <a:t>n</a:t>
            </a:r>
            <a:r>
              <a:rPr lang="ru-RU" sz="2200" dirty="0">
                <a:latin typeface="Times New Roman" panose="02020603050405020304" pitchFamily="18" charset="0"/>
                <a:cs typeface="Times New Roman" panose="02020603050405020304" pitchFamily="18" charset="0"/>
              </a:rPr>
              <a:t>-мерный единичный куб </a:t>
            </a:r>
            <a:r>
              <a:rPr lang="ru-RU" sz="2200" i="1" dirty="0" err="1" smtClean="0">
                <a:latin typeface="Times New Roman" panose="02020603050405020304" pitchFamily="18" charset="0"/>
                <a:cs typeface="Times New Roman" panose="02020603050405020304" pitchFamily="18" charset="0"/>
              </a:rPr>
              <a:t>E</a:t>
            </a:r>
            <a:r>
              <a:rPr lang="ru-RU" sz="2200" i="1" baseline="30000" dirty="0" err="1" smtClean="0">
                <a:latin typeface="Times New Roman" panose="02020603050405020304" pitchFamily="18" charset="0"/>
                <a:cs typeface="Times New Roman" panose="02020603050405020304" pitchFamily="18" charset="0"/>
              </a:rPr>
              <a:t>n</a:t>
            </a:r>
            <a:r>
              <a:rPr lang="ru-RU" sz="2200" dirty="0" smtClean="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определяемое по правилу </a:t>
            </a:r>
            <a:endParaRPr lang="ru-RU" sz="2200" dirty="0" smtClean="0">
              <a:latin typeface="Times New Roman" panose="02020603050405020304" pitchFamily="18" charset="0"/>
              <a:cs typeface="Times New Roman" panose="02020603050405020304" pitchFamily="18" charset="0"/>
            </a:endParaRPr>
          </a:p>
          <a:p>
            <a:pPr marL="358775" indent="-358775" algn="just"/>
            <a:r>
              <a:rPr lang="ru-RU" sz="2200" i="1" dirty="0" smtClean="0">
                <a:latin typeface="Times New Roman" panose="02020603050405020304" pitchFamily="18" charset="0"/>
                <a:cs typeface="Times New Roman" panose="02020603050405020304" pitchFamily="18" charset="0"/>
              </a:rPr>
              <a:t>f </a:t>
            </a:r>
            <a:r>
              <a:rPr lang="ru-RU" sz="2200" dirty="0">
                <a:latin typeface="Times New Roman" panose="02020603050405020304" pitchFamily="18" charset="0"/>
                <a:cs typeface="Times New Roman" panose="02020603050405020304" pitchFamily="18" charset="0"/>
              </a:rPr>
              <a:t>(</a:t>
            </a:r>
            <a:r>
              <a:rPr lang="ru-RU" sz="2200" i="1" dirty="0">
                <a:latin typeface="Times New Roman" panose="02020603050405020304" pitchFamily="18" charset="0"/>
                <a:cs typeface="Times New Roman" panose="02020603050405020304" pitchFamily="18" charset="0"/>
              </a:rPr>
              <a:t>B</a:t>
            </a:r>
            <a:r>
              <a:rPr lang="ru-RU" sz="2200" dirty="0">
                <a:latin typeface="Times New Roman" panose="02020603050405020304" pitchFamily="18" charset="0"/>
                <a:cs typeface="Times New Roman" panose="02020603050405020304" pitchFamily="18" charset="0"/>
              </a:rPr>
              <a:t>) = </a:t>
            </a:r>
            <a:r>
              <a:rPr lang="ru-RU" sz="2200" i="1" dirty="0">
                <a:latin typeface="Times New Roman" panose="02020603050405020304" pitchFamily="18" charset="0"/>
                <a:cs typeface="Times New Roman" panose="02020603050405020304" pitchFamily="18" charset="0"/>
              </a:rPr>
              <a:t>χ </a:t>
            </a:r>
            <a:r>
              <a:rPr lang="ru-RU" sz="2200" i="1" baseline="30000" dirty="0">
                <a:latin typeface="Times New Roman" panose="02020603050405020304" pitchFamily="18" charset="0"/>
                <a:cs typeface="Times New Roman" panose="02020603050405020304" pitchFamily="18" charset="0"/>
              </a:rPr>
              <a:t>B</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для произвольного подмножества </a:t>
            </a:r>
            <a:r>
              <a:rPr lang="ru-RU" sz="2200" i="1" dirty="0">
                <a:latin typeface="Times New Roman" panose="02020603050405020304" pitchFamily="18" charset="0"/>
                <a:cs typeface="Times New Roman" panose="02020603050405020304" pitchFamily="18" charset="0"/>
              </a:rPr>
              <a:t>B </a:t>
            </a:r>
            <a:r>
              <a:rPr lang="ru-RU" sz="22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A, </a:t>
            </a:r>
            <a:r>
              <a:rPr lang="ru-RU" sz="2200" dirty="0" smtClean="0">
                <a:latin typeface="Times New Roman" panose="02020603050405020304" pitchFamily="18" charset="0"/>
                <a:cs typeface="Times New Roman" panose="02020603050405020304" pitchFamily="18" charset="0"/>
              </a:rPr>
              <a:t>где</a:t>
            </a:r>
          </a:p>
          <a:p>
            <a:pPr marL="358775" indent="-358775" algn="just"/>
            <a:endParaRPr lang="ru-RU" sz="2200" b="1" dirty="0">
              <a:solidFill>
                <a:srgbClr val="333333"/>
              </a:solidFill>
              <a:latin typeface="Times New Roman" panose="02020603050405020304" pitchFamily="18" charset="0"/>
              <a:cs typeface="Times New Roman" panose="02020603050405020304" pitchFamily="18" charset="0"/>
            </a:endParaRPr>
          </a:p>
          <a:p>
            <a:pPr marL="358775" indent="-358775" algn="just"/>
            <a:endParaRPr lang="ru-RU" sz="22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endParaRPr lang="ru-RU" sz="2200" b="1" dirty="0">
              <a:solidFill>
                <a:srgbClr val="333333"/>
              </a:solidFill>
              <a:latin typeface="Times New Roman" panose="02020603050405020304" pitchFamily="18" charset="0"/>
              <a:cs typeface="Times New Roman" panose="02020603050405020304" pitchFamily="18" charset="0"/>
            </a:endParaRPr>
          </a:p>
          <a:p>
            <a:pPr marL="358775" indent="-358775" algn="just"/>
            <a:endParaRPr lang="ru-RU" sz="22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endParaRPr lang="ru-RU" sz="2200" b="1" dirty="0">
              <a:solidFill>
                <a:srgbClr val="333333"/>
              </a:solidFill>
              <a:latin typeface="Times New Roman" panose="02020603050405020304" pitchFamily="18" charset="0"/>
              <a:cs typeface="Times New Roman" panose="02020603050405020304" pitchFamily="18" charset="0"/>
            </a:endParaRPr>
          </a:p>
          <a:p>
            <a:pPr marL="358775" indent="-358775" algn="just"/>
            <a:endParaRPr lang="ru-RU" sz="22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Таким </a:t>
            </a:r>
            <a:r>
              <a:rPr lang="ru-RU" sz="2200" dirty="0">
                <a:latin typeface="Times New Roman" panose="02020603050405020304" pitchFamily="18" charset="0"/>
                <a:cs typeface="Times New Roman" panose="02020603050405020304" pitchFamily="18" charset="0"/>
              </a:rPr>
              <a:t>образом, задача генерации всех подмножеств заданного n </a:t>
            </a:r>
            <a:r>
              <a:rPr lang="ru-RU" sz="2200" dirty="0" smtClean="0">
                <a:latin typeface="Times New Roman" panose="02020603050405020304" pitchFamily="18" charset="0"/>
                <a:cs typeface="Times New Roman" panose="02020603050405020304" pitchFamily="18" charset="0"/>
              </a:rPr>
              <a:t>элементного </a:t>
            </a:r>
            <a:r>
              <a:rPr lang="ru-RU" sz="2200" dirty="0">
                <a:latin typeface="Times New Roman" panose="02020603050405020304" pitchFamily="18" charset="0"/>
                <a:cs typeface="Times New Roman" panose="02020603050405020304" pitchFamily="18" charset="0"/>
              </a:rPr>
              <a:t>множества A сводится к задаче порождения всех n-разрядных двоичных последовательностей. </a:t>
            </a:r>
            <a:r>
              <a:rPr lang="ru-RU" sz="2200" dirty="0" smtClean="0">
                <a:latin typeface="Times New Roman" panose="02020603050405020304" pitchFamily="18" charset="0"/>
                <a:cs typeface="Times New Roman" panose="02020603050405020304" pitchFamily="18" charset="0"/>
              </a:rPr>
              <a:t>Генерация </a:t>
            </a:r>
            <a:r>
              <a:rPr lang="ru-RU" sz="2200" dirty="0">
                <a:latin typeface="Times New Roman" panose="02020603050405020304" pitchFamily="18" charset="0"/>
                <a:cs typeface="Times New Roman" panose="02020603050405020304" pitchFamily="18" charset="0"/>
              </a:rPr>
              <a:t>всех двоичных векторов длины n по сути есть прохождение всех вершин n-мерного единичного куба без повторений</a:t>
            </a:r>
            <a:endParaRPr lang="en-US" sz="2200" dirty="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11</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4" name="Рисунок 13"/>
          <p:cNvPicPr>
            <a:picLocks noChangeAspect="1"/>
          </p:cNvPicPr>
          <p:nvPr/>
        </p:nvPicPr>
        <p:blipFill>
          <a:blip r:embed="rId2"/>
          <a:stretch>
            <a:fillRect/>
          </a:stretch>
        </p:blipFill>
        <p:spPr>
          <a:xfrm>
            <a:off x="4343400" y="2895600"/>
            <a:ext cx="3810000" cy="1860925"/>
          </a:xfrm>
          <a:prstGeom prst="rect">
            <a:avLst/>
          </a:prstGeom>
        </p:spPr>
      </p:pic>
    </p:spTree>
    <p:extLst>
      <p:ext uri="{BB962C8B-B14F-4D97-AF65-F5344CB8AC3E}">
        <p14:creationId xmlns:p14="http://schemas.microsoft.com/office/powerpoint/2010/main" val="20581516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4844275"/>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Генерация двоичных векторов и  подмножеств</a:t>
            </a:r>
            <a:endParaRPr lang="en-US" sz="2400" b="1" dirty="0" smtClean="0">
              <a:solidFill>
                <a:srgbClr val="333333"/>
              </a:solidFill>
              <a:latin typeface="Times New Roman" panose="02020603050405020304" pitchFamily="18" charset="0"/>
              <a:cs typeface="Times New Roman" panose="02020603050405020304" pitchFamily="18" charset="0"/>
            </a:endParaRPr>
          </a:p>
          <a:p>
            <a:pPr marL="358775" indent="-358775" algn="just"/>
            <a:endParaRPr lang="ru-RU" sz="2200" dirty="0" smtClean="0">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Для </a:t>
            </a:r>
            <a:r>
              <a:rPr lang="ru-RU" sz="2200" dirty="0">
                <a:latin typeface="Times New Roman" panose="02020603050405020304" pitchFamily="18" charset="0"/>
                <a:cs typeface="Times New Roman" panose="02020603050405020304" pitchFamily="18" charset="0"/>
              </a:rPr>
              <a:t>любого целого положительного числа </a:t>
            </a:r>
            <a:r>
              <a:rPr lang="ru-RU" sz="2200" i="1" dirty="0">
                <a:latin typeface="Times New Roman" panose="02020603050405020304" pitchFamily="18" charset="0"/>
                <a:cs typeface="Times New Roman" panose="02020603050405020304" pitchFamily="18" charset="0"/>
              </a:rPr>
              <a:t>a </a:t>
            </a:r>
            <a:r>
              <a:rPr lang="ru-RU" sz="2200" dirty="0">
                <a:latin typeface="Times New Roman" panose="02020603050405020304" pitchFamily="18" charset="0"/>
                <a:cs typeface="Times New Roman" panose="02020603050405020304" pitchFamily="18" charset="0"/>
              </a:rPr>
              <a:t>существует его </a:t>
            </a:r>
            <a:r>
              <a:rPr lang="ru-RU" sz="2200" dirty="0" smtClean="0">
                <a:latin typeface="Times New Roman" panose="02020603050405020304" pitchFamily="18" charset="0"/>
                <a:cs typeface="Times New Roman" panose="02020603050405020304" pitchFamily="18" charset="0"/>
              </a:rPr>
              <a:t>единственное </a:t>
            </a:r>
            <a:r>
              <a:rPr lang="ru-RU" sz="2200" dirty="0">
                <a:latin typeface="Times New Roman" panose="02020603050405020304" pitchFamily="18" charset="0"/>
                <a:cs typeface="Times New Roman" panose="02020603050405020304" pitchFamily="18" charset="0"/>
              </a:rPr>
              <a:t>двоичное представление (</a:t>
            </a:r>
            <a:r>
              <a:rPr lang="ru-RU" sz="2200" i="1" dirty="0">
                <a:latin typeface="Times New Roman" panose="02020603050405020304" pitchFamily="18" charset="0"/>
                <a:cs typeface="Times New Roman" panose="02020603050405020304" pitchFamily="18" charset="0"/>
              </a:rPr>
              <a:t>b</a:t>
            </a:r>
            <a:r>
              <a:rPr lang="ru-RU" sz="2200" i="1" baseline="-25000" dirty="0">
                <a:latin typeface="Times New Roman" panose="02020603050405020304" pitchFamily="18" charset="0"/>
                <a:cs typeface="Times New Roman" panose="02020603050405020304" pitchFamily="18" charset="0"/>
              </a:rPr>
              <a:t>n</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b</a:t>
            </a:r>
            <a:r>
              <a:rPr lang="ru-RU" sz="2200" i="1" baseline="-25000" dirty="0">
                <a:latin typeface="Times New Roman" panose="02020603050405020304" pitchFamily="18" charset="0"/>
                <a:cs typeface="Times New Roman" panose="02020603050405020304" pitchFamily="18" charset="0"/>
              </a:rPr>
              <a:t>n</a:t>
            </a:r>
            <a:r>
              <a:rPr lang="ru-RU" sz="2200" baseline="-25000" dirty="0">
                <a:latin typeface="Times New Roman" panose="02020603050405020304" pitchFamily="18" charset="0"/>
                <a:cs typeface="Times New Roman" panose="02020603050405020304" pitchFamily="18" charset="0"/>
              </a:rPr>
              <a:t>−2</a:t>
            </a:r>
            <a:r>
              <a:rPr lang="ru-RU" sz="22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 . . b</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b</a:t>
            </a:r>
            <a:r>
              <a:rPr lang="ru-RU" sz="2200" baseline="-25000" dirty="0">
                <a:latin typeface="Times New Roman" panose="02020603050405020304" pitchFamily="18" charset="0"/>
                <a:cs typeface="Times New Roman" panose="02020603050405020304" pitchFamily="18" charset="0"/>
              </a:rPr>
              <a:t>0</a:t>
            </a:r>
            <a:r>
              <a:rPr lang="ru-RU" sz="2200" dirty="0">
                <a:latin typeface="Times New Roman" panose="02020603050405020304" pitchFamily="18" charset="0"/>
                <a:cs typeface="Times New Roman" panose="02020603050405020304" pitchFamily="18" charset="0"/>
              </a:rPr>
              <a:t>) </a:t>
            </a:r>
            <a:r>
              <a:rPr lang="ru-RU" sz="2200" baseline="-25000" dirty="0">
                <a:latin typeface="Times New Roman" panose="02020603050405020304" pitchFamily="18" charset="0"/>
                <a:cs typeface="Times New Roman" panose="02020603050405020304" pitchFamily="18" charset="0"/>
              </a:rPr>
              <a:t>2</a:t>
            </a:r>
            <a:r>
              <a:rPr lang="ru-RU" sz="2200" dirty="0">
                <a:latin typeface="Times New Roman" panose="02020603050405020304" pitchFamily="18" charset="0"/>
                <a:cs typeface="Times New Roman" panose="02020603050405020304" pitchFamily="18" charset="0"/>
              </a:rPr>
              <a:t> = </a:t>
            </a:r>
            <a:r>
              <a:rPr lang="ru-RU" sz="2200" i="1" dirty="0">
                <a:latin typeface="Times New Roman" panose="02020603050405020304" pitchFamily="18" charset="0"/>
                <a:cs typeface="Times New Roman" panose="02020603050405020304" pitchFamily="18" charset="0"/>
              </a:rPr>
              <a:t>a, </a:t>
            </a:r>
            <a:r>
              <a:rPr lang="ru-RU" sz="2200" dirty="0">
                <a:latin typeface="Times New Roman" panose="02020603050405020304" pitchFamily="18" charset="0"/>
                <a:cs typeface="Times New Roman" panose="02020603050405020304" pitchFamily="18" charset="0"/>
              </a:rPr>
              <a:t>где </a:t>
            </a:r>
            <a:r>
              <a:rPr lang="ru-RU" sz="2200" i="1" dirty="0" err="1">
                <a:latin typeface="Times New Roman" panose="02020603050405020304" pitchFamily="18" charset="0"/>
                <a:cs typeface="Times New Roman" panose="02020603050405020304" pitchFamily="18" charset="0"/>
              </a:rPr>
              <a:t>b</a:t>
            </a:r>
            <a:r>
              <a:rPr lang="ru-RU" sz="2200" i="1" baseline="-25000" dirty="0" err="1">
                <a:latin typeface="Times New Roman" panose="02020603050405020304" pitchFamily="18" charset="0"/>
                <a:cs typeface="Times New Roman" panose="02020603050405020304" pitchFamily="18" charset="0"/>
              </a:rPr>
              <a:t>i</a:t>
            </a:r>
            <a:r>
              <a:rPr lang="ru-RU" sz="2200" i="1"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определяются </a:t>
            </a:r>
            <a:r>
              <a:rPr lang="ru-RU" sz="2200" dirty="0">
                <a:latin typeface="Times New Roman" panose="02020603050405020304" pitchFamily="18" charset="0"/>
                <a:cs typeface="Times New Roman" panose="02020603050405020304" pitchFamily="18" charset="0"/>
              </a:rPr>
              <a:t>из следующих соотношений:</a:t>
            </a:r>
          </a:p>
          <a:p>
            <a:pPr marL="358775" indent="-358775" algn="ctr"/>
            <a:r>
              <a:rPr lang="ru-RU" sz="2400" b="1" i="1" dirty="0">
                <a:latin typeface="Times New Roman" panose="02020603050405020304" pitchFamily="18" charset="0"/>
                <a:cs typeface="Times New Roman" panose="02020603050405020304" pitchFamily="18" charset="0"/>
              </a:rPr>
              <a:t>a </a:t>
            </a:r>
            <a:r>
              <a:rPr lang="ru-RU" sz="2400" b="1" dirty="0">
                <a:latin typeface="Times New Roman" panose="02020603050405020304" pitchFamily="18" charset="0"/>
                <a:cs typeface="Times New Roman" panose="02020603050405020304" pitchFamily="18" charset="0"/>
              </a:rPr>
              <a:t>= </a:t>
            </a:r>
            <a:r>
              <a:rPr lang="ru-RU" sz="2400" b="1" i="1" dirty="0">
                <a:latin typeface="Times New Roman" panose="02020603050405020304" pitchFamily="18" charset="0"/>
                <a:cs typeface="Times New Roman" panose="02020603050405020304" pitchFamily="18" charset="0"/>
              </a:rPr>
              <a:t>b</a:t>
            </a:r>
            <a:r>
              <a:rPr lang="ru-RU" sz="2400" b="1" baseline="-25000" dirty="0">
                <a:latin typeface="Times New Roman" panose="02020603050405020304" pitchFamily="18" charset="0"/>
                <a:cs typeface="Times New Roman" panose="02020603050405020304" pitchFamily="18" charset="0"/>
              </a:rPr>
              <a:t>0</a:t>
            </a:r>
            <a:r>
              <a:rPr lang="ru-RU" sz="2400" b="1" dirty="0">
                <a:latin typeface="Times New Roman" panose="02020603050405020304" pitchFamily="18" charset="0"/>
                <a:cs typeface="Times New Roman" panose="02020603050405020304" pitchFamily="18" charset="0"/>
              </a:rPr>
              <a:t> + </a:t>
            </a:r>
            <a:r>
              <a:rPr lang="ru-RU" sz="2400" b="1" i="1" dirty="0">
                <a:latin typeface="Times New Roman" panose="02020603050405020304" pitchFamily="18" charset="0"/>
                <a:cs typeface="Times New Roman" panose="02020603050405020304" pitchFamily="18" charset="0"/>
              </a:rPr>
              <a:t>b</a:t>
            </a:r>
            <a:r>
              <a:rPr lang="ru-RU" sz="2400" b="1" baseline="-25000" dirty="0">
                <a:latin typeface="Times New Roman" panose="02020603050405020304" pitchFamily="18" charset="0"/>
                <a:cs typeface="Times New Roman" panose="02020603050405020304" pitchFamily="18" charset="0"/>
              </a:rPr>
              <a:t>1</a:t>
            </a:r>
            <a:r>
              <a:rPr lang="ru-RU" sz="2400" b="1" dirty="0">
                <a:latin typeface="Times New Roman" panose="02020603050405020304" pitchFamily="18" charset="0"/>
                <a:cs typeface="Times New Roman" panose="02020603050405020304" pitchFamily="18" charset="0"/>
              </a:rPr>
              <a:t>2 + </a:t>
            </a:r>
            <a:r>
              <a:rPr lang="ru-RU" sz="2400" b="1" i="1" dirty="0">
                <a:latin typeface="Times New Roman" panose="02020603050405020304" pitchFamily="18" charset="0"/>
                <a:cs typeface="Times New Roman" panose="02020603050405020304" pitchFamily="18" charset="0"/>
              </a:rPr>
              <a:t>b</a:t>
            </a:r>
            <a:r>
              <a:rPr lang="ru-RU" sz="2400" b="1" baseline="-25000" dirty="0">
                <a:latin typeface="Times New Roman" panose="02020603050405020304" pitchFamily="18" charset="0"/>
                <a:cs typeface="Times New Roman" panose="02020603050405020304" pitchFamily="18" charset="0"/>
              </a:rPr>
              <a:t>2</a:t>
            </a:r>
            <a:r>
              <a:rPr lang="ru-RU" sz="2400" b="1" dirty="0">
                <a:latin typeface="Times New Roman" panose="02020603050405020304" pitchFamily="18" charset="0"/>
                <a:cs typeface="Times New Roman" panose="02020603050405020304" pitchFamily="18" charset="0"/>
              </a:rPr>
              <a:t>2 </a:t>
            </a:r>
            <a:r>
              <a:rPr lang="ru-RU" sz="2400" b="1" baseline="30000" dirty="0">
                <a:latin typeface="Times New Roman" panose="02020603050405020304" pitchFamily="18" charset="0"/>
                <a:cs typeface="Times New Roman" panose="02020603050405020304" pitchFamily="18" charset="0"/>
              </a:rPr>
              <a:t>2</a:t>
            </a:r>
            <a:r>
              <a:rPr lang="ru-RU" sz="2400" b="1" dirty="0">
                <a:latin typeface="Times New Roman" panose="02020603050405020304" pitchFamily="18" charset="0"/>
                <a:cs typeface="Times New Roman" panose="02020603050405020304" pitchFamily="18" charset="0"/>
              </a:rPr>
              <a:t> + </a:t>
            </a:r>
            <a:r>
              <a:rPr lang="ru-RU" sz="2400" b="1" i="1" dirty="0">
                <a:latin typeface="Times New Roman" panose="02020603050405020304" pitchFamily="18" charset="0"/>
                <a:cs typeface="Times New Roman" panose="02020603050405020304" pitchFamily="18" charset="0"/>
              </a:rPr>
              <a:t>. . . </a:t>
            </a:r>
            <a:r>
              <a:rPr lang="ru-RU" sz="2400" b="1" dirty="0">
                <a:latin typeface="Times New Roman" panose="02020603050405020304" pitchFamily="18" charset="0"/>
                <a:cs typeface="Times New Roman" panose="02020603050405020304" pitchFamily="18" charset="0"/>
              </a:rPr>
              <a:t>+ </a:t>
            </a:r>
            <a:r>
              <a:rPr lang="ru-RU" sz="2400" b="1" i="1" dirty="0">
                <a:latin typeface="Times New Roman" panose="02020603050405020304" pitchFamily="18" charset="0"/>
                <a:cs typeface="Times New Roman" panose="02020603050405020304" pitchFamily="18" charset="0"/>
              </a:rPr>
              <a:t>b</a:t>
            </a:r>
            <a:r>
              <a:rPr lang="ru-RU" sz="2400" b="1" i="1" baseline="-25000" dirty="0">
                <a:latin typeface="Times New Roman" panose="02020603050405020304" pitchFamily="18" charset="0"/>
                <a:cs typeface="Times New Roman" panose="02020603050405020304" pitchFamily="18" charset="0"/>
              </a:rPr>
              <a:t>n</a:t>
            </a:r>
            <a:r>
              <a:rPr lang="ru-RU" sz="2400" b="1" baseline="-25000" dirty="0">
                <a:latin typeface="Times New Roman" panose="02020603050405020304" pitchFamily="18" charset="0"/>
                <a:cs typeface="Times New Roman" panose="02020603050405020304" pitchFamily="18" charset="0"/>
              </a:rPr>
              <a:t>−1</a:t>
            </a:r>
            <a:r>
              <a:rPr lang="ru-RU" sz="2400" b="1" dirty="0">
                <a:latin typeface="Times New Roman" panose="02020603050405020304" pitchFamily="18" charset="0"/>
                <a:cs typeface="Times New Roman" panose="02020603050405020304" pitchFamily="18" charset="0"/>
              </a:rPr>
              <a:t>2 </a:t>
            </a:r>
            <a:r>
              <a:rPr lang="ru-RU" sz="2400" b="1" i="1" baseline="30000" dirty="0">
                <a:latin typeface="Times New Roman" panose="02020603050405020304" pitchFamily="18" charset="0"/>
                <a:cs typeface="Times New Roman" panose="02020603050405020304" pitchFamily="18" charset="0"/>
              </a:rPr>
              <a:t>n</a:t>
            </a:r>
            <a:r>
              <a:rPr lang="ru-RU" sz="2400" b="1" baseline="30000" dirty="0">
                <a:latin typeface="Times New Roman" panose="02020603050405020304" pitchFamily="18" charset="0"/>
                <a:cs typeface="Times New Roman" panose="02020603050405020304" pitchFamily="18" charset="0"/>
              </a:rPr>
              <a:t>−1</a:t>
            </a:r>
            <a:r>
              <a:rPr lang="ru-RU" sz="2400" b="1" i="1" dirty="0">
                <a:latin typeface="Times New Roman" panose="02020603050405020304" pitchFamily="18" charset="0"/>
                <a:cs typeface="Times New Roman" panose="02020603050405020304" pitchFamily="18" charset="0"/>
              </a:rPr>
              <a:t>,</a:t>
            </a:r>
            <a:endParaRPr lang="ru-RU" sz="2400" b="1" dirty="0">
              <a:latin typeface="Times New Roman" panose="02020603050405020304" pitchFamily="18" charset="0"/>
              <a:cs typeface="Times New Roman" panose="02020603050405020304" pitchFamily="18" charset="0"/>
            </a:endParaRPr>
          </a:p>
          <a:p>
            <a:pPr algn="ctr"/>
            <a:r>
              <a:rPr lang="ru-RU" sz="2400" b="1" i="1" dirty="0" err="1">
                <a:latin typeface="Times New Roman" panose="02020603050405020304" pitchFamily="18" charset="0"/>
                <a:cs typeface="Times New Roman" panose="02020603050405020304" pitchFamily="18" charset="0"/>
              </a:rPr>
              <a:t>b</a:t>
            </a:r>
            <a:r>
              <a:rPr lang="ru-RU" sz="2400" b="1" i="1" baseline="-25000" dirty="0" err="1">
                <a:latin typeface="Times New Roman" panose="02020603050405020304" pitchFamily="18" charset="0"/>
                <a:cs typeface="Times New Roman" panose="02020603050405020304" pitchFamily="18" charset="0"/>
              </a:rPr>
              <a:t>i</a:t>
            </a:r>
            <a:r>
              <a:rPr lang="ru-RU" sz="2400" b="1" i="1" dirty="0">
                <a:latin typeface="Times New Roman" panose="02020603050405020304" pitchFamily="18" charset="0"/>
                <a:cs typeface="Times New Roman" panose="02020603050405020304" pitchFamily="18" charset="0"/>
              </a:rPr>
              <a:t> </a:t>
            </a:r>
            <a:r>
              <a:rPr lang="ru-RU" sz="2400" b="1" dirty="0">
                <a:latin typeface="Times New Roman" panose="02020603050405020304" pitchFamily="18" charset="0"/>
                <a:cs typeface="Times New Roman" panose="02020603050405020304" pitchFamily="18" charset="0"/>
              </a:rPr>
              <a:t>∈ {0</a:t>
            </a:r>
            <a:r>
              <a:rPr lang="ru-RU" sz="2400" b="1" i="1" dirty="0">
                <a:latin typeface="Times New Roman" panose="02020603050405020304" pitchFamily="18" charset="0"/>
                <a:cs typeface="Times New Roman" panose="02020603050405020304" pitchFamily="18" charset="0"/>
              </a:rPr>
              <a:t>, </a:t>
            </a:r>
            <a:r>
              <a:rPr lang="ru-RU" sz="2400" b="1" dirty="0">
                <a:latin typeface="Times New Roman" panose="02020603050405020304" pitchFamily="18" charset="0"/>
                <a:cs typeface="Times New Roman" panose="02020603050405020304" pitchFamily="18" charset="0"/>
              </a:rPr>
              <a:t>1}</a:t>
            </a:r>
            <a:r>
              <a:rPr lang="ru-RU" sz="2400" b="1" i="1" dirty="0">
                <a:latin typeface="Times New Roman" panose="02020603050405020304" pitchFamily="18" charset="0"/>
                <a:cs typeface="Times New Roman" panose="02020603050405020304" pitchFamily="18" charset="0"/>
              </a:rPr>
              <a:t>, i </a:t>
            </a:r>
            <a:r>
              <a:rPr lang="ru-RU" sz="2400" b="1" dirty="0">
                <a:latin typeface="Times New Roman" panose="02020603050405020304" pitchFamily="18" charset="0"/>
                <a:cs typeface="Times New Roman" panose="02020603050405020304" pitchFamily="18" charset="0"/>
              </a:rPr>
              <a:t>= 0</a:t>
            </a:r>
            <a:r>
              <a:rPr lang="ru-RU" sz="2400" b="1" i="1" dirty="0">
                <a:latin typeface="Times New Roman" panose="02020603050405020304" pitchFamily="18" charset="0"/>
                <a:cs typeface="Times New Roman" panose="02020603050405020304" pitchFamily="18" charset="0"/>
              </a:rPr>
              <a:t>, . . . , n </a:t>
            </a:r>
            <a:r>
              <a:rPr lang="ru-RU" sz="2400" b="1" dirty="0">
                <a:latin typeface="Times New Roman" panose="02020603050405020304" pitchFamily="18" charset="0"/>
                <a:cs typeface="Times New Roman" panose="02020603050405020304" pitchFamily="18" charset="0"/>
              </a:rPr>
              <a:t>− 1</a:t>
            </a:r>
            <a:r>
              <a:rPr lang="ru-RU" sz="2400" b="1" i="1" dirty="0">
                <a:latin typeface="Times New Roman" panose="02020603050405020304" pitchFamily="18" charset="0"/>
                <a:cs typeface="Times New Roman" panose="02020603050405020304" pitchFamily="18" charset="0"/>
              </a:rPr>
              <a:t>.</a:t>
            </a:r>
            <a:endParaRPr lang="ru-RU" sz="2400" b="1" dirty="0">
              <a:latin typeface="Times New Roman" panose="02020603050405020304" pitchFamily="18" charset="0"/>
              <a:cs typeface="Times New Roman" panose="02020603050405020304" pitchFamily="18" charset="0"/>
            </a:endParaRPr>
          </a:p>
          <a:p>
            <a:pPr marL="358775" indent="-358775" algn="just"/>
            <a:r>
              <a:rPr lang="ru-RU" sz="2200" dirty="0">
                <a:latin typeface="Times New Roman" panose="02020603050405020304" pitchFamily="18" charset="0"/>
                <a:cs typeface="Times New Roman" panose="02020603050405020304" pitchFamily="18" charset="0"/>
              </a:rPr>
              <a:t>Поэтому для любого </a:t>
            </a:r>
            <a:r>
              <a:rPr lang="ru-RU" sz="2200" i="1" dirty="0">
                <a:latin typeface="Times New Roman" panose="02020603050405020304" pitchFamily="18" charset="0"/>
                <a:cs typeface="Times New Roman" panose="02020603050405020304" pitchFamily="18" charset="0"/>
              </a:rPr>
              <a:t>a &lt; </a:t>
            </a:r>
            <a:r>
              <a:rPr lang="ru-RU" sz="2200" dirty="0" smtClean="0">
                <a:latin typeface="Times New Roman" panose="02020603050405020304" pitchFamily="18" charset="0"/>
                <a:cs typeface="Times New Roman" panose="02020603050405020304" pitchFamily="18" charset="0"/>
              </a:rPr>
              <a:t>2</a:t>
            </a:r>
            <a:r>
              <a:rPr lang="ru-RU" sz="2200" i="1" baseline="30000" dirty="0" smtClean="0">
                <a:latin typeface="Times New Roman" panose="02020603050405020304" pitchFamily="18" charset="0"/>
                <a:cs typeface="Times New Roman" panose="02020603050405020304" pitchFamily="18" charset="0"/>
              </a:rPr>
              <a:t>n</a:t>
            </a:r>
            <a:r>
              <a:rPr lang="ru-RU" sz="2200" i="1" dirty="0" smtClean="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существует единственное двоичное </a:t>
            </a:r>
            <a:r>
              <a:rPr lang="ru-RU" sz="2200" i="1" dirty="0" smtClean="0">
                <a:latin typeface="Times New Roman" panose="02020603050405020304" pitchFamily="18" charset="0"/>
                <a:cs typeface="Times New Roman" panose="02020603050405020304" pitchFamily="18" charset="0"/>
              </a:rPr>
              <a:t>n</a:t>
            </a:r>
            <a:r>
              <a:rPr lang="ru-RU" sz="2200" dirty="0" smtClean="0">
                <a:latin typeface="Times New Roman" panose="02020603050405020304" pitchFamily="18" charset="0"/>
                <a:cs typeface="Times New Roman" panose="02020603050405020304" pitchFamily="18" charset="0"/>
              </a:rPr>
              <a:t>-разрядное </a:t>
            </a:r>
            <a:r>
              <a:rPr lang="ru-RU" sz="2200" dirty="0">
                <a:latin typeface="Times New Roman" panose="02020603050405020304" pitchFamily="18" charset="0"/>
                <a:cs typeface="Times New Roman" panose="02020603050405020304" pitchFamily="18" charset="0"/>
              </a:rPr>
              <a:t>представление. Множество двоичных векторов длины </a:t>
            </a:r>
            <a:r>
              <a:rPr lang="ru-RU" sz="2200" i="1" dirty="0">
                <a:latin typeface="Times New Roman" panose="02020603050405020304" pitchFamily="18" charset="0"/>
                <a:cs typeface="Times New Roman" panose="02020603050405020304" pitchFamily="18" charset="0"/>
              </a:rPr>
              <a:t>n </a:t>
            </a:r>
            <a:r>
              <a:rPr lang="ru-RU" sz="2200" dirty="0">
                <a:latin typeface="Times New Roman" panose="02020603050405020304" pitchFamily="18" charset="0"/>
                <a:cs typeface="Times New Roman" panose="02020603050405020304" pitchFamily="18" charset="0"/>
              </a:rPr>
              <a:t>с </a:t>
            </a:r>
            <a:r>
              <a:rPr lang="ru-RU" sz="2200" dirty="0" smtClean="0">
                <a:latin typeface="Times New Roman" panose="02020603050405020304" pitchFamily="18" charset="0"/>
                <a:cs typeface="Times New Roman" panose="02020603050405020304" pitchFamily="18" charset="0"/>
              </a:rPr>
              <a:t>лексикографическим </a:t>
            </a:r>
            <a:r>
              <a:rPr lang="ru-RU" sz="2200" dirty="0">
                <a:latin typeface="Times New Roman" panose="02020603050405020304" pitchFamily="18" charset="0"/>
                <a:cs typeface="Times New Roman" panose="02020603050405020304" pitchFamily="18" charset="0"/>
              </a:rPr>
              <a:t>порядком (</a:t>
            </a:r>
            <a:r>
              <a:rPr lang="ru-RU" sz="2200" i="1" dirty="0">
                <a:latin typeface="Times New Roman" panose="02020603050405020304" pitchFamily="18" charset="0"/>
                <a:cs typeface="Times New Roman" panose="02020603050405020304" pitchFamily="18" charset="0"/>
              </a:rPr>
              <a:t>E </a:t>
            </a:r>
            <a:r>
              <a:rPr lang="ru-RU" sz="2200" i="1" baseline="30000" dirty="0">
                <a:latin typeface="Times New Roman" panose="02020603050405020304" pitchFamily="18" charset="0"/>
                <a:cs typeface="Times New Roman" panose="02020603050405020304" pitchFamily="18" charset="0"/>
              </a:rPr>
              <a:t>n</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 есть линейно упорядоченное </a:t>
            </a:r>
            <a:r>
              <a:rPr lang="ru-RU" sz="2200" dirty="0" smtClean="0">
                <a:latin typeface="Times New Roman" panose="02020603050405020304" pitchFamily="18" charset="0"/>
                <a:cs typeface="Times New Roman" panose="02020603050405020304" pitchFamily="18" charset="0"/>
              </a:rPr>
              <a:t>множество </a:t>
            </a:r>
            <a:r>
              <a:rPr lang="ru-RU" sz="2200" dirty="0">
                <a:latin typeface="Times New Roman" panose="02020603050405020304" pitchFamily="18" charset="0"/>
                <a:cs typeface="Times New Roman" panose="02020603050405020304" pitchFamily="18" charset="0"/>
              </a:rPr>
              <a:t>с наименьшим элементом (0</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0</a:t>
            </a:r>
            <a:r>
              <a:rPr lang="ru-RU" sz="2200" i="1" dirty="0">
                <a:latin typeface="Times New Roman" panose="02020603050405020304" pitchFamily="18" charset="0"/>
                <a:cs typeface="Times New Roman" panose="02020603050405020304" pitchFamily="18" charset="0"/>
              </a:rPr>
              <a:t>, . . . , </a:t>
            </a:r>
            <a:r>
              <a:rPr lang="ru-RU" sz="2200" dirty="0">
                <a:latin typeface="Times New Roman" panose="02020603050405020304" pitchFamily="18" charset="0"/>
                <a:cs typeface="Times New Roman" panose="02020603050405020304" pitchFamily="18" charset="0"/>
              </a:rPr>
              <a:t>0) и наибольшим элементом (1</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 . . , </a:t>
            </a:r>
            <a:r>
              <a:rPr lang="ru-RU" sz="22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причём  (</a:t>
            </a:r>
            <a:r>
              <a:rPr lang="ru-RU" sz="2200" i="1" dirty="0">
                <a:latin typeface="Times New Roman" panose="02020603050405020304" pitchFamily="18" charset="0"/>
                <a:cs typeface="Times New Roman" panose="02020603050405020304" pitchFamily="18" charset="0"/>
              </a:rPr>
              <a:t>b</a:t>
            </a:r>
            <a:r>
              <a:rPr lang="ru-RU" sz="2200" i="1" baseline="-25000" dirty="0">
                <a:latin typeface="Times New Roman" panose="02020603050405020304" pitchFamily="18" charset="0"/>
                <a:cs typeface="Times New Roman" panose="02020603050405020304" pitchFamily="18" charset="0"/>
              </a:rPr>
              <a:t>n</a:t>
            </a:r>
            <a:r>
              <a:rPr lang="ru-RU" sz="2200" baseline="-25000" dirty="0">
                <a:latin typeface="Times New Roman" panose="02020603050405020304" pitchFamily="18" charset="0"/>
                <a:cs typeface="Times New Roman" panose="02020603050405020304" pitchFamily="18" charset="0"/>
              </a:rPr>
              <a:t>−1</a:t>
            </a:r>
            <a:r>
              <a:rPr lang="ru-RU" sz="22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 . . b</a:t>
            </a:r>
            <a:r>
              <a:rPr lang="ru-RU" sz="2200" baseline="-25000" dirty="0">
                <a:latin typeface="Times New Roman" panose="02020603050405020304" pitchFamily="18" charset="0"/>
                <a:cs typeface="Times New Roman" panose="02020603050405020304" pitchFamily="18" charset="0"/>
              </a:rPr>
              <a:t>0</a:t>
            </a:r>
            <a:r>
              <a:rPr lang="ru-RU" sz="2200" dirty="0">
                <a:latin typeface="Times New Roman" panose="02020603050405020304" pitchFamily="18" charset="0"/>
                <a:cs typeface="Times New Roman" panose="02020603050405020304" pitchFamily="18" charset="0"/>
              </a:rPr>
              <a:t>) </a:t>
            </a:r>
            <a:r>
              <a:rPr lang="ru-RU" sz="2200" baseline="-25000" dirty="0">
                <a:latin typeface="Times New Roman" panose="02020603050405020304" pitchFamily="18" charset="0"/>
                <a:cs typeface="Times New Roman" panose="02020603050405020304" pitchFamily="18" charset="0"/>
              </a:rPr>
              <a:t>2</a:t>
            </a:r>
            <a:r>
              <a:rPr lang="ru-RU" sz="2200" dirty="0">
                <a:latin typeface="Times New Roman" panose="02020603050405020304" pitchFamily="18" charset="0"/>
                <a:cs typeface="Times New Roman" panose="02020603050405020304" pitchFamily="18" charset="0"/>
              </a:rPr>
              <a:t>  есть  номер  вектора  (</a:t>
            </a:r>
            <a:r>
              <a:rPr lang="ru-RU" sz="2200" i="1" dirty="0">
                <a:latin typeface="Times New Roman" panose="02020603050405020304" pitchFamily="18" charset="0"/>
                <a:cs typeface="Times New Roman" panose="02020603050405020304" pitchFamily="18" charset="0"/>
              </a:rPr>
              <a:t>b</a:t>
            </a:r>
            <a:r>
              <a:rPr lang="ru-RU" sz="2200" i="1" baseline="-25000" dirty="0">
                <a:latin typeface="Times New Roman" panose="02020603050405020304" pitchFamily="18" charset="0"/>
                <a:cs typeface="Times New Roman" panose="02020603050405020304" pitchFamily="18" charset="0"/>
              </a:rPr>
              <a:t>n</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 . . , b</a:t>
            </a:r>
            <a:r>
              <a:rPr lang="ru-RU" sz="2200" baseline="-25000" dirty="0">
                <a:latin typeface="Times New Roman" panose="02020603050405020304" pitchFamily="18" charset="0"/>
                <a:cs typeface="Times New Roman" panose="02020603050405020304" pitchFamily="18" charset="0"/>
              </a:rPr>
              <a:t>0</a:t>
            </a:r>
            <a:r>
              <a:rPr lang="ru-RU" sz="2200"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относительно </a:t>
            </a:r>
            <a:r>
              <a:rPr lang="ru-RU" sz="2200" dirty="0">
                <a:latin typeface="Times New Roman" panose="02020603050405020304" pitchFamily="18" charset="0"/>
                <a:cs typeface="Times New Roman" panose="02020603050405020304" pitchFamily="18" charset="0"/>
              </a:rPr>
              <a:t>этого упорядочивания. Поэтому все </a:t>
            </a:r>
            <a:r>
              <a:rPr lang="ru-RU" sz="2200" i="1" dirty="0">
                <a:latin typeface="Times New Roman" panose="02020603050405020304" pitchFamily="18" charset="0"/>
                <a:cs typeface="Times New Roman" panose="02020603050405020304" pitchFamily="18" charset="0"/>
              </a:rPr>
              <a:t>n</a:t>
            </a:r>
            <a:r>
              <a:rPr lang="ru-RU" sz="2200" dirty="0">
                <a:latin typeface="Times New Roman" panose="02020603050405020304" pitchFamily="18" charset="0"/>
                <a:cs typeface="Times New Roman" panose="02020603050405020304" pitchFamily="18" charset="0"/>
              </a:rPr>
              <a:t>-разрядные двоичные последовательности можно сгенерировать следующим образом. </a:t>
            </a:r>
            <a:endParaRPr lang="ru-RU" sz="2200" dirty="0" smtClean="0">
              <a:latin typeface="Times New Roman" panose="02020603050405020304" pitchFamily="18" charset="0"/>
              <a:cs typeface="Times New Roman" panose="02020603050405020304" pitchFamily="18" charset="0"/>
            </a:endParaRPr>
          </a:p>
          <a:p>
            <a:pPr marL="358775" indent="-358775" algn="just"/>
            <a:r>
              <a:rPr lang="ru-RU" sz="2200" dirty="0" smtClean="0">
                <a:latin typeface="Times New Roman" panose="02020603050405020304" pitchFamily="18" charset="0"/>
                <a:cs typeface="Times New Roman" panose="02020603050405020304" pitchFamily="18" charset="0"/>
              </a:rPr>
              <a:t>Пробегая </a:t>
            </a:r>
            <a:r>
              <a:rPr lang="ru-RU" sz="2200" dirty="0">
                <a:latin typeface="Times New Roman" panose="02020603050405020304" pitchFamily="18" charset="0"/>
                <a:cs typeface="Times New Roman" panose="02020603050405020304" pitchFamily="18" charset="0"/>
              </a:rPr>
              <a:t>значение индекса </a:t>
            </a:r>
            <a:r>
              <a:rPr lang="ru-RU" sz="2200" i="1" dirty="0">
                <a:latin typeface="Times New Roman" panose="02020603050405020304" pitchFamily="18" charset="0"/>
                <a:cs typeface="Times New Roman" panose="02020603050405020304" pitchFamily="18" charset="0"/>
              </a:rPr>
              <a:t>i </a:t>
            </a:r>
            <a:r>
              <a:rPr lang="ru-RU" sz="2200" dirty="0">
                <a:latin typeface="Times New Roman" panose="02020603050405020304" pitchFamily="18" charset="0"/>
                <a:cs typeface="Times New Roman" panose="02020603050405020304" pitchFamily="18" charset="0"/>
              </a:rPr>
              <a:t>от 0 до </a:t>
            </a:r>
            <a:r>
              <a:rPr lang="ru-RU" sz="2200" dirty="0" smtClean="0">
                <a:latin typeface="Times New Roman" panose="02020603050405020304" pitchFamily="18" charset="0"/>
                <a:cs typeface="Times New Roman" panose="02020603050405020304" pitchFamily="18" charset="0"/>
              </a:rPr>
              <a:t>2</a:t>
            </a:r>
            <a:r>
              <a:rPr lang="ru-RU" sz="2200" i="1" baseline="30000" dirty="0" smtClean="0">
                <a:latin typeface="Times New Roman" panose="02020603050405020304" pitchFamily="18" charset="0"/>
                <a:cs typeface="Times New Roman" panose="02020603050405020304" pitchFamily="18" charset="0"/>
              </a:rPr>
              <a:t>n</a:t>
            </a:r>
            <a:r>
              <a:rPr lang="ru-RU" sz="2200" i="1" dirty="0" smtClean="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− 1, по числу </a:t>
            </a:r>
            <a:r>
              <a:rPr lang="ru-RU" sz="2200" i="1" dirty="0">
                <a:latin typeface="Times New Roman" panose="02020603050405020304" pitchFamily="18" charset="0"/>
                <a:cs typeface="Times New Roman" panose="02020603050405020304" pitchFamily="18" charset="0"/>
              </a:rPr>
              <a:t>i </a:t>
            </a:r>
            <a:r>
              <a:rPr lang="ru-RU" sz="2200" dirty="0">
                <a:latin typeface="Times New Roman" panose="02020603050405020304" pitchFamily="18" charset="0"/>
                <a:cs typeface="Times New Roman" panose="02020603050405020304" pitchFamily="18" charset="0"/>
              </a:rPr>
              <a:t>восстанавливаем его двоичное представление длины </a:t>
            </a:r>
            <a:r>
              <a:rPr lang="ru-RU" sz="2200" i="1" dirty="0">
                <a:latin typeface="Times New Roman" panose="02020603050405020304" pitchFamily="18" charset="0"/>
                <a:cs typeface="Times New Roman" panose="02020603050405020304" pitchFamily="18" charset="0"/>
              </a:rPr>
              <a:t>n</a:t>
            </a:r>
            <a:r>
              <a:rPr lang="ru-RU" sz="2200" dirty="0">
                <a:latin typeface="Times New Roman" panose="02020603050405020304" pitchFamily="18" charset="0"/>
                <a:cs typeface="Times New Roman" panose="02020603050405020304" pitchFamily="18" charset="0"/>
              </a:rPr>
              <a:t>, т. е. двоичный вектор с номером </a:t>
            </a:r>
            <a:r>
              <a:rPr lang="ru-RU" sz="2200" i="1" dirty="0">
                <a:latin typeface="Times New Roman" panose="02020603050405020304" pitchFamily="18" charset="0"/>
                <a:cs typeface="Times New Roman" panose="02020603050405020304" pitchFamily="18" charset="0"/>
              </a:rPr>
              <a:t>i </a:t>
            </a:r>
            <a:r>
              <a:rPr lang="ru-RU" sz="2200" dirty="0">
                <a:latin typeface="Times New Roman" panose="02020603050405020304" pitchFamily="18" charset="0"/>
                <a:cs typeface="Times New Roman" panose="02020603050405020304" pitchFamily="18" charset="0"/>
              </a:rPr>
              <a:t>в лексикографическом порядке. </a:t>
            </a:r>
            <a:endParaRPr lang="ru-RU" sz="2200" dirty="0" smtClean="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12</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3031624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798382"/>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Генерация двоичных векторов и  подмножеств</a:t>
            </a:r>
          </a:p>
          <a:p>
            <a:pPr marL="358775" indent="-358775" algn="just"/>
            <a:r>
              <a:rPr lang="ru-RU" sz="2200" dirty="0" smtClean="0">
                <a:latin typeface="Times New Roman" panose="02020603050405020304" pitchFamily="18" charset="0"/>
                <a:cs typeface="Times New Roman" panose="02020603050405020304" pitchFamily="18" charset="0"/>
              </a:rPr>
              <a:t>Для порождения всех двоичных векторов </a:t>
            </a:r>
            <a:r>
              <a:rPr lang="ru-RU" sz="2200" dirty="0">
                <a:latin typeface="Times New Roman" panose="02020603050405020304" pitchFamily="18" charset="0"/>
                <a:cs typeface="Times New Roman" panose="02020603050405020304" pitchFamily="18" charset="0"/>
              </a:rPr>
              <a:t>длины </a:t>
            </a:r>
            <a:r>
              <a:rPr lang="ru-RU" sz="2200" i="1" dirty="0">
                <a:latin typeface="Times New Roman" panose="02020603050405020304" pitchFamily="18" charset="0"/>
                <a:cs typeface="Times New Roman" panose="02020603050405020304" pitchFamily="18" charset="0"/>
              </a:rPr>
              <a:t>n </a:t>
            </a:r>
            <a:r>
              <a:rPr lang="ru-RU" sz="2200" dirty="0">
                <a:latin typeface="Times New Roman" panose="02020603050405020304" pitchFamily="18" charset="0"/>
                <a:cs typeface="Times New Roman" panose="02020603050405020304" pitchFamily="18" charset="0"/>
              </a:rPr>
              <a:t>в </a:t>
            </a:r>
            <a:r>
              <a:rPr lang="ru-RU" sz="2200" dirty="0" smtClean="0">
                <a:latin typeface="Times New Roman" panose="02020603050405020304" pitchFamily="18" charset="0"/>
                <a:cs typeface="Times New Roman" panose="02020603050405020304" pitchFamily="18" charset="0"/>
              </a:rPr>
              <a:t>лексикографическом </a:t>
            </a:r>
            <a:r>
              <a:rPr lang="ru-RU" sz="2200" dirty="0">
                <a:latin typeface="Times New Roman" panose="02020603050405020304" pitchFamily="18" charset="0"/>
                <a:cs typeface="Times New Roman" panose="02020603050405020304" pitchFamily="18" charset="0"/>
              </a:rPr>
              <a:t>порядке, начиная с наименьшего </a:t>
            </a:r>
            <a:r>
              <a:rPr lang="ru-RU" sz="2200" dirty="0" smtClean="0">
                <a:latin typeface="Times New Roman" panose="02020603050405020304" pitchFamily="18" charset="0"/>
                <a:cs typeface="Times New Roman" panose="02020603050405020304" pitchFamily="18" charset="0"/>
              </a:rPr>
              <a:t>элемента, необходимо перейти </a:t>
            </a:r>
            <a:r>
              <a:rPr lang="ru-RU" sz="2200" dirty="0">
                <a:latin typeface="Times New Roman" panose="02020603050405020304" pitchFamily="18" charset="0"/>
                <a:cs typeface="Times New Roman" panose="02020603050405020304" pitchFamily="18" charset="0"/>
              </a:rPr>
              <a:t>от </a:t>
            </a:r>
            <a:r>
              <a:rPr lang="ru-RU" sz="2200" dirty="0" smtClean="0">
                <a:latin typeface="Times New Roman" panose="02020603050405020304" pitchFamily="18" charset="0"/>
                <a:cs typeface="Times New Roman" panose="02020603050405020304" pitchFamily="18" charset="0"/>
              </a:rPr>
              <a:t>заданного </a:t>
            </a:r>
            <a:r>
              <a:rPr lang="ru-RU" sz="2200" dirty="0">
                <a:latin typeface="Times New Roman" panose="02020603050405020304" pitchFamily="18" charset="0"/>
                <a:cs typeface="Times New Roman" panose="02020603050405020304" pitchFamily="18" charset="0"/>
              </a:rPr>
              <a:t>вектора </a:t>
            </a:r>
            <a:r>
              <a:rPr lang="ru-RU" sz="2200" i="1" dirty="0">
                <a:latin typeface="Times New Roman" panose="02020603050405020304" pitchFamily="18" charset="0"/>
                <a:cs typeface="Times New Roman" panose="02020603050405020304" pitchFamily="18" charset="0"/>
              </a:rPr>
              <a:t>b </a:t>
            </a:r>
            <a:r>
              <a:rPr lang="ru-RU" sz="22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b</a:t>
            </a:r>
            <a:r>
              <a:rPr lang="ru-RU" sz="2200" i="1" baseline="-25000" dirty="0">
                <a:latin typeface="Times New Roman" panose="02020603050405020304" pitchFamily="18" charset="0"/>
                <a:cs typeface="Times New Roman" panose="02020603050405020304" pitchFamily="18" charset="0"/>
              </a:rPr>
              <a:t>n</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 . . , b</a:t>
            </a:r>
            <a:r>
              <a:rPr lang="ru-RU" sz="2200" baseline="-25000" dirty="0">
                <a:latin typeface="Times New Roman" panose="02020603050405020304" pitchFamily="18" charset="0"/>
                <a:cs typeface="Times New Roman" panose="02020603050405020304" pitchFamily="18" charset="0"/>
              </a:rPr>
              <a:t>0</a:t>
            </a:r>
            <a:r>
              <a:rPr lang="ru-RU" sz="2200" dirty="0">
                <a:latin typeface="Times New Roman" panose="02020603050405020304" pitchFamily="18" charset="0"/>
                <a:cs typeface="Times New Roman" panose="02020603050405020304" pitchFamily="18" charset="0"/>
              </a:rPr>
              <a:t>)  к непосредственно следующему вектору в лексикографическом </a:t>
            </a:r>
            <a:r>
              <a:rPr lang="ru-RU" sz="2200" dirty="0" smtClean="0">
                <a:latin typeface="Times New Roman" panose="02020603050405020304" pitchFamily="18" charset="0"/>
                <a:cs typeface="Times New Roman" panose="02020603050405020304" pitchFamily="18" charset="0"/>
              </a:rPr>
              <a:t>порядке. Для этого просматривая </a:t>
            </a:r>
            <a:r>
              <a:rPr lang="ru-RU" sz="2200" dirty="0">
                <a:latin typeface="Times New Roman" panose="02020603050405020304" pitchFamily="18" charset="0"/>
                <a:cs typeface="Times New Roman" panose="02020603050405020304" pitchFamily="18" charset="0"/>
              </a:rPr>
              <a:t>справа налево вектор </a:t>
            </a:r>
            <a:r>
              <a:rPr lang="ru-RU" sz="2200" i="1" dirty="0">
                <a:latin typeface="Times New Roman" panose="02020603050405020304" pitchFamily="18" charset="0"/>
                <a:cs typeface="Times New Roman" panose="02020603050405020304" pitchFamily="18" charset="0"/>
              </a:rPr>
              <a:t>b</a:t>
            </a:r>
            <a:r>
              <a:rPr lang="ru-RU" sz="2200"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ищется  самая  правая  позиция  </a:t>
            </a:r>
            <a:r>
              <a:rPr lang="ru-RU" sz="2200" i="1" dirty="0">
                <a:latin typeface="Times New Roman" panose="02020603050405020304" pitchFamily="18" charset="0"/>
                <a:cs typeface="Times New Roman" panose="02020603050405020304" pitchFamily="18" charset="0"/>
              </a:rPr>
              <a:t>i  </a:t>
            </a:r>
            <a:r>
              <a:rPr lang="ru-RU" sz="2200" dirty="0" smtClean="0">
                <a:latin typeface="Times New Roman" panose="02020603050405020304" pitchFamily="18" charset="0"/>
                <a:cs typeface="Times New Roman" panose="02020603050405020304" pitchFamily="18" charset="0"/>
              </a:rPr>
              <a:t>такая,  </a:t>
            </a:r>
            <a:r>
              <a:rPr lang="ru-RU" sz="2200" dirty="0">
                <a:latin typeface="Times New Roman" panose="02020603050405020304" pitchFamily="18" charset="0"/>
                <a:cs typeface="Times New Roman" panose="02020603050405020304" pitchFamily="18" charset="0"/>
              </a:rPr>
              <a:t>что  </a:t>
            </a:r>
            <a:r>
              <a:rPr lang="ru-RU" sz="2200" i="1" dirty="0" err="1">
                <a:latin typeface="Times New Roman" panose="02020603050405020304" pitchFamily="18" charset="0"/>
                <a:cs typeface="Times New Roman" panose="02020603050405020304" pitchFamily="18" charset="0"/>
              </a:rPr>
              <a:t>b</a:t>
            </a:r>
            <a:r>
              <a:rPr lang="ru-RU" sz="2200" i="1" baseline="-25000" dirty="0" err="1">
                <a:latin typeface="Times New Roman" panose="02020603050405020304" pitchFamily="18" charset="0"/>
                <a:cs typeface="Times New Roman" panose="02020603050405020304" pitchFamily="18" charset="0"/>
              </a:rPr>
              <a:t>i</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  0</a:t>
            </a:r>
            <a:r>
              <a:rPr lang="ru-RU" sz="2200" i="1"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В  </a:t>
            </a:r>
            <a:r>
              <a:rPr lang="ru-RU" sz="2200" dirty="0">
                <a:latin typeface="Times New Roman" panose="02020603050405020304" pitchFamily="18" charset="0"/>
                <a:cs typeface="Times New Roman" panose="02020603050405020304" pitchFamily="18" charset="0"/>
              </a:rPr>
              <a:t>эту  </a:t>
            </a:r>
            <a:r>
              <a:rPr lang="ru-RU" sz="2200" i="1" dirty="0">
                <a:latin typeface="Times New Roman" panose="02020603050405020304" pitchFamily="18" charset="0"/>
                <a:cs typeface="Times New Roman" panose="02020603050405020304" pitchFamily="18" charset="0"/>
              </a:rPr>
              <a:t>i</a:t>
            </a:r>
            <a:r>
              <a:rPr lang="ru-RU" sz="2200" dirty="0">
                <a:latin typeface="Times New Roman" panose="02020603050405020304" pitchFamily="18" charset="0"/>
                <a:cs typeface="Times New Roman" panose="02020603050405020304" pitchFamily="18" charset="0"/>
              </a:rPr>
              <a:t>-ю позицию </a:t>
            </a:r>
            <a:r>
              <a:rPr lang="ru-RU" sz="2200" dirty="0" smtClean="0">
                <a:latin typeface="Times New Roman" panose="02020603050405020304" pitchFamily="18" charset="0"/>
                <a:cs typeface="Times New Roman" panose="02020603050405020304" pitchFamily="18" charset="0"/>
              </a:rPr>
              <a:t>записывается </a:t>
            </a:r>
            <a:r>
              <a:rPr lang="ru-RU" sz="2200" dirty="0">
                <a:latin typeface="Times New Roman" panose="02020603050405020304" pitchFamily="18" charset="0"/>
                <a:cs typeface="Times New Roman" panose="02020603050405020304" pitchFamily="18" charset="0"/>
              </a:rPr>
              <a:t>1,  а  все  элементы  </a:t>
            </a:r>
            <a:r>
              <a:rPr lang="ru-RU" sz="2200" i="1" dirty="0" err="1">
                <a:latin typeface="Times New Roman" panose="02020603050405020304" pitchFamily="18" charset="0"/>
                <a:cs typeface="Times New Roman" panose="02020603050405020304" pitchFamily="18" charset="0"/>
              </a:rPr>
              <a:t>b</a:t>
            </a:r>
            <a:r>
              <a:rPr lang="ru-RU" sz="2200" i="1" baseline="-25000" dirty="0" err="1">
                <a:latin typeface="Times New Roman" panose="02020603050405020304" pitchFamily="18" charset="0"/>
                <a:cs typeface="Times New Roman" panose="02020603050405020304" pitchFamily="18" charset="0"/>
              </a:rPr>
              <a:t>j</a:t>
            </a:r>
            <a:r>
              <a:rPr lang="ru-RU" sz="2200" i="1" dirty="0">
                <a:latin typeface="Times New Roman" panose="02020603050405020304" pitchFamily="18" charset="0"/>
                <a:cs typeface="Times New Roman" panose="02020603050405020304" pitchFamily="18" charset="0"/>
              </a:rPr>
              <a:t>, j  </a:t>
            </a:r>
            <a:r>
              <a:rPr lang="en-US" sz="2200" i="1" dirty="0">
                <a:latin typeface="Times New Roman" panose="02020603050405020304" pitchFamily="18" charset="0"/>
                <a:cs typeface="Times New Roman" panose="02020603050405020304" pitchFamily="18" charset="0"/>
              </a:rPr>
              <a:t>&gt;</a:t>
            </a:r>
            <a:r>
              <a:rPr lang="ru-RU" sz="2200" i="1" dirty="0" smtClean="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i</a:t>
            </a:r>
            <a:r>
              <a:rPr lang="ru-RU" sz="2200" dirty="0">
                <a:latin typeface="Times New Roman" panose="02020603050405020304" pitchFamily="18" charset="0"/>
                <a:cs typeface="Times New Roman" panose="02020603050405020304" pitchFamily="18" charset="0"/>
              </a:rPr>
              <a:t>,  стоящие  справа  от  </a:t>
            </a:r>
            <a:r>
              <a:rPr lang="ru-RU" sz="2200" i="1" dirty="0" err="1">
                <a:latin typeface="Times New Roman" panose="02020603050405020304" pitchFamily="18" charset="0"/>
                <a:cs typeface="Times New Roman" panose="02020603050405020304" pitchFamily="18" charset="0"/>
              </a:rPr>
              <a:t>b</a:t>
            </a:r>
            <a:r>
              <a:rPr lang="ru-RU" sz="2200" i="1" baseline="-25000" dirty="0" err="1">
                <a:latin typeface="Times New Roman" panose="02020603050405020304" pitchFamily="18" charset="0"/>
                <a:cs typeface="Times New Roman" panose="02020603050405020304" pitchFamily="18" charset="0"/>
              </a:rPr>
              <a:t>i</a:t>
            </a:r>
            <a:r>
              <a:rPr lang="ru-RU" sz="2200" dirty="0">
                <a:latin typeface="Times New Roman" panose="02020603050405020304" pitchFamily="18" charset="0"/>
                <a:cs typeface="Times New Roman" panose="02020603050405020304" pitchFamily="18" charset="0"/>
              </a:rPr>
              <a:t>,  </a:t>
            </a:r>
            <a:r>
              <a:rPr lang="ru-RU" sz="2200" dirty="0" smtClean="0">
                <a:latin typeface="Times New Roman" panose="02020603050405020304" pitchFamily="18" charset="0"/>
                <a:cs typeface="Times New Roman" panose="02020603050405020304" pitchFamily="18" charset="0"/>
              </a:rPr>
              <a:t>становятся </a:t>
            </a:r>
            <a:r>
              <a:rPr lang="ru-RU" sz="2200" dirty="0">
                <a:latin typeface="Times New Roman" panose="02020603050405020304" pitchFamily="18" charset="0"/>
                <a:cs typeface="Times New Roman" panose="02020603050405020304" pitchFamily="18" charset="0"/>
              </a:rPr>
              <a:t>равными 0. </a:t>
            </a:r>
            <a:r>
              <a:rPr lang="ru-RU" sz="2200" dirty="0" smtClean="0">
                <a:latin typeface="Times New Roman" panose="02020603050405020304" pitchFamily="18" charset="0"/>
                <a:cs typeface="Times New Roman" panose="02020603050405020304" pitchFamily="18" charset="0"/>
              </a:rPr>
              <a:t>Получается </a:t>
            </a:r>
            <a:r>
              <a:rPr lang="ru-RU" sz="2200" dirty="0">
                <a:latin typeface="Times New Roman" panose="02020603050405020304" pitchFamily="18" charset="0"/>
                <a:cs typeface="Times New Roman" panose="02020603050405020304" pitchFamily="18" charset="0"/>
              </a:rPr>
              <a:t>требуемый вектор.</a:t>
            </a:r>
          </a:p>
          <a:p>
            <a:r>
              <a:rPr lang="ru-RU" sz="2200" b="1" dirty="0" smtClean="0">
                <a:latin typeface="Times New Roman" panose="02020603050405020304" pitchFamily="18" charset="0"/>
                <a:cs typeface="Times New Roman" panose="02020603050405020304" pitchFamily="18" charset="0"/>
              </a:rPr>
              <a:t>Пример.  </a:t>
            </a:r>
            <a:r>
              <a:rPr lang="ru-RU" sz="2200" dirty="0">
                <a:latin typeface="Times New Roman" panose="02020603050405020304" pitchFamily="18" charset="0"/>
                <a:cs typeface="Times New Roman" panose="02020603050405020304" pitchFamily="18" charset="0"/>
              </a:rPr>
              <a:t>Генерация  двоичных  векторов  </a:t>
            </a:r>
            <a:r>
              <a:rPr lang="ru-RU" sz="2200" i="1" dirty="0" err="1">
                <a:latin typeface="Times New Roman" panose="02020603050405020304" pitchFamily="18" charset="0"/>
                <a:cs typeface="Times New Roman" panose="02020603050405020304" pitchFamily="18" charset="0"/>
              </a:rPr>
              <a:t>b</a:t>
            </a:r>
            <a:r>
              <a:rPr lang="ru-RU" sz="2200" i="1" baseline="-25000" dirty="0" err="1">
                <a:latin typeface="Times New Roman" panose="02020603050405020304" pitchFamily="18" charset="0"/>
                <a:cs typeface="Times New Roman" panose="02020603050405020304" pitchFamily="18" charset="0"/>
              </a:rPr>
              <a:t>i</a:t>
            </a:r>
            <a:r>
              <a:rPr lang="ru-RU" sz="2200" i="1" baseline="-250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длины  </a:t>
            </a:r>
            <a:r>
              <a:rPr lang="ru-RU" sz="2200" i="1" dirty="0">
                <a:latin typeface="Times New Roman" panose="02020603050405020304" pitchFamily="18" charset="0"/>
                <a:cs typeface="Times New Roman" panose="02020603050405020304" pitchFamily="18" charset="0"/>
              </a:rPr>
              <a:t>n  </a:t>
            </a:r>
            <a:r>
              <a:rPr lang="ru-RU" sz="2200" dirty="0">
                <a:latin typeface="Times New Roman" panose="02020603050405020304" pitchFamily="18" charset="0"/>
                <a:cs typeface="Times New Roman" panose="02020603050405020304" pitchFamily="18" charset="0"/>
              </a:rPr>
              <a:t>=  3  и  </a:t>
            </a:r>
            <a:r>
              <a:rPr lang="ru-RU" sz="2200" dirty="0" smtClean="0">
                <a:latin typeface="Times New Roman" panose="02020603050405020304" pitchFamily="18" charset="0"/>
                <a:cs typeface="Times New Roman" panose="02020603050405020304" pitchFamily="18" charset="0"/>
              </a:rPr>
              <a:t>подмножеств </a:t>
            </a:r>
            <a:r>
              <a:rPr lang="ru-RU" sz="2200" i="1" dirty="0" err="1">
                <a:latin typeface="Times New Roman" panose="02020603050405020304" pitchFamily="18" charset="0"/>
                <a:cs typeface="Times New Roman" panose="02020603050405020304" pitchFamily="18" charset="0"/>
              </a:rPr>
              <a:t>B</a:t>
            </a:r>
            <a:r>
              <a:rPr lang="ru-RU" sz="2200" i="1" baseline="-25000" dirty="0" err="1">
                <a:latin typeface="Times New Roman" panose="02020603050405020304" pitchFamily="18" charset="0"/>
                <a:cs typeface="Times New Roman" panose="02020603050405020304" pitchFamily="18" charset="0"/>
              </a:rPr>
              <a:t>i</a:t>
            </a:r>
            <a:r>
              <a:rPr lang="ru-RU" sz="2200" i="1" baseline="30000"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множества </a:t>
            </a:r>
            <a:r>
              <a:rPr lang="ru-RU" sz="2200" i="1" dirty="0">
                <a:latin typeface="Times New Roman" panose="02020603050405020304" pitchFamily="18" charset="0"/>
                <a:cs typeface="Times New Roman" panose="02020603050405020304" pitchFamily="18" charset="0"/>
              </a:rPr>
              <a:t>A </a:t>
            </a:r>
            <a:r>
              <a:rPr lang="ru-RU" sz="22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a</a:t>
            </a:r>
            <a:r>
              <a:rPr lang="ru-RU" sz="2200" baseline="-25000" dirty="0">
                <a:latin typeface="Times New Roman" panose="02020603050405020304" pitchFamily="18" charset="0"/>
                <a:cs typeface="Times New Roman" panose="02020603050405020304" pitchFamily="18" charset="0"/>
              </a:rPr>
              <a:t>0</a:t>
            </a:r>
            <a:r>
              <a:rPr lang="ru-RU" sz="2200" i="1" dirty="0">
                <a:latin typeface="Times New Roman" panose="02020603050405020304" pitchFamily="18" charset="0"/>
                <a:cs typeface="Times New Roman" panose="02020603050405020304" pitchFamily="18" charset="0"/>
              </a:rPr>
              <a:t>, a</a:t>
            </a:r>
            <a:r>
              <a:rPr lang="ru-RU" sz="2200" baseline="-250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a</a:t>
            </a:r>
            <a:r>
              <a:rPr lang="ru-RU" sz="2200" baseline="-25000" dirty="0">
                <a:latin typeface="Times New Roman" panose="02020603050405020304" pitchFamily="18" charset="0"/>
                <a:cs typeface="Times New Roman" panose="02020603050405020304" pitchFamily="18" charset="0"/>
              </a:rPr>
              <a:t>2</a:t>
            </a:r>
            <a:r>
              <a:rPr lang="ru-RU" sz="2200" dirty="0">
                <a:latin typeface="Times New Roman" panose="02020603050405020304" pitchFamily="18" charset="0"/>
                <a:cs typeface="Times New Roman" panose="02020603050405020304" pitchFamily="18" charset="0"/>
              </a:rPr>
              <a:t>}, </a:t>
            </a:r>
            <a:r>
              <a:rPr lang="ru-RU" sz="2200" i="1" dirty="0">
                <a:latin typeface="Times New Roman" panose="02020603050405020304" pitchFamily="18" charset="0"/>
                <a:cs typeface="Times New Roman" panose="02020603050405020304" pitchFamily="18" charset="0"/>
              </a:rPr>
              <a:t>i </a:t>
            </a:r>
            <a:r>
              <a:rPr lang="ru-RU" sz="2200" dirty="0">
                <a:latin typeface="Times New Roman" panose="02020603050405020304" pitchFamily="18" charset="0"/>
                <a:cs typeface="Times New Roman" panose="02020603050405020304" pitchFamily="18" charset="0"/>
              </a:rPr>
              <a:t>= 1</a:t>
            </a:r>
            <a:r>
              <a:rPr lang="ru-RU" sz="2200" i="1" dirty="0">
                <a:latin typeface="Times New Roman" panose="02020603050405020304" pitchFamily="18" charset="0"/>
                <a:cs typeface="Times New Roman" panose="02020603050405020304" pitchFamily="18" charset="0"/>
              </a:rPr>
              <a:t>, . . . , </a:t>
            </a:r>
            <a:r>
              <a:rPr lang="ru-RU" sz="2200" dirty="0">
                <a:latin typeface="Times New Roman" panose="02020603050405020304" pitchFamily="18" charset="0"/>
                <a:cs typeface="Times New Roman" panose="02020603050405020304" pitchFamily="18" charset="0"/>
              </a:rPr>
              <a:t>8.</a:t>
            </a:r>
          </a:p>
          <a:p>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 (0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0), </a:t>
            </a:r>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 </a:t>
            </a:r>
            <a:r>
              <a:rPr lang="en-US" sz="2200" dirty="0" smtClean="0">
                <a:latin typeface="Times New Roman" panose="02020603050405020304" pitchFamily="18" charset="0"/>
                <a:cs typeface="Times New Roman" panose="02020603050405020304" pitchFamily="18" charset="0"/>
              </a:rPr>
              <a:t>Ø;</a:t>
            </a:r>
            <a:endParaRPr lang="ru-RU" sz="2200" dirty="0">
              <a:latin typeface="Times New Roman" panose="02020603050405020304" pitchFamily="18" charset="0"/>
              <a:cs typeface="Times New Roman" panose="02020603050405020304" pitchFamily="18" charset="0"/>
            </a:endParaRPr>
          </a:p>
          <a:p>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 (0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 </a:t>
            </a:r>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a</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 (0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0), </a:t>
            </a:r>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a</a:t>
            </a:r>
            <a:r>
              <a:rPr lang="en-US" sz="2200" baseline="-25000" dirty="0">
                <a:latin typeface="Times New Roman" panose="02020603050405020304" pitchFamily="18" charset="0"/>
                <a:cs typeface="Times New Roman" panose="02020603050405020304" pitchFamily="18" charset="0"/>
              </a:rPr>
              <a:t>1</a:t>
            </a:r>
            <a:r>
              <a:rPr lang="en-US" sz="2200" dirty="0" smtClean="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4</a:t>
            </a:r>
            <a:r>
              <a:rPr lang="en-US" sz="2200" dirty="0">
                <a:latin typeface="Times New Roman" panose="02020603050405020304" pitchFamily="18" charset="0"/>
                <a:cs typeface="Times New Roman" panose="02020603050405020304" pitchFamily="18" charset="0"/>
              </a:rPr>
              <a:t> = (0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 </a:t>
            </a:r>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4</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a</a:t>
            </a:r>
            <a:r>
              <a:rPr lang="en-US" sz="2200" baseline="-25000" dirty="0">
                <a:latin typeface="Times New Roman" panose="02020603050405020304" pitchFamily="18" charset="0"/>
                <a:cs typeface="Times New Roman" panose="02020603050405020304" pitchFamily="18" charset="0"/>
              </a:rPr>
              <a:t>1</a:t>
            </a:r>
            <a:r>
              <a:rPr lang="en-US" sz="2200" i="1" dirty="0">
                <a:latin typeface="Times New Roman" panose="02020603050405020304" pitchFamily="18" charset="0"/>
                <a:cs typeface="Times New Roman" panose="02020603050405020304" pitchFamily="18" charset="0"/>
              </a:rPr>
              <a:t>, a</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5</a:t>
            </a:r>
            <a:r>
              <a:rPr lang="en-US" sz="2200" dirty="0">
                <a:latin typeface="Times New Roman" panose="02020603050405020304" pitchFamily="18" charset="0"/>
                <a:cs typeface="Times New Roman" panose="02020603050405020304" pitchFamily="18" charset="0"/>
              </a:rPr>
              <a:t> = (1</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0), </a:t>
            </a:r>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5</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a</a:t>
            </a:r>
            <a:r>
              <a:rPr lang="en-US" sz="2200" baseline="-25000" dirty="0">
                <a:latin typeface="Times New Roman" panose="02020603050405020304" pitchFamily="18" charset="0"/>
                <a:cs typeface="Times New Roman" panose="02020603050405020304" pitchFamily="18" charset="0"/>
              </a:rPr>
              <a:t>0</a:t>
            </a:r>
            <a:r>
              <a:rPr lang="en-US" sz="2200" dirty="0" smtClean="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6</a:t>
            </a:r>
            <a:r>
              <a:rPr lang="en-US" sz="2200" dirty="0">
                <a:latin typeface="Times New Roman" panose="02020603050405020304" pitchFamily="18" charset="0"/>
                <a:cs typeface="Times New Roman" panose="02020603050405020304" pitchFamily="18" charset="0"/>
              </a:rPr>
              <a:t> = (1</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0</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 </a:t>
            </a:r>
            <a:r>
              <a:rPr lang="en-US" sz="2200" i="1" dirty="0">
                <a:latin typeface="Times New Roman" panose="02020603050405020304" pitchFamily="18" charset="0"/>
                <a:cs typeface="Times New Roman" panose="02020603050405020304" pitchFamily="18" charset="0"/>
              </a:rPr>
              <a:t>B</a:t>
            </a:r>
            <a:r>
              <a:rPr lang="en-US" sz="2200" baseline="-25000" dirty="0">
                <a:latin typeface="Times New Roman" panose="02020603050405020304" pitchFamily="18" charset="0"/>
                <a:cs typeface="Times New Roman" panose="02020603050405020304" pitchFamily="18" charset="0"/>
              </a:rPr>
              <a:t>6</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a</a:t>
            </a:r>
            <a:r>
              <a:rPr lang="en-US" sz="2200" baseline="-25000" dirty="0">
                <a:latin typeface="Times New Roman" panose="02020603050405020304" pitchFamily="18" charset="0"/>
                <a:cs typeface="Times New Roman" panose="02020603050405020304" pitchFamily="18" charset="0"/>
              </a:rPr>
              <a:t>0</a:t>
            </a:r>
            <a:r>
              <a:rPr lang="en-US" sz="2200" i="1" dirty="0">
                <a:latin typeface="Times New Roman" panose="02020603050405020304" pitchFamily="18" charset="0"/>
                <a:cs typeface="Times New Roman" panose="02020603050405020304" pitchFamily="18" charset="0"/>
              </a:rPr>
              <a:t>, a</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r>
              <a:rPr lang="ru-RU" sz="2200" i="1" dirty="0">
                <a:latin typeface="Times New Roman" panose="02020603050405020304" pitchFamily="18" charset="0"/>
                <a:cs typeface="Times New Roman" panose="02020603050405020304" pitchFamily="18" charset="0"/>
              </a:rPr>
              <a:t>b</a:t>
            </a:r>
            <a:r>
              <a:rPr lang="ru-RU" sz="2200" baseline="-25000" dirty="0">
                <a:latin typeface="Times New Roman" panose="02020603050405020304" pitchFamily="18" charset="0"/>
                <a:cs typeface="Times New Roman" panose="02020603050405020304" pitchFamily="18" charset="0"/>
              </a:rPr>
              <a:t>7</a:t>
            </a:r>
            <a:r>
              <a:rPr lang="ru-RU" sz="2200" dirty="0">
                <a:latin typeface="Times New Roman" panose="02020603050405020304" pitchFamily="18" charset="0"/>
                <a:cs typeface="Times New Roman" panose="02020603050405020304" pitchFamily="18" charset="0"/>
              </a:rPr>
              <a:t> = (1</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0), </a:t>
            </a:r>
            <a:r>
              <a:rPr lang="ru-RU" sz="2200" i="1" dirty="0">
                <a:latin typeface="Times New Roman" panose="02020603050405020304" pitchFamily="18" charset="0"/>
                <a:cs typeface="Times New Roman" panose="02020603050405020304" pitchFamily="18" charset="0"/>
              </a:rPr>
              <a:t>B</a:t>
            </a:r>
            <a:r>
              <a:rPr lang="ru-RU" sz="2200" baseline="-25000" dirty="0">
                <a:latin typeface="Times New Roman" panose="02020603050405020304" pitchFamily="18" charset="0"/>
                <a:cs typeface="Times New Roman" panose="02020603050405020304" pitchFamily="18" charset="0"/>
              </a:rPr>
              <a:t>7</a:t>
            </a:r>
            <a:r>
              <a:rPr lang="ru-RU" sz="2200" dirty="0">
                <a:latin typeface="Times New Roman" panose="02020603050405020304" pitchFamily="18" charset="0"/>
                <a:cs typeface="Times New Roman" panose="02020603050405020304" pitchFamily="18" charset="0"/>
              </a:rPr>
              <a:t> = {</a:t>
            </a:r>
            <a:r>
              <a:rPr lang="ru-RU" sz="2200" i="1" dirty="0">
                <a:latin typeface="Times New Roman" panose="02020603050405020304" pitchFamily="18" charset="0"/>
                <a:cs typeface="Times New Roman" panose="02020603050405020304" pitchFamily="18" charset="0"/>
              </a:rPr>
              <a:t>a</a:t>
            </a:r>
            <a:r>
              <a:rPr lang="ru-RU" sz="2200" baseline="-25000" dirty="0">
                <a:latin typeface="Times New Roman" panose="02020603050405020304" pitchFamily="18" charset="0"/>
                <a:cs typeface="Times New Roman" panose="02020603050405020304" pitchFamily="18" charset="0"/>
              </a:rPr>
              <a:t>0</a:t>
            </a:r>
            <a:r>
              <a:rPr lang="ru-RU" sz="2200" i="1" dirty="0">
                <a:latin typeface="Times New Roman" panose="02020603050405020304" pitchFamily="18" charset="0"/>
                <a:cs typeface="Times New Roman" panose="02020603050405020304" pitchFamily="18" charset="0"/>
              </a:rPr>
              <a:t>, </a:t>
            </a:r>
            <a:r>
              <a:rPr lang="ru-RU" sz="2200" i="1" dirty="0" smtClean="0">
                <a:latin typeface="Times New Roman" panose="02020603050405020304" pitchFamily="18" charset="0"/>
                <a:cs typeface="Times New Roman" panose="02020603050405020304" pitchFamily="18" charset="0"/>
              </a:rPr>
              <a:t>a</a:t>
            </a:r>
            <a:r>
              <a:rPr lang="ru-RU" sz="2200" baseline="-25000" dirty="0" smtClean="0">
                <a:latin typeface="Times New Roman" panose="02020603050405020304" pitchFamily="18" charset="0"/>
                <a:cs typeface="Times New Roman" panose="02020603050405020304" pitchFamily="18" charset="0"/>
              </a:rPr>
              <a:t>1</a:t>
            </a:r>
            <a:r>
              <a:rPr lang="ru-RU" sz="2200" dirty="0" smtClean="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r>
              <a:rPr lang="ru-RU" sz="2200" i="1" dirty="0">
                <a:latin typeface="Times New Roman" panose="02020603050405020304" pitchFamily="18" charset="0"/>
                <a:cs typeface="Times New Roman" panose="02020603050405020304" pitchFamily="18" charset="0"/>
              </a:rPr>
              <a:t>b</a:t>
            </a:r>
            <a:r>
              <a:rPr lang="ru-RU" sz="2200" baseline="-25000" dirty="0">
                <a:latin typeface="Times New Roman" panose="02020603050405020304" pitchFamily="18" charset="0"/>
                <a:cs typeface="Times New Roman" panose="02020603050405020304" pitchFamily="18" charset="0"/>
              </a:rPr>
              <a:t>8</a:t>
            </a:r>
            <a:r>
              <a:rPr lang="ru-RU" sz="2200" dirty="0">
                <a:latin typeface="Times New Roman" panose="02020603050405020304" pitchFamily="18" charset="0"/>
                <a:cs typeface="Times New Roman" panose="02020603050405020304" pitchFamily="18" charset="0"/>
              </a:rPr>
              <a:t> = (1</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1</a:t>
            </a:r>
            <a:r>
              <a:rPr lang="ru-RU" sz="2200" i="1" dirty="0">
                <a:latin typeface="Times New Roman" panose="02020603050405020304" pitchFamily="18" charset="0"/>
                <a:cs typeface="Times New Roman" panose="02020603050405020304" pitchFamily="18" charset="0"/>
              </a:rPr>
              <a:t>, </a:t>
            </a:r>
            <a:r>
              <a:rPr lang="ru-RU" sz="2200" dirty="0">
                <a:latin typeface="Times New Roman" panose="02020603050405020304" pitchFamily="18" charset="0"/>
                <a:cs typeface="Times New Roman" panose="02020603050405020304" pitchFamily="18" charset="0"/>
              </a:rPr>
              <a:t>1), </a:t>
            </a:r>
            <a:r>
              <a:rPr lang="ru-RU" sz="2200" i="1" dirty="0">
                <a:latin typeface="Times New Roman" panose="02020603050405020304" pitchFamily="18" charset="0"/>
                <a:cs typeface="Times New Roman" panose="02020603050405020304" pitchFamily="18" charset="0"/>
              </a:rPr>
              <a:t>B</a:t>
            </a:r>
            <a:r>
              <a:rPr lang="ru-RU" sz="2200" baseline="-25000" dirty="0">
                <a:latin typeface="Times New Roman" panose="02020603050405020304" pitchFamily="18" charset="0"/>
                <a:cs typeface="Times New Roman" panose="02020603050405020304" pitchFamily="18" charset="0"/>
              </a:rPr>
              <a:t>8</a:t>
            </a:r>
            <a:r>
              <a:rPr lang="ru-RU" sz="2200" dirty="0">
                <a:latin typeface="Times New Roman" panose="02020603050405020304" pitchFamily="18" charset="0"/>
                <a:cs typeface="Times New Roman" panose="02020603050405020304" pitchFamily="18" charset="0"/>
              </a:rPr>
              <a:t> = </a:t>
            </a:r>
            <a:r>
              <a:rPr lang="ru-RU" sz="2200" i="1" dirty="0" smtClean="0">
                <a:latin typeface="Times New Roman" panose="02020603050405020304" pitchFamily="18" charset="0"/>
                <a:cs typeface="Times New Roman" panose="02020603050405020304" pitchFamily="18" charset="0"/>
              </a:rPr>
              <a:t>A</a:t>
            </a:r>
            <a:r>
              <a:rPr lang="ru-RU" sz="2200" dirty="0" smtClean="0">
                <a:latin typeface="Times New Roman" panose="02020603050405020304" pitchFamily="18" charset="0"/>
                <a:cs typeface="Times New Roman" panose="02020603050405020304" pitchFamily="18" charset="0"/>
              </a:rPr>
              <a:t>.</a:t>
            </a: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13</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5373300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321329"/>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Код Грея</a:t>
            </a:r>
          </a:p>
          <a:p>
            <a:pPr marL="358775" indent="-358775" algn="just"/>
            <a:r>
              <a:rPr lang="ru-RU" sz="2300" dirty="0" smtClean="0">
                <a:latin typeface="Times New Roman" panose="02020603050405020304" pitchFamily="18" charset="0"/>
                <a:cs typeface="Times New Roman" panose="02020603050405020304" pitchFamily="18" charset="0"/>
              </a:rPr>
              <a:t>Генерация </a:t>
            </a:r>
            <a:r>
              <a:rPr lang="ru-RU" sz="2300" dirty="0">
                <a:latin typeface="Times New Roman" panose="02020603050405020304" pitchFamily="18" charset="0"/>
                <a:cs typeface="Times New Roman" panose="02020603050405020304" pitchFamily="18" charset="0"/>
              </a:rPr>
              <a:t>всех </a:t>
            </a:r>
            <a:r>
              <a:rPr lang="ru-RU" sz="2300" i="1" dirty="0" smtClean="0">
                <a:latin typeface="Times New Roman" panose="02020603050405020304" pitchFamily="18" charset="0"/>
                <a:cs typeface="Times New Roman" panose="02020603050405020304" pitchFamily="18" charset="0"/>
              </a:rPr>
              <a:t>n</a:t>
            </a:r>
            <a:r>
              <a:rPr lang="ru-RU" sz="2300" dirty="0" smtClean="0">
                <a:latin typeface="Times New Roman" panose="02020603050405020304" pitchFamily="18" charset="0"/>
                <a:cs typeface="Times New Roman" panose="02020603050405020304" pitchFamily="18" charset="0"/>
              </a:rPr>
              <a:t>-разрядных </a:t>
            </a:r>
            <a:r>
              <a:rPr lang="ru-RU" sz="2300" dirty="0">
                <a:latin typeface="Times New Roman" panose="02020603050405020304" pitchFamily="18" charset="0"/>
                <a:cs typeface="Times New Roman" panose="02020603050405020304" pitchFamily="18" charset="0"/>
              </a:rPr>
              <a:t>двоичных векторов в порядке минимального </a:t>
            </a:r>
            <a:r>
              <a:rPr lang="ru-RU" sz="2300" dirty="0" smtClean="0">
                <a:latin typeface="Times New Roman" panose="02020603050405020304" pitchFamily="18" charset="0"/>
                <a:cs typeface="Times New Roman" panose="02020603050405020304" pitchFamily="18" charset="0"/>
              </a:rPr>
              <a:t>изменения.</a:t>
            </a:r>
          </a:p>
          <a:p>
            <a:pPr marL="358775" indent="-358775" algn="just"/>
            <a:r>
              <a:rPr lang="ru-RU" sz="2300" dirty="0">
                <a:latin typeface="Times New Roman" panose="02020603050405020304" pitchFamily="18" charset="0"/>
                <a:cs typeface="Times New Roman" panose="02020603050405020304" pitchFamily="18" charset="0"/>
              </a:rPr>
              <a:t>Так как минимальные изменения при переходе от одного множества к другому соответствуют добавлению или удалению ровно одного элемента, а в терминах двоичных векторов это означает, что последовательные векторы должны отличаться в одном разряде. </a:t>
            </a:r>
            <a:r>
              <a:rPr lang="ru-RU" sz="2300" dirty="0" smtClean="0">
                <a:latin typeface="Times New Roman" panose="02020603050405020304" pitchFamily="18" charset="0"/>
                <a:cs typeface="Times New Roman" panose="02020603050405020304" pitchFamily="18" charset="0"/>
              </a:rPr>
              <a:t>Такие </a:t>
            </a:r>
            <a:r>
              <a:rPr lang="ru-RU" sz="2300" dirty="0">
                <a:latin typeface="Times New Roman" panose="02020603050405020304" pitchFamily="18" charset="0"/>
                <a:cs typeface="Times New Roman" panose="02020603050405020304" pitchFamily="18" charset="0"/>
              </a:rPr>
              <a:t>наборы двоичных векторов известны как коды Грея</a:t>
            </a:r>
            <a:r>
              <a:rPr lang="ru-RU" sz="2300" dirty="0" smtClean="0">
                <a:latin typeface="Times New Roman" panose="02020603050405020304" pitchFamily="18" charset="0"/>
                <a:cs typeface="Times New Roman" panose="02020603050405020304" pitchFamily="18" charset="0"/>
              </a:rPr>
              <a:t>.</a:t>
            </a:r>
          </a:p>
          <a:p>
            <a:pPr marL="358775" indent="-358775" algn="just"/>
            <a:r>
              <a:rPr lang="ru-RU" sz="2300" b="1" dirty="0" smtClean="0">
                <a:latin typeface="Times New Roman" panose="02020603050405020304" pitchFamily="18" charset="0"/>
                <a:cs typeface="Times New Roman" panose="02020603050405020304" pitchFamily="18" charset="0"/>
              </a:rPr>
              <a:t>Определение. </a:t>
            </a:r>
            <a:r>
              <a:rPr lang="ru-RU" sz="2300" i="1" dirty="0">
                <a:latin typeface="Times New Roman" panose="02020603050405020304" pitchFamily="18" charset="0"/>
                <a:cs typeface="Times New Roman" panose="02020603050405020304" pitchFamily="18" charset="0"/>
              </a:rPr>
              <a:t>n-разрядным кодом Грея </a:t>
            </a:r>
            <a:r>
              <a:rPr lang="ru-RU" sz="2300" dirty="0">
                <a:latin typeface="Times New Roman" panose="02020603050405020304" pitchFamily="18" charset="0"/>
                <a:cs typeface="Times New Roman" panose="02020603050405020304" pitchFamily="18" charset="0"/>
              </a:rPr>
              <a:t>называется </a:t>
            </a:r>
            <a:r>
              <a:rPr lang="ru-RU" sz="2300" dirty="0" smtClean="0">
                <a:latin typeface="Times New Roman" panose="02020603050405020304" pitchFamily="18" charset="0"/>
                <a:cs typeface="Times New Roman" panose="02020603050405020304" pitchFamily="18" charset="0"/>
              </a:rPr>
              <a:t>упорядоченная </a:t>
            </a:r>
            <a:r>
              <a:rPr lang="ru-RU" sz="2300" dirty="0">
                <a:latin typeface="Times New Roman" panose="02020603050405020304" pitchFamily="18" charset="0"/>
                <a:cs typeface="Times New Roman" panose="02020603050405020304" pitchFamily="18" charset="0"/>
              </a:rPr>
              <a:t>последовательность </a:t>
            </a:r>
            <a:r>
              <a:rPr lang="ru-RU" sz="2300" dirty="0" smtClean="0">
                <a:latin typeface="Times New Roman" panose="02020603050405020304" pitchFamily="18" charset="0"/>
                <a:cs typeface="Times New Roman" panose="02020603050405020304" pitchFamily="18" charset="0"/>
              </a:rPr>
              <a:t>2</a:t>
            </a:r>
            <a:r>
              <a:rPr lang="ru-RU" sz="2300" i="1" baseline="30000" dirty="0" smtClean="0">
                <a:latin typeface="Times New Roman" panose="02020603050405020304" pitchFamily="18" charset="0"/>
                <a:cs typeface="Times New Roman" panose="02020603050405020304" pitchFamily="18" charset="0"/>
              </a:rPr>
              <a:t>n</a:t>
            </a:r>
            <a:r>
              <a:rPr lang="ru-RU" sz="2300" i="1" dirty="0" smtClean="0">
                <a:latin typeface="Times New Roman" panose="02020603050405020304" pitchFamily="18" charset="0"/>
                <a:cs typeface="Times New Roman" panose="02020603050405020304" pitchFamily="18" charset="0"/>
              </a:rPr>
              <a:t> </a:t>
            </a:r>
            <a:r>
              <a:rPr lang="ru-RU" sz="2300" dirty="0">
                <a:latin typeface="Times New Roman" panose="02020603050405020304" pitchFamily="18" charset="0"/>
                <a:cs typeface="Times New Roman" panose="02020603050405020304" pitchFamily="18" charset="0"/>
              </a:rPr>
              <a:t>различных двоичных </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-разрядных </a:t>
            </a:r>
            <a:r>
              <a:rPr lang="ru-RU" sz="2300" dirty="0" smtClean="0">
                <a:latin typeface="Times New Roman" panose="02020603050405020304" pitchFamily="18" charset="0"/>
                <a:cs typeface="Times New Roman" panose="02020603050405020304" pitchFamily="18" charset="0"/>
              </a:rPr>
              <a:t>векторов </a:t>
            </a:r>
            <a:r>
              <a:rPr lang="ru-RU" sz="2300" dirty="0">
                <a:latin typeface="Times New Roman" panose="02020603050405020304" pitchFamily="18" charset="0"/>
                <a:cs typeface="Times New Roman" panose="02020603050405020304" pitchFamily="18" charset="0"/>
              </a:rPr>
              <a:t>(</a:t>
            </a:r>
            <a:r>
              <a:rPr lang="ru-RU" sz="2300" i="1" dirty="0">
                <a:latin typeface="Times New Roman" panose="02020603050405020304" pitchFamily="18" charset="0"/>
                <a:cs typeface="Times New Roman" panose="02020603050405020304" pitchFamily="18" charset="0"/>
              </a:rPr>
              <a:t>кодовых слов</a:t>
            </a:r>
            <a:r>
              <a:rPr lang="ru-RU" sz="2300" dirty="0">
                <a:latin typeface="Times New Roman" panose="02020603050405020304" pitchFamily="18" charset="0"/>
                <a:cs typeface="Times New Roman" panose="02020603050405020304" pitchFamily="18" charset="0"/>
              </a:rPr>
              <a:t>), последовательные векторы </a:t>
            </a:r>
            <a:r>
              <a:rPr lang="ru-RU" sz="2300" dirty="0" smtClean="0">
                <a:latin typeface="Times New Roman" panose="02020603050405020304" pitchFamily="18" charset="0"/>
                <a:cs typeface="Times New Roman" panose="02020603050405020304" pitchFamily="18" charset="0"/>
              </a:rPr>
              <a:t>которой, </a:t>
            </a:r>
            <a:r>
              <a:rPr lang="ru-RU" sz="2300" dirty="0">
                <a:latin typeface="Times New Roman" panose="02020603050405020304" pitchFamily="18" charset="0"/>
                <a:cs typeface="Times New Roman" panose="02020603050405020304" pitchFamily="18" charset="0"/>
              </a:rPr>
              <a:t>различаются в одном разряде. Код Грея называется </a:t>
            </a:r>
            <a:r>
              <a:rPr lang="ru-RU" sz="2300" i="1" dirty="0">
                <a:latin typeface="Times New Roman" panose="02020603050405020304" pitchFamily="18" charset="0"/>
                <a:cs typeface="Times New Roman" panose="02020603050405020304" pitchFamily="18" charset="0"/>
              </a:rPr>
              <a:t>циклическим</a:t>
            </a:r>
            <a:r>
              <a:rPr lang="ru-RU" sz="2300" dirty="0">
                <a:latin typeface="Times New Roman" panose="02020603050405020304" pitchFamily="18" charset="0"/>
                <a:cs typeface="Times New Roman" panose="02020603050405020304" pitchFamily="18" charset="0"/>
              </a:rPr>
              <a:t>, если его первый и последний векторы также различаются в одном разряде.</a:t>
            </a:r>
          </a:p>
          <a:p>
            <a:pPr marL="358775" indent="-358775" algn="just"/>
            <a:r>
              <a:rPr lang="ru-RU" sz="2300" dirty="0">
                <a:latin typeface="Times New Roman" panose="02020603050405020304" pitchFamily="18" charset="0"/>
                <a:cs typeface="Times New Roman" panose="02020603050405020304" pitchFamily="18" charset="0"/>
              </a:rPr>
              <a:t>В этих терминах задача генерации всех </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-разрядных двоичных </a:t>
            </a:r>
            <a:r>
              <a:rPr lang="ru-RU" sz="2300" dirty="0" smtClean="0">
                <a:latin typeface="Times New Roman" panose="02020603050405020304" pitchFamily="18" charset="0"/>
                <a:cs typeface="Times New Roman" panose="02020603050405020304" pitchFamily="18" charset="0"/>
              </a:rPr>
              <a:t>векторов </a:t>
            </a:r>
            <a:r>
              <a:rPr lang="ru-RU" sz="2300" dirty="0">
                <a:latin typeface="Times New Roman" panose="02020603050405020304" pitchFamily="18" charset="0"/>
                <a:cs typeface="Times New Roman" panose="02020603050405020304" pitchFamily="18" charset="0"/>
              </a:rPr>
              <a:t>в порядке минимального изменения есть задача построения </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 разрядного кода Грея. </a:t>
            </a:r>
            <a:endParaRPr lang="ru-RU" sz="2300" dirty="0" smtClean="0">
              <a:latin typeface="Times New Roman" panose="02020603050405020304" pitchFamily="18" charset="0"/>
              <a:cs typeface="Times New Roman" panose="02020603050405020304" pitchFamily="18" charset="0"/>
            </a:endParaRPr>
          </a:p>
          <a:p>
            <a:pPr marL="358775" indent="-358775" algn="just"/>
            <a:r>
              <a:rPr lang="ru-RU" sz="2300" dirty="0">
                <a:latin typeface="Times New Roman" panose="02020603050405020304" pitchFamily="18" charset="0"/>
                <a:cs typeface="Times New Roman" panose="02020603050405020304" pitchFamily="18" charset="0"/>
              </a:rPr>
              <a:t>В</a:t>
            </a:r>
            <a:r>
              <a:rPr lang="ru-RU" sz="2300" dirty="0" smtClean="0">
                <a:latin typeface="Times New Roman" panose="02020603050405020304" pitchFamily="18" charset="0"/>
                <a:cs typeface="Times New Roman" panose="02020603050405020304" pitchFamily="18" charset="0"/>
              </a:rPr>
              <a:t>сякий </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-разрядный код Грея определяет гамильтонов путь в </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-мерном единичном кубе </a:t>
            </a:r>
            <a:r>
              <a:rPr lang="ru-RU" sz="2300" i="1" dirty="0" err="1" smtClean="0">
                <a:latin typeface="Times New Roman" panose="02020603050405020304" pitchFamily="18" charset="0"/>
                <a:cs typeface="Times New Roman" panose="02020603050405020304" pitchFamily="18" charset="0"/>
              </a:rPr>
              <a:t>E</a:t>
            </a:r>
            <a:r>
              <a:rPr lang="ru-RU" sz="2300" i="1" baseline="30000" dirty="0" err="1" smtClean="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 и </a:t>
            </a:r>
            <a:r>
              <a:rPr lang="ru-RU" sz="2300" dirty="0" smtClean="0">
                <a:latin typeface="Times New Roman" panose="02020603050405020304" pitchFamily="18" charset="0"/>
                <a:cs typeface="Times New Roman" panose="02020603050405020304" pitchFamily="18" charset="0"/>
              </a:rPr>
              <a:t>наоборот</a:t>
            </a:r>
            <a:r>
              <a:rPr lang="ru-RU" sz="2300" dirty="0">
                <a:latin typeface="Times New Roman" panose="02020603050405020304" pitchFamily="18" charset="0"/>
                <a:cs typeface="Times New Roman" panose="02020603050405020304" pitchFamily="18" charset="0"/>
              </a:rPr>
              <a:t>, всякий гамильтонов путь в </a:t>
            </a:r>
            <a:r>
              <a:rPr lang="ru-RU" sz="2300" i="1" dirty="0" err="1" smtClean="0">
                <a:latin typeface="Times New Roman" panose="02020603050405020304" pitchFamily="18" charset="0"/>
                <a:cs typeface="Times New Roman" panose="02020603050405020304" pitchFamily="18" charset="0"/>
              </a:rPr>
              <a:t>E</a:t>
            </a:r>
            <a:r>
              <a:rPr lang="ru-RU" sz="2300" i="1" baseline="30000" dirty="0" err="1" smtClean="0">
                <a:latin typeface="Times New Roman" panose="02020603050405020304" pitchFamily="18" charset="0"/>
                <a:cs typeface="Times New Roman" panose="02020603050405020304" pitchFamily="18" charset="0"/>
              </a:rPr>
              <a:t>n</a:t>
            </a:r>
            <a:r>
              <a:rPr lang="ru-RU" sz="2300" i="1" dirty="0" smtClean="0">
                <a:latin typeface="Times New Roman" panose="02020603050405020304" pitchFamily="18" charset="0"/>
                <a:cs typeface="Times New Roman" panose="02020603050405020304" pitchFamily="18" charset="0"/>
              </a:rPr>
              <a:t> </a:t>
            </a:r>
            <a:r>
              <a:rPr lang="ru-RU" sz="2300" dirty="0">
                <a:latin typeface="Times New Roman" panose="02020603050405020304" pitchFamily="18" charset="0"/>
                <a:cs typeface="Times New Roman" panose="02020603050405020304" pitchFamily="18" charset="0"/>
              </a:rPr>
              <a:t>задаёт </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-разрядный код Грея. </a:t>
            </a:r>
            <a:endParaRPr lang="ru-RU" sz="2300" dirty="0" smtClean="0">
              <a:latin typeface="Times New Roman" panose="02020603050405020304" pitchFamily="18" charset="0"/>
              <a:cs typeface="Times New Roman" panose="02020603050405020304" pitchFamily="18" charset="0"/>
            </a:endParaRPr>
          </a:p>
          <a:p>
            <a:pPr marL="358775" indent="-358775" algn="just"/>
            <a:endParaRPr lang="ru-RU" sz="2200" dirty="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14</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1520117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4967385"/>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Код Грея</a:t>
            </a:r>
          </a:p>
          <a:p>
            <a:pPr marL="358775" indent="-358775" algn="just"/>
            <a:r>
              <a:rPr lang="ru-RU" sz="2300" dirty="0" smtClean="0">
                <a:latin typeface="Times New Roman" panose="02020603050405020304" pitchFamily="18" charset="0"/>
                <a:cs typeface="Times New Roman" panose="02020603050405020304" pitchFamily="18" charset="0"/>
              </a:rPr>
              <a:t>Аналогичное </a:t>
            </a:r>
            <a:r>
              <a:rPr lang="ru-RU" sz="2300" dirty="0">
                <a:latin typeface="Times New Roman" panose="02020603050405020304" pitchFamily="18" charset="0"/>
                <a:cs typeface="Times New Roman" panose="02020603050405020304" pitchFamily="18" charset="0"/>
              </a:rPr>
              <a:t>соответствие имеется между циклическим кодом Грея и гамильтоновым циклом. Единичный куб </a:t>
            </a:r>
            <a:r>
              <a:rPr lang="ru-RU" sz="2300" i="1" dirty="0" err="1" smtClean="0">
                <a:latin typeface="Times New Roman" panose="02020603050405020304" pitchFamily="18" charset="0"/>
                <a:cs typeface="Times New Roman" panose="02020603050405020304" pitchFamily="18" charset="0"/>
              </a:rPr>
              <a:t>E</a:t>
            </a:r>
            <a:r>
              <a:rPr lang="ru-RU" sz="2300" i="1" baseline="30000" dirty="0" err="1" smtClean="0">
                <a:latin typeface="Times New Roman" panose="02020603050405020304" pitchFamily="18" charset="0"/>
                <a:cs typeface="Times New Roman" panose="02020603050405020304" pitchFamily="18" charset="0"/>
              </a:rPr>
              <a:t>n</a:t>
            </a:r>
            <a:r>
              <a:rPr lang="ru-RU" sz="2300" i="1" dirty="0" smtClean="0">
                <a:latin typeface="Times New Roman" panose="02020603050405020304" pitchFamily="18" charset="0"/>
                <a:cs typeface="Times New Roman" panose="02020603050405020304" pitchFamily="18" charset="0"/>
              </a:rPr>
              <a:t> </a:t>
            </a:r>
            <a:r>
              <a:rPr lang="ru-RU" sz="2300" dirty="0">
                <a:latin typeface="Times New Roman" panose="02020603050405020304" pitchFamily="18" charset="0"/>
                <a:cs typeface="Times New Roman" panose="02020603050405020304" pitchFamily="18" charset="0"/>
              </a:rPr>
              <a:t>гамильтонов при </a:t>
            </a:r>
            <a:r>
              <a:rPr lang="ru-RU" sz="2300" i="1" dirty="0">
                <a:latin typeface="Times New Roman" panose="02020603050405020304" pitchFamily="18" charset="0"/>
                <a:cs typeface="Times New Roman" panose="02020603050405020304" pitchFamily="18" charset="0"/>
              </a:rPr>
              <a:t>n </a:t>
            </a:r>
            <a:r>
              <a:rPr lang="ru-RU" sz="2300" dirty="0">
                <a:latin typeface="Times New Roman" panose="02020603050405020304" pitchFamily="18" charset="0"/>
                <a:cs typeface="Times New Roman" panose="02020603050405020304" pitchFamily="18" charset="0"/>
              </a:rPr>
              <a:t>≥ 2. Одно из построений гамильтонова цикла может быть получено </a:t>
            </a:r>
            <a:r>
              <a:rPr lang="ru-RU" sz="2300" dirty="0" smtClean="0">
                <a:latin typeface="Times New Roman" panose="02020603050405020304" pitchFamily="18" charset="0"/>
                <a:cs typeface="Times New Roman" panose="02020603050405020304" pitchFamily="18" charset="0"/>
              </a:rPr>
              <a:t>индуктивно</a:t>
            </a:r>
            <a:r>
              <a:rPr lang="ru-RU" sz="2300" dirty="0">
                <a:latin typeface="Times New Roman" panose="02020603050405020304" pitchFamily="18" charset="0"/>
                <a:cs typeface="Times New Roman" panose="02020603050405020304" pitchFamily="18" charset="0"/>
              </a:rPr>
              <a:t>: в двух копиях </a:t>
            </a:r>
            <a:r>
              <a:rPr lang="ru-RU" sz="2300" i="1" dirty="0" err="1" smtClean="0">
                <a:latin typeface="Times New Roman" panose="02020603050405020304" pitchFamily="18" charset="0"/>
                <a:cs typeface="Times New Roman" panose="02020603050405020304" pitchFamily="18" charset="0"/>
              </a:rPr>
              <a:t>E</a:t>
            </a:r>
            <a:r>
              <a:rPr lang="ru-RU" sz="2300" i="1" baseline="30000" dirty="0" err="1" smtClean="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 разбивающих куб </a:t>
            </a:r>
            <a:r>
              <a:rPr lang="ru-RU" sz="2300" i="1" dirty="0" smtClean="0">
                <a:latin typeface="Times New Roman" panose="02020603050405020304" pitchFamily="18" charset="0"/>
                <a:cs typeface="Times New Roman" panose="02020603050405020304" pitchFamily="18" charset="0"/>
              </a:rPr>
              <a:t>E</a:t>
            </a:r>
            <a:r>
              <a:rPr lang="ru-RU" sz="2300" i="1" baseline="30000" dirty="0" smtClean="0">
                <a:latin typeface="Times New Roman" panose="02020603050405020304" pitchFamily="18" charset="0"/>
                <a:cs typeface="Times New Roman" panose="02020603050405020304" pitchFamily="18" charset="0"/>
              </a:rPr>
              <a:t>n</a:t>
            </a:r>
            <a:r>
              <a:rPr lang="ru-RU" sz="2300" baseline="30000" dirty="0" smtClean="0">
                <a:latin typeface="Times New Roman" panose="02020603050405020304" pitchFamily="18" charset="0"/>
                <a:cs typeface="Times New Roman" panose="02020603050405020304" pitchFamily="18" charset="0"/>
              </a:rPr>
              <a:t>+1</a:t>
            </a:r>
            <a:r>
              <a:rPr lang="ru-RU" sz="2300" dirty="0">
                <a:latin typeface="Times New Roman" panose="02020603050405020304" pitchFamily="18" charset="0"/>
                <a:cs typeface="Times New Roman" panose="02020603050405020304" pitchFamily="18" charset="0"/>
              </a:rPr>
              <a:t>, выбираются такие циклы и достраиваются до требуемого цикла (</a:t>
            </a:r>
            <a:r>
              <a:rPr lang="ru-RU" sz="2300" i="1" dirty="0">
                <a:latin typeface="Times New Roman" panose="02020603050405020304" pitchFamily="18" charset="0"/>
                <a:cs typeface="Times New Roman" panose="02020603050405020304" pitchFamily="18" charset="0"/>
              </a:rPr>
              <a:t>n </a:t>
            </a:r>
            <a:r>
              <a:rPr lang="ru-RU" sz="2300" dirty="0">
                <a:latin typeface="Times New Roman" panose="02020603050405020304" pitchFamily="18" charset="0"/>
                <a:cs typeface="Times New Roman" panose="02020603050405020304" pitchFamily="18" charset="0"/>
              </a:rPr>
              <a:t>+ 1)-мерного куба. </a:t>
            </a:r>
            <a:r>
              <a:rPr lang="ru-RU" sz="2300" dirty="0" smtClean="0">
                <a:latin typeface="Times New Roman" panose="02020603050405020304" pitchFamily="18" charset="0"/>
                <a:cs typeface="Times New Roman" panose="02020603050405020304" pitchFamily="18" charset="0"/>
              </a:rPr>
              <a:t>Можно говорить о существование </a:t>
            </a:r>
            <a:r>
              <a:rPr lang="ru-RU" sz="2300" dirty="0">
                <a:latin typeface="Times New Roman" panose="02020603050405020304" pitchFamily="18" charset="0"/>
                <a:cs typeface="Times New Roman" panose="02020603050405020304" pitchFamily="18" charset="0"/>
              </a:rPr>
              <a:t>различных (с точностью до циклических сдвигов) циклических кодов Грея при </a:t>
            </a:r>
            <a:r>
              <a:rPr lang="ru-RU" sz="2300" i="1" dirty="0">
                <a:latin typeface="Times New Roman" panose="02020603050405020304" pitchFamily="18" charset="0"/>
                <a:cs typeface="Times New Roman" panose="02020603050405020304" pitchFamily="18" charset="0"/>
              </a:rPr>
              <a:t>n </a:t>
            </a:r>
            <a:r>
              <a:rPr lang="ru-RU" sz="2300" dirty="0">
                <a:latin typeface="Times New Roman" panose="02020603050405020304" pitchFamily="18" charset="0"/>
                <a:cs typeface="Times New Roman" panose="02020603050405020304" pitchFamily="18" charset="0"/>
              </a:rPr>
              <a:t>≥ 3.</a:t>
            </a:r>
          </a:p>
          <a:p>
            <a:pPr marL="358775" indent="-358775" algn="just"/>
            <a:r>
              <a:rPr lang="ru-RU" sz="2300" dirty="0">
                <a:latin typeface="Times New Roman" panose="02020603050405020304" pitchFamily="18" charset="0"/>
                <a:cs typeface="Times New Roman" panose="02020603050405020304" pitchFamily="18" charset="0"/>
              </a:rPr>
              <a:t>Рассмотрим способ задания циклического кода Грея. Ввиду цикличности начальным кодовым словом считаем вектор (0, 0, . . . , 0).</a:t>
            </a:r>
          </a:p>
          <a:p>
            <a:pPr marL="358775" indent="-358775" algn="just"/>
            <a:r>
              <a:rPr lang="ru-RU" sz="2300" b="1" dirty="0" smtClean="0">
                <a:latin typeface="Times New Roman" panose="02020603050405020304" pitchFamily="18" charset="0"/>
                <a:cs typeface="Times New Roman" panose="02020603050405020304" pitchFamily="18" charset="0"/>
              </a:rPr>
              <a:t>Определение. </a:t>
            </a:r>
            <a:r>
              <a:rPr lang="ru-RU" sz="2300" dirty="0">
                <a:latin typeface="Times New Roman" panose="02020603050405020304" pitchFamily="18" charset="0"/>
                <a:cs typeface="Times New Roman" panose="02020603050405020304" pitchFamily="18" charset="0"/>
              </a:rPr>
              <a:t>Пусть </a:t>
            </a:r>
            <a:r>
              <a:rPr lang="ru-RU" sz="2300" i="1" dirty="0">
                <a:latin typeface="Times New Roman" panose="02020603050405020304" pitchFamily="18" charset="0"/>
                <a:cs typeface="Times New Roman" panose="02020603050405020304" pitchFamily="18" charset="0"/>
              </a:rPr>
              <a:t>G</a:t>
            </a:r>
            <a:r>
              <a:rPr lang="ru-RU" sz="2300" dirty="0">
                <a:latin typeface="Times New Roman" panose="02020603050405020304" pitchFamily="18" charset="0"/>
                <a:cs typeface="Times New Roman" panose="02020603050405020304" pitchFamily="18" charset="0"/>
              </a:rPr>
              <a:t>(</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 = </a:t>
            </a:r>
            <a:r>
              <a:rPr lang="ru-RU" sz="2300" i="1" dirty="0">
                <a:latin typeface="Times New Roman" panose="02020603050405020304" pitchFamily="18" charset="0"/>
                <a:cs typeface="Times New Roman" panose="02020603050405020304" pitchFamily="18" charset="0"/>
              </a:rPr>
              <a:t>G</a:t>
            </a:r>
            <a:r>
              <a:rPr lang="ru-RU" sz="2300" baseline="-25000" dirty="0">
                <a:latin typeface="Times New Roman" panose="02020603050405020304" pitchFamily="18" charset="0"/>
                <a:cs typeface="Times New Roman" panose="02020603050405020304" pitchFamily="18" charset="0"/>
              </a:rPr>
              <a:t>0</a:t>
            </a:r>
            <a:r>
              <a:rPr lang="ru-RU" sz="2300" i="1" dirty="0">
                <a:latin typeface="Times New Roman" panose="02020603050405020304" pitchFamily="18" charset="0"/>
                <a:cs typeface="Times New Roman" panose="02020603050405020304" pitchFamily="18" charset="0"/>
              </a:rPr>
              <a:t>, G</a:t>
            </a:r>
            <a:r>
              <a:rPr lang="ru-RU" sz="2300" baseline="-25000" dirty="0">
                <a:latin typeface="Times New Roman" panose="02020603050405020304" pitchFamily="18" charset="0"/>
                <a:cs typeface="Times New Roman" panose="02020603050405020304" pitchFamily="18" charset="0"/>
              </a:rPr>
              <a:t>1</a:t>
            </a:r>
            <a:r>
              <a:rPr lang="ru-RU" sz="2300" i="1" dirty="0">
                <a:latin typeface="Times New Roman" panose="02020603050405020304" pitchFamily="18" charset="0"/>
                <a:cs typeface="Times New Roman" panose="02020603050405020304" pitchFamily="18" charset="0"/>
              </a:rPr>
              <a:t>, . . . , G</a:t>
            </a:r>
            <a:r>
              <a:rPr lang="ru-RU" sz="2300" baseline="-25000" dirty="0">
                <a:latin typeface="Times New Roman" panose="02020603050405020304" pitchFamily="18" charset="0"/>
                <a:cs typeface="Times New Roman" panose="02020603050405020304" pitchFamily="18" charset="0"/>
              </a:rPr>
              <a:t>2</a:t>
            </a:r>
            <a:r>
              <a:rPr lang="ru-RU" sz="2300" i="1" baseline="-25000" dirty="0">
                <a:latin typeface="Times New Roman" panose="02020603050405020304" pitchFamily="18" charset="0"/>
                <a:cs typeface="Times New Roman" panose="02020603050405020304" pitchFamily="18" charset="0"/>
              </a:rPr>
              <a:t>n</a:t>
            </a:r>
            <a:r>
              <a:rPr lang="ru-RU" sz="2300" baseline="-25000" dirty="0">
                <a:latin typeface="Times New Roman" panose="02020603050405020304" pitchFamily="18" charset="0"/>
                <a:cs typeface="Times New Roman" panose="02020603050405020304" pitchFamily="18" charset="0"/>
              </a:rPr>
              <a:t>−1 </a:t>
            </a:r>
            <a:r>
              <a:rPr lang="ru-RU" sz="2300" dirty="0" smtClean="0">
                <a:latin typeface="Times New Roman" panose="02020603050405020304" pitchFamily="18" charset="0"/>
                <a:cs typeface="Times New Roman" panose="02020603050405020304" pitchFamily="18" charset="0"/>
              </a:rPr>
              <a:t>- циклический </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-разрядный код Грея, </a:t>
            </a:r>
            <a:r>
              <a:rPr lang="ru-RU" sz="2300" i="1" dirty="0" err="1">
                <a:latin typeface="Times New Roman" panose="02020603050405020304" pitchFamily="18" charset="0"/>
                <a:cs typeface="Times New Roman" panose="02020603050405020304" pitchFamily="18" charset="0"/>
              </a:rPr>
              <a:t>t</a:t>
            </a:r>
            <a:r>
              <a:rPr lang="ru-RU" sz="2300" i="1" baseline="-25000" dirty="0" err="1">
                <a:latin typeface="Times New Roman" panose="02020603050405020304" pitchFamily="18" charset="0"/>
                <a:cs typeface="Times New Roman" panose="02020603050405020304" pitchFamily="18" charset="0"/>
              </a:rPr>
              <a:t>i</a:t>
            </a:r>
            <a:r>
              <a:rPr lang="ru-RU" sz="2300" i="1" dirty="0">
                <a:latin typeface="Times New Roman" panose="02020603050405020304" pitchFamily="18" charset="0"/>
                <a:cs typeface="Times New Roman" panose="02020603050405020304" pitchFamily="18" charset="0"/>
              </a:rPr>
              <a:t> </a:t>
            </a:r>
            <a:r>
              <a:rPr lang="ru-RU" sz="2300" dirty="0" smtClean="0">
                <a:latin typeface="Times New Roman" panose="02020603050405020304" pitchFamily="18" charset="0"/>
                <a:cs typeface="Times New Roman" panose="02020603050405020304" pitchFamily="18" charset="0"/>
              </a:rPr>
              <a:t>- номер </a:t>
            </a:r>
            <a:r>
              <a:rPr lang="ru-RU" sz="2300" dirty="0">
                <a:latin typeface="Times New Roman" panose="02020603050405020304" pitchFamily="18" charset="0"/>
                <a:cs typeface="Times New Roman" panose="02020603050405020304" pitchFamily="18" charset="0"/>
              </a:rPr>
              <a:t>позиции (считая справа налево), </a:t>
            </a:r>
            <a:r>
              <a:rPr lang="ru-RU" sz="2300" dirty="0" smtClean="0">
                <a:latin typeface="Times New Roman" panose="02020603050405020304" pitchFamily="18" charset="0"/>
                <a:cs typeface="Times New Roman" panose="02020603050405020304" pitchFamily="18" charset="0"/>
              </a:rPr>
              <a:t>меняющейся </a:t>
            </a:r>
            <a:r>
              <a:rPr lang="ru-RU" sz="2300" dirty="0">
                <a:latin typeface="Times New Roman" panose="02020603050405020304" pitchFamily="18" charset="0"/>
                <a:cs typeface="Times New Roman" panose="02020603050405020304" pitchFamily="18" charset="0"/>
              </a:rPr>
              <a:t>при переходе от кодового слова </a:t>
            </a:r>
            <a:r>
              <a:rPr lang="ru-RU" sz="2300" i="1" dirty="0">
                <a:latin typeface="Times New Roman" panose="02020603050405020304" pitchFamily="18" charset="0"/>
                <a:cs typeface="Times New Roman" panose="02020603050405020304" pitchFamily="18" charset="0"/>
              </a:rPr>
              <a:t>G</a:t>
            </a:r>
            <a:r>
              <a:rPr lang="ru-RU" sz="2300" i="1" baseline="-25000" dirty="0">
                <a:latin typeface="Times New Roman" panose="02020603050405020304" pitchFamily="18" charset="0"/>
                <a:cs typeface="Times New Roman" panose="02020603050405020304" pitchFamily="18" charset="0"/>
              </a:rPr>
              <a:t>i</a:t>
            </a:r>
            <a:r>
              <a:rPr lang="ru-RU" sz="2300" baseline="-25000" dirty="0">
                <a:latin typeface="Times New Roman" panose="02020603050405020304" pitchFamily="18" charset="0"/>
                <a:cs typeface="Times New Roman" panose="02020603050405020304" pitchFamily="18" charset="0"/>
              </a:rPr>
              <a:t>−1</a:t>
            </a:r>
            <a:r>
              <a:rPr lang="ru-RU" sz="2300" dirty="0">
                <a:latin typeface="Times New Roman" panose="02020603050405020304" pitchFamily="18" charset="0"/>
                <a:cs typeface="Times New Roman" panose="02020603050405020304" pitchFamily="18" charset="0"/>
              </a:rPr>
              <a:t> к </a:t>
            </a:r>
            <a:r>
              <a:rPr lang="ru-RU" sz="2300" i="1" dirty="0" err="1">
                <a:latin typeface="Times New Roman" panose="02020603050405020304" pitchFamily="18" charset="0"/>
                <a:cs typeface="Times New Roman" panose="02020603050405020304" pitchFamily="18" charset="0"/>
              </a:rPr>
              <a:t>G</a:t>
            </a:r>
            <a:r>
              <a:rPr lang="ru-RU" sz="2300" i="1" baseline="-25000" dirty="0" err="1">
                <a:latin typeface="Times New Roman" panose="02020603050405020304" pitchFamily="18" charset="0"/>
                <a:cs typeface="Times New Roman" panose="02020603050405020304" pitchFamily="18" charset="0"/>
              </a:rPr>
              <a:t>i</a:t>
            </a:r>
            <a:r>
              <a:rPr lang="ru-RU" sz="2300" dirty="0">
                <a:latin typeface="Times New Roman" panose="02020603050405020304" pitchFamily="18" charset="0"/>
                <a:cs typeface="Times New Roman" panose="02020603050405020304" pitchFamily="18" charset="0"/>
              </a:rPr>
              <a:t>, </a:t>
            </a:r>
            <a:r>
              <a:rPr lang="ru-RU" sz="2300" i="1" dirty="0">
                <a:latin typeface="Times New Roman" panose="02020603050405020304" pitchFamily="18" charset="0"/>
                <a:cs typeface="Times New Roman" panose="02020603050405020304" pitchFamily="18" charset="0"/>
              </a:rPr>
              <a:t>i </a:t>
            </a:r>
            <a:r>
              <a:rPr lang="ru-RU" sz="2300" dirty="0">
                <a:latin typeface="Times New Roman" panose="02020603050405020304" pitchFamily="18" charset="0"/>
                <a:cs typeface="Times New Roman" panose="02020603050405020304" pitchFamily="18" charset="0"/>
              </a:rPr>
              <a:t>= 1</a:t>
            </a:r>
            <a:r>
              <a:rPr lang="ru-RU" sz="2300" i="1" dirty="0">
                <a:latin typeface="Times New Roman" panose="02020603050405020304" pitchFamily="18" charset="0"/>
                <a:cs typeface="Times New Roman" panose="02020603050405020304" pitchFamily="18" charset="0"/>
              </a:rPr>
              <a:t>, . . . , </a:t>
            </a:r>
            <a:r>
              <a:rPr lang="ru-RU" sz="2300" dirty="0" smtClean="0">
                <a:latin typeface="Times New Roman" panose="02020603050405020304" pitchFamily="18" charset="0"/>
                <a:cs typeface="Times New Roman" panose="02020603050405020304" pitchFamily="18" charset="0"/>
              </a:rPr>
              <a:t>2</a:t>
            </a:r>
            <a:r>
              <a:rPr lang="ru-RU" sz="2300" i="1" baseline="30000" dirty="0" smtClean="0">
                <a:latin typeface="Times New Roman" panose="02020603050405020304" pitchFamily="18" charset="0"/>
                <a:cs typeface="Times New Roman" panose="02020603050405020304" pitchFamily="18" charset="0"/>
              </a:rPr>
              <a:t>n</a:t>
            </a:r>
            <a:r>
              <a:rPr lang="ru-RU" sz="2300" i="1" dirty="0" smtClean="0">
                <a:latin typeface="Times New Roman" panose="02020603050405020304" pitchFamily="18" charset="0"/>
                <a:cs typeface="Times New Roman" panose="02020603050405020304" pitchFamily="18" charset="0"/>
              </a:rPr>
              <a:t> </a:t>
            </a:r>
            <a:r>
              <a:rPr lang="ru-RU" sz="2300" dirty="0">
                <a:latin typeface="Times New Roman" panose="02020603050405020304" pitchFamily="18" charset="0"/>
                <a:cs typeface="Times New Roman" panose="02020603050405020304" pitchFamily="18" charset="0"/>
              </a:rPr>
              <a:t>− 1. Последовательность </a:t>
            </a:r>
            <a:r>
              <a:rPr lang="ru-RU" sz="2300" i="1" dirty="0" err="1">
                <a:latin typeface="Times New Roman" panose="02020603050405020304" pitchFamily="18" charset="0"/>
                <a:cs typeface="Times New Roman" panose="02020603050405020304" pitchFamily="18" charset="0"/>
              </a:rPr>
              <a:t>T</a:t>
            </a:r>
            <a:r>
              <a:rPr lang="ru-RU" sz="2300" i="1" baseline="-25000" dirty="0" err="1">
                <a:latin typeface="Times New Roman" panose="02020603050405020304" pitchFamily="18" charset="0"/>
                <a:cs typeface="Times New Roman" panose="02020603050405020304" pitchFamily="18" charset="0"/>
              </a:rPr>
              <a:t>n</a:t>
            </a:r>
            <a:r>
              <a:rPr lang="ru-RU" sz="2300" i="1" dirty="0">
                <a:latin typeface="Times New Roman" panose="02020603050405020304" pitchFamily="18" charset="0"/>
                <a:cs typeface="Times New Roman" panose="02020603050405020304" pitchFamily="18" charset="0"/>
              </a:rPr>
              <a:t> </a:t>
            </a:r>
            <a:r>
              <a:rPr lang="ru-RU" sz="2300" dirty="0">
                <a:latin typeface="Times New Roman" panose="02020603050405020304" pitchFamily="18" charset="0"/>
                <a:cs typeface="Times New Roman" panose="02020603050405020304" pitchFamily="18" charset="0"/>
              </a:rPr>
              <a:t>= </a:t>
            </a:r>
            <a:r>
              <a:rPr lang="ru-RU" sz="2300" i="1" dirty="0">
                <a:latin typeface="Times New Roman" panose="02020603050405020304" pitchFamily="18" charset="0"/>
                <a:cs typeface="Times New Roman" panose="02020603050405020304" pitchFamily="18" charset="0"/>
              </a:rPr>
              <a:t>t</a:t>
            </a:r>
            <a:r>
              <a:rPr lang="ru-RU" sz="2300" baseline="-25000" dirty="0">
                <a:latin typeface="Times New Roman" panose="02020603050405020304" pitchFamily="18" charset="0"/>
                <a:cs typeface="Times New Roman" panose="02020603050405020304" pitchFamily="18" charset="0"/>
              </a:rPr>
              <a:t>1</a:t>
            </a:r>
            <a:r>
              <a:rPr lang="ru-RU" sz="2300" i="1" dirty="0">
                <a:latin typeface="Times New Roman" panose="02020603050405020304" pitchFamily="18" charset="0"/>
                <a:cs typeface="Times New Roman" panose="02020603050405020304" pitchFamily="18" charset="0"/>
              </a:rPr>
              <a:t>, t</a:t>
            </a:r>
            <a:r>
              <a:rPr lang="ru-RU" sz="2300" baseline="-25000" dirty="0">
                <a:latin typeface="Times New Roman" panose="02020603050405020304" pitchFamily="18" charset="0"/>
                <a:cs typeface="Times New Roman" panose="02020603050405020304" pitchFamily="18" charset="0"/>
              </a:rPr>
              <a:t>2</a:t>
            </a:r>
            <a:r>
              <a:rPr lang="ru-RU" sz="2300" i="1" dirty="0">
                <a:latin typeface="Times New Roman" panose="02020603050405020304" pitchFamily="18" charset="0"/>
                <a:cs typeface="Times New Roman" panose="02020603050405020304" pitchFamily="18" charset="0"/>
              </a:rPr>
              <a:t>, . . . , t</a:t>
            </a:r>
            <a:r>
              <a:rPr lang="ru-RU" sz="2300" baseline="-25000" dirty="0">
                <a:latin typeface="Times New Roman" panose="02020603050405020304" pitchFamily="18" charset="0"/>
                <a:cs typeface="Times New Roman" panose="02020603050405020304" pitchFamily="18" charset="0"/>
              </a:rPr>
              <a:t>2</a:t>
            </a:r>
            <a:r>
              <a:rPr lang="ru-RU" sz="2300" i="1" baseline="-25000" dirty="0">
                <a:latin typeface="Times New Roman" panose="02020603050405020304" pitchFamily="18" charset="0"/>
                <a:cs typeface="Times New Roman" panose="02020603050405020304" pitchFamily="18" charset="0"/>
              </a:rPr>
              <a:t>n</a:t>
            </a:r>
            <a:r>
              <a:rPr lang="ru-RU" sz="2300" baseline="-25000" dirty="0">
                <a:latin typeface="Times New Roman" panose="02020603050405020304" pitchFamily="18" charset="0"/>
                <a:cs typeface="Times New Roman" panose="02020603050405020304" pitchFamily="18" charset="0"/>
              </a:rPr>
              <a:t>−1 </a:t>
            </a:r>
            <a:r>
              <a:rPr lang="ru-RU" sz="2300" dirty="0">
                <a:latin typeface="Times New Roman" panose="02020603050405020304" pitchFamily="18" charset="0"/>
                <a:cs typeface="Times New Roman" panose="02020603050405020304" pitchFamily="18" charset="0"/>
              </a:rPr>
              <a:t>называется </a:t>
            </a:r>
            <a:r>
              <a:rPr lang="ru-RU" sz="2300" i="1" dirty="0" smtClean="0">
                <a:latin typeface="Times New Roman" panose="02020603050405020304" pitchFamily="18" charset="0"/>
                <a:cs typeface="Times New Roman" panose="02020603050405020304" pitchFamily="18" charset="0"/>
              </a:rPr>
              <a:t>последовательностью </a:t>
            </a:r>
            <a:r>
              <a:rPr lang="ru-RU" sz="2300" i="1" dirty="0">
                <a:latin typeface="Times New Roman" panose="02020603050405020304" pitchFamily="18" charset="0"/>
                <a:cs typeface="Times New Roman" panose="02020603050405020304" pitchFamily="18" charset="0"/>
              </a:rPr>
              <a:t>переходов </a:t>
            </a:r>
            <a:r>
              <a:rPr lang="ru-RU" sz="2300" dirty="0">
                <a:latin typeface="Times New Roman" panose="02020603050405020304" pitchFamily="18" charset="0"/>
                <a:cs typeface="Times New Roman" panose="02020603050405020304" pitchFamily="18" charset="0"/>
              </a:rPr>
              <a:t>кода Грея </a:t>
            </a:r>
            <a:r>
              <a:rPr lang="ru-RU" sz="2300" i="1" dirty="0">
                <a:latin typeface="Times New Roman" panose="02020603050405020304" pitchFamily="18" charset="0"/>
                <a:cs typeface="Times New Roman" panose="02020603050405020304" pitchFamily="18" charset="0"/>
              </a:rPr>
              <a:t>G</a:t>
            </a:r>
            <a:r>
              <a:rPr lang="ru-RU" sz="2300" dirty="0">
                <a:latin typeface="Times New Roman" panose="02020603050405020304" pitchFamily="18" charset="0"/>
                <a:cs typeface="Times New Roman" panose="02020603050405020304" pitchFamily="18" charset="0"/>
              </a:rPr>
              <a:t>(</a:t>
            </a:r>
            <a:r>
              <a:rPr lang="ru-RU" sz="2300" i="1" dirty="0">
                <a:latin typeface="Times New Roman" panose="02020603050405020304" pitchFamily="18" charset="0"/>
                <a:cs typeface="Times New Roman" panose="02020603050405020304" pitchFamily="18" charset="0"/>
              </a:rPr>
              <a:t>n</a:t>
            </a:r>
            <a:r>
              <a:rPr lang="ru-RU" sz="2300" dirty="0">
                <a:latin typeface="Times New Roman" panose="02020603050405020304" pitchFamily="18" charset="0"/>
                <a:cs typeface="Times New Roman" panose="02020603050405020304" pitchFamily="18" charset="0"/>
              </a:rPr>
              <a:t>).</a:t>
            </a:r>
          </a:p>
          <a:p>
            <a:pPr marL="358775" indent="-358775" algn="just"/>
            <a:endParaRPr lang="ru-RU" sz="2200" dirty="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15</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11082149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629105"/>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Код Грея</a:t>
            </a:r>
          </a:p>
          <a:p>
            <a:pPr marL="358775" indent="-358775" algn="just"/>
            <a:r>
              <a:rPr lang="ru-RU" sz="2300" dirty="0">
                <a:latin typeface="Times New Roman" panose="02020603050405020304" pitchFamily="18" charset="0"/>
                <a:cs typeface="Times New Roman" panose="02020603050405020304" pitchFamily="18" charset="0"/>
              </a:rPr>
              <a:t>Коды Грея имеют несколько применений в различных </a:t>
            </a:r>
            <a:r>
              <a:rPr lang="ru-RU" sz="2300" dirty="0" smtClean="0">
                <a:latin typeface="Times New Roman" panose="02020603050405020304" pitchFamily="18" charset="0"/>
                <a:cs typeface="Times New Roman" panose="02020603050405020304" pitchFamily="18" charset="0"/>
              </a:rPr>
              <a:t>областях:</a:t>
            </a:r>
            <a:endParaRPr lang="ru-RU" sz="2300" dirty="0">
              <a:latin typeface="Times New Roman" panose="02020603050405020304" pitchFamily="18" charset="0"/>
              <a:cs typeface="Times New Roman" panose="02020603050405020304" pitchFamily="18" charset="0"/>
            </a:endParaRPr>
          </a:p>
          <a:p>
            <a:pPr marL="358775" indent="-358775" algn="just">
              <a:buFont typeface="Arial" panose="020B0604020202020204" pitchFamily="34" charset="0"/>
              <a:buChar char="•"/>
            </a:pPr>
            <a:r>
              <a:rPr lang="ru-RU" sz="2300" dirty="0">
                <a:latin typeface="Times New Roman" panose="02020603050405020304" pitchFamily="18" charset="0"/>
                <a:cs typeface="Times New Roman" panose="02020603050405020304" pitchFamily="18" charset="0"/>
              </a:rPr>
              <a:t>Коды Грея применяются в решении головоломки о </a:t>
            </a:r>
            <a:r>
              <a:rPr lang="ru-RU" sz="2300" dirty="0" smtClean="0">
                <a:latin typeface="Times New Roman" panose="02020603050405020304" pitchFamily="18" charset="0"/>
                <a:cs typeface="Times New Roman" panose="02020603050405020304" pitchFamily="18" charset="0"/>
              </a:rPr>
              <a:t>Ханойской башне</a:t>
            </a:r>
            <a:endParaRPr lang="ru-RU" sz="2300" dirty="0">
              <a:latin typeface="Times New Roman" panose="02020603050405020304" pitchFamily="18" charset="0"/>
              <a:cs typeface="Times New Roman" panose="02020603050405020304" pitchFamily="18" charset="0"/>
            </a:endParaRPr>
          </a:p>
          <a:p>
            <a:pPr marL="358775" indent="-358775" algn="just">
              <a:buFont typeface="Arial" panose="020B0604020202020204" pitchFamily="34" charset="0"/>
              <a:buChar char="•"/>
            </a:pPr>
            <a:r>
              <a:rPr lang="ru-RU" sz="2300" dirty="0">
                <a:latin typeface="Times New Roman" panose="02020603050405020304" pitchFamily="18" charset="0"/>
                <a:cs typeface="Times New Roman" panose="02020603050405020304" pitchFamily="18" charset="0"/>
              </a:rPr>
              <a:t>n-битный код Грея соответствует гамильтонову циклу по n-мерному кубу.</a:t>
            </a:r>
          </a:p>
          <a:p>
            <a:pPr marL="358775" indent="-358775" algn="just">
              <a:buFont typeface="Arial" panose="020B0604020202020204" pitchFamily="34" charset="0"/>
              <a:buChar char="•"/>
            </a:pPr>
            <a:r>
              <a:rPr lang="ru-RU" sz="2300" dirty="0">
                <a:latin typeface="Times New Roman" panose="02020603050405020304" pitchFamily="18" charset="0"/>
                <a:cs typeface="Times New Roman" panose="02020603050405020304" pitchFamily="18" charset="0"/>
              </a:rPr>
              <a:t>В технике, коды Грея используются для минимизации ошибок при преобразовании аналоговых сигналов в цифровые (например, в датчиках). </a:t>
            </a:r>
            <a:r>
              <a:rPr lang="ru-RU" sz="2300" dirty="0" smtClean="0">
                <a:latin typeface="Times New Roman" panose="02020603050405020304" pitchFamily="18" charset="0"/>
                <a:cs typeface="Times New Roman" panose="02020603050405020304" pitchFamily="18" charset="0"/>
              </a:rPr>
              <a:t>Код </a:t>
            </a:r>
            <a:r>
              <a:rPr lang="ru-RU" sz="2300" dirty="0">
                <a:latin typeface="Times New Roman" panose="02020603050405020304" pitchFamily="18" charset="0"/>
                <a:cs typeface="Times New Roman" panose="02020603050405020304" pitchFamily="18" charset="0"/>
              </a:rPr>
              <a:t>Грея и </a:t>
            </a:r>
            <a:r>
              <a:rPr lang="ru-RU" sz="2300" dirty="0" smtClean="0">
                <a:latin typeface="Times New Roman" panose="02020603050405020304" pitchFamily="18" charset="0"/>
                <a:cs typeface="Times New Roman" panose="02020603050405020304" pitchFamily="18" charset="0"/>
              </a:rPr>
              <a:t>был открыт </a:t>
            </a:r>
            <a:r>
              <a:rPr lang="ru-RU" sz="2300" dirty="0">
                <a:latin typeface="Times New Roman" panose="02020603050405020304" pitchFamily="18" charset="0"/>
                <a:cs typeface="Times New Roman" panose="02020603050405020304" pitchFamily="18" charset="0"/>
              </a:rPr>
              <a:t>в связи с этим применением.</a:t>
            </a:r>
          </a:p>
          <a:p>
            <a:pPr marL="358775" indent="-358775" algn="just">
              <a:buFont typeface="Arial" panose="020B0604020202020204" pitchFamily="34" charset="0"/>
              <a:buChar char="•"/>
            </a:pPr>
            <a:r>
              <a:rPr lang="ru-RU" sz="2300" dirty="0">
                <a:latin typeface="Times New Roman" panose="02020603050405020304" pitchFamily="18" charset="0"/>
                <a:cs typeface="Times New Roman" panose="02020603050405020304" pitchFamily="18" charset="0"/>
              </a:rPr>
              <a:t>Коды Грея также находят применение в теории </a:t>
            </a:r>
            <a:r>
              <a:rPr lang="ru-RU" sz="2300" b="1" dirty="0">
                <a:latin typeface="Times New Roman" panose="02020603050405020304" pitchFamily="18" charset="0"/>
                <a:cs typeface="Times New Roman" panose="02020603050405020304" pitchFamily="18" charset="0"/>
              </a:rPr>
              <a:t>генетических алгоритмов</a:t>
            </a:r>
            <a:r>
              <a:rPr lang="ru-RU" sz="2300" dirty="0">
                <a:latin typeface="Times New Roman" panose="02020603050405020304" pitchFamily="18" charset="0"/>
                <a:cs typeface="Times New Roman" panose="02020603050405020304" pitchFamily="18" charset="0"/>
              </a:rPr>
              <a:t>.</a:t>
            </a:r>
          </a:p>
          <a:p>
            <a:pPr marL="358775" lvl="0" indent="-358775" algn="just" rtl="0" eaLnBrk="0" fontAlgn="base" hangingPunct="0">
              <a:spcBef>
                <a:spcPct val="0"/>
              </a:spcBef>
              <a:spcAft>
                <a:spcPct val="0"/>
              </a:spcAft>
            </a:pPr>
            <a:r>
              <a:rPr lang="ru-RU" sz="2200" dirty="0">
                <a:solidFill>
                  <a:srgbClr val="202122"/>
                </a:solidFill>
                <a:latin typeface="Times New Roman" panose="02020603050405020304" pitchFamily="18" charset="0"/>
                <a:cs typeface="Times New Roman" panose="02020603050405020304" pitchFamily="18" charset="0"/>
              </a:rPr>
              <a:t>Коды Грея легко получаются из двоичных чисел путём побитовой операции «Исключающее ИЛИ» с тем же числом, сдвинутым вправо на один бит и в котором старший разряд заполняется нулём. Следовательно, i-й бит кода Грея </a:t>
            </a:r>
            <a:r>
              <a:rPr lang="ru-RU" sz="2200" dirty="0" err="1">
                <a:solidFill>
                  <a:srgbClr val="202122"/>
                </a:solidFill>
                <a:latin typeface="Times New Roman" panose="02020603050405020304" pitchFamily="18" charset="0"/>
                <a:cs typeface="Times New Roman" panose="02020603050405020304" pitchFamily="18" charset="0"/>
              </a:rPr>
              <a:t>G</a:t>
            </a:r>
            <a:r>
              <a:rPr lang="ru-RU" sz="2200" baseline="-25000" dirty="0" err="1">
                <a:solidFill>
                  <a:srgbClr val="202122"/>
                </a:solidFill>
                <a:latin typeface="Times New Roman" panose="02020603050405020304" pitchFamily="18" charset="0"/>
                <a:cs typeface="Times New Roman" panose="02020603050405020304" pitchFamily="18" charset="0"/>
              </a:rPr>
              <a:t>i</a:t>
            </a:r>
            <a:r>
              <a:rPr lang="ru-RU" sz="2200" dirty="0">
                <a:solidFill>
                  <a:srgbClr val="202122"/>
                </a:solidFill>
                <a:latin typeface="Times New Roman" panose="02020603050405020304" pitchFamily="18" charset="0"/>
                <a:cs typeface="Times New Roman" panose="02020603050405020304" pitchFamily="18" charset="0"/>
              </a:rPr>
              <a:t> выражается через биты двоичного кода </a:t>
            </a:r>
            <a:r>
              <a:rPr lang="ru-RU" sz="2200" i="1" dirty="0" err="1">
                <a:solidFill>
                  <a:srgbClr val="202122"/>
                </a:solidFill>
                <a:latin typeface="Times New Roman" panose="02020603050405020304" pitchFamily="18" charset="0"/>
                <a:cs typeface="Times New Roman" panose="02020603050405020304" pitchFamily="18" charset="0"/>
              </a:rPr>
              <a:t>B</a:t>
            </a:r>
            <a:r>
              <a:rPr lang="ru-RU" sz="2200" i="1" baseline="-30000" dirty="0" err="1">
                <a:solidFill>
                  <a:srgbClr val="202122"/>
                </a:solidFill>
                <a:latin typeface="Times New Roman" panose="02020603050405020304" pitchFamily="18" charset="0"/>
                <a:cs typeface="Times New Roman" panose="02020603050405020304" pitchFamily="18" charset="0"/>
              </a:rPr>
              <a:t>i</a:t>
            </a:r>
            <a:r>
              <a:rPr lang="ru-RU" sz="2200" dirty="0">
                <a:solidFill>
                  <a:srgbClr val="202122"/>
                </a:solidFill>
                <a:latin typeface="Times New Roman" panose="02020603050405020304" pitchFamily="18" charset="0"/>
                <a:cs typeface="Times New Roman" panose="02020603050405020304" pitchFamily="18" charset="0"/>
              </a:rPr>
              <a:t> следующим образом</a:t>
            </a:r>
            <a:r>
              <a:rPr lang="ru-RU" sz="2200" dirty="0" smtClean="0">
                <a:solidFill>
                  <a:srgbClr val="202122"/>
                </a:solidFill>
                <a:latin typeface="Times New Roman" panose="02020603050405020304" pitchFamily="18" charset="0"/>
                <a:cs typeface="Times New Roman" panose="02020603050405020304" pitchFamily="18" charset="0"/>
              </a:rPr>
              <a:t>:</a:t>
            </a:r>
          </a:p>
          <a:p>
            <a:pPr marL="358775" lvl="0" indent="-358775" algn="just" rtl="0" eaLnBrk="0" fontAlgn="base" hangingPunct="0">
              <a:spcBef>
                <a:spcPct val="0"/>
              </a:spcBef>
              <a:spcAft>
                <a:spcPct val="0"/>
              </a:spcAft>
            </a:pPr>
            <a:endParaRPr lang="ru-RU" sz="2200" dirty="0">
              <a:solidFill>
                <a:srgbClr val="202122"/>
              </a:solidFill>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r>
              <a:rPr lang="ru-RU" sz="2400" dirty="0">
                <a:solidFill>
                  <a:srgbClr val="202122"/>
                </a:solidFill>
                <a:latin typeface="Arial" panose="020B0604020202020204" pitchFamily="34" charset="0"/>
                <a:cs typeface="Arial" panose="020B0604020202020204" pitchFamily="34" charset="0"/>
              </a:rPr>
              <a:t>  </a:t>
            </a:r>
            <a:endParaRPr lang="ru-RU" sz="5400" dirty="0">
              <a:solidFill>
                <a:srgbClr val="202122"/>
              </a:solidFill>
              <a:latin typeface="Arial" panose="020B0604020202020204" pitchFamily="34" charset="0"/>
              <a:cs typeface="Arial" panose="020B0604020202020204" pitchFamily="34" charset="0"/>
            </a:endParaRPr>
          </a:p>
          <a:p>
            <a:pPr marL="358775" lvl="0" indent="-358775" algn="just" rtl="0" eaLnBrk="0" fontAlgn="base" hangingPunct="0">
              <a:spcBef>
                <a:spcPct val="0"/>
              </a:spcBef>
              <a:spcAft>
                <a:spcPct val="0"/>
              </a:spcAft>
            </a:pPr>
            <a:r>
              <a:rPr lang="ru-RU" sz="2300" dirty="0">
                <a:latin typeface="Times New Roman" panose="02020603050405020304" pitchFamily="18" charset="0"/>
                <a:cs typeface="Times New Roman" panose="02020603050405020304" pitchFamily="18" charset="0"/>
              </a:rPr>
              <a:t>где </a:t>
            </a:r>
            <a:r>
              <a:rPr lang="ru-RU" sz="2300" dirty="0" smtClean="0">
                <a:latin typeface="Times New Roman" panose="02020603050405020304" pitchFamily="18" charset="0"/>
                <a:cs typeface="Times New Roman" panose="02020603050405020304" pitchFamily="18" charset="0"/>
                <a:sym typeface="Symbol" panose="05050102010706020507" pitchFamily="18" charset="2"/>
              </a:rPr>
              <a:t></a:t>
            </a:r>
            <a:r>
              <a:rPr lang="ru-RU" sz="2300" dirty="0" smtClean="0">
                <a:latin typeface="Times New Roman" panose="02020603050405020304" pitchFamily="18" charset="0"/>
                <a:cs typeface="Times New Roman" panose="02020603050405020304" pitchFamily="18" charset="0"/>
              </a:rPr>
              <a:t>- операция </a:t>
            </a:r>
            <a:r>
              <a:rPr lang="ru-RU" sz="2300" dirty="0">
                <a:latin typeface="Times New Roman" panose="02020603050405020304" pitchFamily="18" charset="0"/>
                <a:cs typeface="Times New Roman" panose="02020603050405020304" pitchFamily="18" charset="0"/>
              </a:rPr>
              <a:t>«исключающее ИЛИ»; биты нумеруются справа налево, начиная с младшего</a:t>
            </a:r>
            <a:r>
              <a:rPr lang="ru-RU" sz="2300" dirty="0" smtClean="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16</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2"/>
          <p:cNvSpPr>
            <a:spLocks noChangeArrowheads="1"/>
          </p:cNvSpPr>
          <p:nvPr/>
        </p:nvSpPr>
        <p:spPr bwMode="auto">
          <a:xfrm>
            <a:off x="0" y="105489"/>
            <a:ext cx="184731"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000" b="0" i="0" u="none" strike="noStrike" cap="none" normalizeH="0" baseline="0" dirty="0" smtClean="0">
              <a:ln>
                <a:noFill/>
              </a:ln>
              <a:solidFill>
                <a:srgbClr val="202122"/>
              </a:solidFill>
              <a:effectLst/>
              <a:latin typeface="Arial" panose="020B0604020202020204" pitchFamily="34" charset="0"/>
              <a:cs typeface="Arial" panose="020B0604020202020204" pitchFamily="34" charset="0"/>
            </a:endParaRPr>
          </a:p>
        </p:txBody>
      </p:sp>
      <p:sp>
        <p:nvSpPr>
          <p:cNvPr id="8" name="AutoShape 4" descr=" \oplus "/>
          <p:cNvSpPr>
            <a:spLocks noChangeAspect="1" noChangeArrowheads="1"/>
          </p:cNvSpPr>
          <p:nvPr/>
        </p:nvSpPr>
        <p:spPr bwMode="auto">
          <a:xfrm>
            <a:off x="352425" y="236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p:cNvPicPr>
            <a:picLocks noChangeAspect="1"/>
          </p:cNvPicPr>
          <p:nvPr/>
        </p:nvPicPr>
        <p:blipFill>
          <a:blip r:embed="rId2"/>
          <a:stretch>
            <a:fillRect/>
          </a:stretch>
        </p:blipFill>
        <p:spPr>
          <a:xfrm>
            <a:off x="4760404" y="4876800"/>
            <a:ext cx="2560447" cy="780004"/>
          </a:xfrm>
          <a:prstGeom prst="rect">
            <a:avLst/>
          </a:prstGeom>
        </p:spPr>
      </p:pic>
    </p:spTree>
    <p:extLst>
      <p:ext uri="{BB962C8B-B14F-4D97-AF65-F5344CB8AC3E}">
        <p14:creationId xmlns:p14="http://schemas.microsoft.com/office/powerpoint/2010/main" val="29822193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4444165"/>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Код Грея</a:t>
            </a:r>
          </a:p>
          <a:p>
            <a:pPr marL="358775" indent="-358775" algn="l"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Пример.</a:t>
            </a:r>
          </a:p>
          <a:p>
            <a:pPr marL="358775" indent="-358775" algn="l" rtl="0" eaLnBrk="0" fontAlgn="base" hangingPunct="0">
              <a:spcBef>
                <a:spcPct val="0"/>
              </a:spcBef>
              <a:spcAft>
                <a:spcPct val="0"/>
              </a:spcAft>
            </a:pPr>
            <a:r>
              <a:rPr lang="ru-RU" sz="2400" dirty="0" smtClean="0">
                <a:solidFill>
                  <a:srgbClr val="333333"/>
                </a:solidFill>
                <a:latin typeface="Times New Roman" panose="02020603050405020304" pitchFamily="18" charset="0"/>
                <a:cs typeface="Times New Roman" panose="02020603050405020304" pitchFamily="18" charset="0"/>
              </a:rPr>
              <a:t>Двоичное представления числа необходимо преобразовать в код Грея:</a:t>
            </a:r>
          </a:p>
          <a:p>
            <a:pPr marL="358775" indent="-358775" algn="ctr" rtl="0" eaLnBrk="0" fontAlgn="base" hangingPunct="0">
              <a:spcBef>
                <a:spcPct val="0"/>
              </a:spcBef>
              <a:spcAft>
                <a:spcPct val="0"/>
              </a:spcAft>
            </a:pPr>
            <a:r>
              <a:rPr lang="ru-RU" sz="2400" b="1" spc="190" dirty="0" smtClean="0">
                <a:solidFill>
                  <a:schemeClr val="tx2">
                    <a:lumMod val="60000"/>
                    <a:lumOff val="40000"/>
                  </a:schemeClr>
                </a:solidFill>
                <a:latin typeface="Times New Roman" panose="02020603050405020304" pitchFamily="18" charset="0"/>
                <a:cs typeface="Times New Roman" panose="02020603050405020304" pitchFamily="18" charset="0"/>
              </a:rPr>
              <a:t>10</a:t>
            </a:r>
            <a:r>
              <a:rPr lang="ru-RU" sz="2400" b="1" spc="190" dirty="0" smtClean="0">
                <a:solidFill>
                  <a:srgbClr val="333333"/>
                </a:solidFill>
                <a:latin typeface="Times New Roman" panose="02020603050405020304" pitchFamily="18" charset="0"/>
                <a:cs typeface="Times New Roman" panose="02020603050405020304" pitchFamily="18" charset="0"/>
              </a:rPr>
              <a:t>001110</a:t>
            </a:r>
            <a:r>
              <a:rPr lang="ru-RU" sz="2400" b="1" spc="190" dirty="0" smtClean="0">
                <a:solidFill>
                  <a:srgbClr val="FFFF00"/>
                </a:solidFill>
                <a:latin typeface="Times New Roman" panose="02020603050405020304" pitchFamily="18" charset="0"/>
                <a:cs typeface="Times New Roman" panose="02020603050405020304" pitchFamily="18" charset="0"/>
              </a:rPr>
              <a:t>01</a:t>
            </a:r>
          </a:p>
          <a:p>
            <a:pPr marL="358775" indent="-358775" algn="ctr" rtl="0" eaLnBrk="0" fontAlgn="base" hangingPunct="0">
              <a:spcBef>
                <a:spcPct val="0"/>
              </a:spcBef>
              <a:spcAft>
                <a:spcPct val="0"/>
              </a:spcAft>
            </a:pPr>
            <a:r>
              <a:rPr lang="ru-RU" sz="2400" b="1" spc="190" dirty="0" smtClean="0">
                <a:latin typeface="Times New Roman" panose="02020603050405020304" pitchFamily="18" charset="0"/>
                <a:cs typeface="Times New Roman" panose="02020603050405020304" pitchFamily="18" charset="0"/>
              </a:rPr>
              <a:t>0100011100</a:t>
            </a:r>
          </a:p>
          <a:p>
            <a:pPr marL="358775" indent="-358775" algn="ctr" rtl="0" eaLnBrk="0" fontAlgn="base" hangingPunct="0">
              <a:spcBef>
                <a:spcPct val="0"/>
              </a:spcBef>
              <a:spcAft>
                <a:spcPct val="0"/>
              </a:spcAft>
            </a:pPr>
            <a:r>
              <a:rPr lang="ru-RU" sz="2400" b="1" spc="190" dirty="0" smtClean="0">
                <a:solidFill>
                  <a:srgbClr val="FF0000"/>
                </a:solidFill>
                <a:latin typeface="Times New Roman" panose="02020603050405020304" pitchFamily="18" charset="0"/>
                <a:cs typeface="Times New Roman" panose="02020603050405020304" pitchFamily="18" charset="0"/>
              </a:rPr>
              <a:t>1</a:t>
            </a:r>
            <a:r>
              <a:rPr lang="ru-RU" sz="2400" b="1" spc="190" dirty="0" smtClean="0">
                <a:solidFill>
                  <a:schemeClr val="tx2">
                    <a:lumMod val="60000"/>
                    <a:lumOff val="40000"/>
                  </a:schemeClr>
                </a:solidFill>
                <a:latin typeface="Times New Roman" panose="02020603050405020304" pitchFamily="18" charset="0"/>
                <a:cs typeface="Times New Roman" panose="02020603050405020304" pitchFamily="18" charset="0"/>
              </a:rPr>
              <a:t>1</a:t>
            </a:r>
            <a:r>
              <a:rPr lang="ru-RU" sz="2400" b="1" spc="190" dirty="0" smtClean="0">
                <a:solidFill>
                  <a:srgbClr val="333333"/>
                </a:solidFill>
                <a:latin typeface="Times New Roman" panose="02020603050405020304" pitchFamily="18" charset="0"/>
                <a:cs typeface="Times New Roman" panose="02020603050405020304" pitchFamily="18" charset="0"/>
              </a:rPr>
              <a:t>0010010</a:t>
            </a:r>
            <a:r>
              <a:rPr lang="ru-RU" sz="2400" b="1" spc="190" dirty="0" smtClean="0">
                <a:solidFill>
                  <a:srgbClr val="FFFF00"/>
                </a:solidFill>
                <a:latin typeface="Times New Roman" panose="02020603050405020304" pitchFamily="18" charset="0"/>
                <a:cs typeface="Times New Roman" panose="02020603050405020304" pitchFamily="18" charset="0"/>
              </a:rPr>
              <a:t>1</a:t>
            </a:r>
          </a:p>
          <a:p>
            <a:pPr marL="358775" indent="-358775" algn="ctr" rtl="0" eaLnBrk="0" fontAlgn="base" hangingPunct="0">
              <a:spcBef>
                <a:spcPct val="0"/>
              </a:spcBef>
              <a:spcAft>
                <a:spcPct val="0"/>
              </a:spcAft>
            </a:pPr>
            <a:endParaRPr lang="ru-RU" sz="2400" b="1" spc="190" dirty="0">
              <a:solidFill>
                <a:srgbClr val="FFFF00"/>
              </a:solidFill>
              <a:latin typeface="Times New Roman" panose="02020603050405020304" pitchFamily="18" charset="0"/>
              <a:cs typeface="Times New Roman" panose="02020603050405020304" pitchFamily="18" charset="0"/>
            </a:endParaRPr>
          </a:p>
          <a:p>
            <a:pPr marL="358775" indent="-358775" algn="ctr" rtl="0" eaLnBrk="0" fontAlgn="base" hangingPunct="0">
              <a:spcBef>
                <a:spcPct val="0"/>
              </a:spcBef>
              <a:spcAft>
                <a:spcPct val="0"/>
              </a:spcAft>
            </a:pPr>
            <a:r>
              <a:rPr lang="ru-RU" sz="2400" b="1" spc="190" dirty="0" smtClean="0">
                <a:latin typeface="Times New Roman" panose="02020603050405020304" pitchFamily="18" charset="0"/>
                <a:cs typeface="Times New Roman" panose="02020603050405020304" pitchFamily="18" charset="0"/>
              </a:rPr>
              <a:t>1000111001</a:t>
            </a:r>
          </a:p>
          <a:p>
            <a:pPr marL="358775" indent="-358775" algn="ctr" rtl="0" eaLnBrk="0" fontAlgn="base" hangingPunct="0">
              <a:spcBef>
                <a:spcPct val="0"/>
              </a:spcBef>
              <a:spcAft>
                <a:spcPct val="0"/>
              </a:spcAft>
            </a:pPr>
            <a:r>
              <a:rPr lang="ru-RU" sz="2400" b="1" spc="190" dirty="0" smtClean="0">
                <a:latin typeface="Times New Roman" panose="02020603050405020304" pitchFamily="18" charset="0"/>
                <a:cs typeface="Times New Roman" panose="02020603050405020304" pitchFamily="18" charset="0"/>
              </a:rPr>
              <a:t> </a:t>
            </a:r>
            <a:r>
              <a:rPr lang="ru-RU" sz="2400" b="1" spc="190" dirty="0" smtClean="0">
                <a:solidFill>
                  <a:srgbClr val="FFFF00"/>
                </a:solidFill>
                <a:latin typeface="Times New Roman" panose="02020603050405020304" pitchFamily="18" charset="0"/>
                <a:cs typeface="Times New Roman" panose="02020603050405020304" pitchFamily="18" charset="0"/>
              </a:rPr>
              <a:t>0</a:t>
            </a:r>
            <a:r>
              <a:rPr lang="ru-RU" sz="2400" b="1" spc="190" dirty="0" smtClean="0">
                <a:solidFill>
                  <a:srgbClr val="FF0000"/>
                </a:solidFill>
                <a:latin typeface="Times New Roman" panose="02020603050405020304" pitchFamily="18" charset="0"/>
                <a:cs typeface="Times New Roman" panose="02020603050405020304" pitchFamily="18" charset="0"/>
              </a:rPr>
              <a:t>100011100</a:t>
            </a:r>
            <a:endParaRPr lang="ru-RU" sz="2400" b="1" spc="190" dirty="0">
              <a:solidFill>
                <a:srgbClr val="FF0000"/>
              </a:solidFill>
              <a:latin typeface="Times New Roman" panose="02020603050405020304" pitchFamily="18" charset="0"/>
              <a:cs typeface="Times New Roman" panose="02020603050405020304" pitchFamily="18" charset="0"/>
            </a:endParaRPr>
          </a:p>
          <a:p>
            <a:pPr marL="358775" indent="-358775" algn="ctr" rtl="0" eaLnBrk="0" fontAlgn="base" hangingPunct="0">
              <a:spcBef>
                <a:spcPct val="0"/>
              </a:spcBef>
              <a:spcAft>
                <a:spcPct val="0"/>
              </a:spcAft>
            </a:pPr>
            <a:r>
              <a:rPr lang="ru-RU" sz="2400" b="1" spc="190" dirty="0" smtClean="0">
                <a:latin typeface="Times New Roman" panose="02020603050405020304" pitchFamily="18" charset="0"/>
                <a:cs typeface="Times New Roman" panose="02020603050405020304" pitchFamily="18" charset="0"/>
              </a:rPr>
              <a:t>1100100101</a:t>
            </a:r>
            <a:endParaRPr lang="ru-RU" sz="2400" b="1" spc="190" dirty="0">
              <a:latin typeface="Times New Roman" panose="02020603050405020304" pitchFamily="18" charset="0"/>
              <a:cs typeface="Times New Roman" panose="02020603050405020304" pitchFamily="18" charset="0"/>
            </a:endParaRPr>
          </a:p>
          <a:p>
            <a:pPr marL="358775" indent="-358775" algn="ctr" rtl="0" eaLnBrk="0" fontAlgn="base" hangingPunct="0">
              <a:spcBef>
                <a:spcPct val="0"/>
              </a:spcBef>
              <a:spcAft>
                <a:spcPct val="0"/>
              </a:spcAft>
            </a:pPr>
            <a:endParaRPr lang="ru-RU" sz="2400" b="1" spc="190" dirty="0" smtClean="0">
              <a:solidFill>
                <a:srgbClr val="FFFF00"/>
              </a:solidFill>
              <a:latin typeface="Times New Roman" panose="02020603050405020304" pitchFamily="18" charset="0"/>
              <a:cs typeface="Times New Roman" panose="02020603050405020304" pitchFamily="18" charset="0"/>
            </a:endParaRPr>
          </a:p>
          <a:p>
            <a:pPr algn="just"/>
            <a:endParaRPr lang="ru-RU" sz="2400" dirty="0" smtClean="0">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17</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2"/>
          <p:cNvSpPr>
            <a:spLocks noChangeArrowheads="1"/>
          </p:cNvSpPr>
          <p:nvPr/>
        </p:nvSpPr>
        <p:spPr bwMode="auto">
          <a:xfrm>
            <a:off x="0" y="105489"/>
            <a:ext cx="184731"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000" b="0" i="0" u="none" strike="noStrike" cap="none" normalizeH="0" baseline="0" dirty="0" smtClean="0">
              <a:ln>
                <a:noFill/>
              </a:ln>
              <a:solidFill>
                <a:srgbClr val="202122"/>
              </a:solidFill>
              <a:effectLst/>
              <a:latin typeface="Arial" panose="020B0604020202020204" pitchFamily="34" charset="0"/>
              <a:cs typeface="Arial" panose="020B0604020202020204" pitchFamily="34" charset="0"/>
            </a:endParaRPr>
          </a:p>
        </p:txBody>
      </p:sp>
      <p:sp>
        <p:nvSpPr>
          <p:cNvPr id="8" name="AutoShape 4" descr=" \oplus "/>
          <p:cNvSpPr>
            <a:spLocks noChangeAspect="1" noChangeArrowheads="1"/>
          </p:cNvSpPr>
          <p:nvPr/>
        </p:nvSpPr>
        <p:spPr bwMode="auto">
          <a:xfrm>
            <a:off x="352425" y="236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9254641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3859390"/>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Код Грея</a:t>
            </a:r>
          </a:p>
          <a:p>
            <a:pPr marL="358775" lvl="0" indent="-358775" algn="just" rtl="0" eaLnBrk="0" fontAlgn="base" hangingPunct="0">
              <a:spcBef>
                <a:spcPct val="0"/>
              </a:spcBef>
              <a:spcAft>
                <a:spcPct val="0"/>
              </a:spcAft>
            </a:pPr>
            <a:r>
              <a:rPr lang="ru-RU" sz="2200" dirty="0" smtClean="0">
                <a:solidFill>
                  <a:srgbClr val="333333"/>
                </a:solidFill>
                <a:latin typeface="Times New Roman" panose="02020603050405020304" pitchFamily="18" charset="0"/>
                <a:cs typeface="Times New Roman" panose="02020603050405020304" pitchFamily="18" charset="0"/>
              </a:rPr>
              <a:t>Преобразование </a:t>
            </a:r>
            <a:r>
              <a:rPr lang="ru-RU" sz="2200" dirty="0">
                <a:solidFill>
                  <a:srgbClr val="333333"/>
                </a:solidFill>
                <a:latin typeface="Times New Roman" panose="02020603050405020304" pitchFamily="18" charset="0"/>
                <a:cs typeface="Times New Roman" panose="02020603050405020304" pitchFamily="18" charset="0"/>
              </a:rPr>
              <a:t>кода Грея в двоичный код </a:t>
            </a:r>
            <a:r>
              <a:rPr lang="ru-RU" sz="2200" dirty="0" smtClean="0">
                <a:solidFill>
                  <a:srgbClr val="333333"/>
                </a:solidFill>
                <a:latin typeface="Times New Roman" panose="02020603050405020304" pitchFamily="18" charset="0"/>
                <a:cs typeface="Times New Roman" panose="02020603050405020304" pitchFamily="18" charset="0"/>
              </a:rPr>
              <a:t>- можно </a:t>
            </a:r>
            <a:r>
              <a:rPr lang="ru-RU" sz="2200" dirty="0">
                <a:solidFill>
                  <a:srgbClr val="333333"/>
                </a:solidFill>
                <a:latin typeface="Times New Roman" panose="02020603050405020304" pitchFamily="18" charset="0"/>
                <a:cs typeface="Times New Roman" panose="02020603050405020304" pitchFamily="18" charset="0"/>
              </a:rPr>
              <a:t>выразить рекуррентной формулой</a:t>
            </a:r>
          </a:p>
          <a:p>
            <a:pPr marL="358775" lvl="0" indent="-358775" algn="l" rtl="0" eaLnBrk="0" fontAlgn="base" hangingPunct="0">
              <a:spcBef>
                <a:spcPct val="0"/>
              </a:spcBef>
              <a:spcAft>
                <a:spcPct val="0"/>
              </a:spcAft>
            </a:pPr>
            <a:r>
              <a:rPr lang="ru-RU" sz="2200" dirty="0">
                <a:solidFill>
                  <a:srgbClr val="333333"/>
                </a:solidFill>
                <a:latin typeface="Times New Roman" panose="02020603050405020304" pitchFamily="18" charset="0"/>
                <a:cs typeface="Times New Roman" panose="02020603050405020304" pitchFamily="18" charset="0"/>
              </a:rPr>
              <a:t>  </a:t>
            </a:r>
            <a:endParaRPr lang="ru-RU" sz="2200" dirty="0" smtClean="0">
              <a:solidFill>
                <a:srgbClr val="333333"/>
              </a:solidFill>
              <a:latin typeface="Times New Roman" panose="02020603050405020304" pitchFamily="18" charset="0"/>
              <a:cs typeface="Times New Roman" panose="02020603050405020304" pitchFamily="18" charset="0"/>
            </a:endParaRPr>
          </a:p>
          <a:p>
            <a:pPr marL="358775" lvl="0" indent="-358775" algn="l" rtl="0" eaLnBrk="0" fontAlgn="base" hangingPunct="0">
              <a:spcBef>
                <a:spcPct val="0"/>
              </a:spcBef>
              <a:spcAft>
                <a:spcPct val="0"/>
              </a:spcAft>
            </a:pPr>
            <a:endParaRPr lang="ru-RU" sz="2200" dirty="0" smtClean="0">
              <a:solidFill>
                <a:srgbClr val="333333"/>
              </a:solidFill>
              <a:latin typeface="Times New Roman" panose="02020603050405020304" pitchFamily="18" charset="0"/>
              <a:cs typeface="Times New Roman" panose="02020603050405020304" pitchFamily="18" charset="0"/>
            </a:endParaRPr>
          </a:p>
          <a:p>
            <a:pPr marL="358775" lvl="0" indent="-358775" algn="just" rtl="0" eaLnBrk="0" fontAlgn="base" hangingPunct="0">
              <a:spcBef>
                <a:spcPct val="0"/>
              </a:spcBef>
              <a:spcAft>
                <a:spcPct val="0"/>
              </a:spcAft>
            </a:pPr>
            <a:r>
              <a:rPr lang="ru-RU" sz="2200" dirty="0" smtClean="0">
                <a:solidFill>
                  <a:srgbClr val="333333"/>
                </a:solidFill>
                <a:latin typeface="Times New Roman" panose="02020603050405020304" pitchFamily="18" charset="0"/>
                <a:cs typeface="Times New Roman" panose="02020603050405020304" pitchFamily="18" charset="0"/>
              </a:rPr>
              <a:t>причём </a:t>
            </a:r>
            <a:r>
              <a:rPr lang="ru-RU" sz="2200" dirty="0">
                <a:solidFill>
                  <a:srgbClr val="333333"/>
                </a:solidFill>
                <a:latin typeface="Times New Roman" panose="02020603050405020304" pitchFamily="18" charset="0"/>
                <a:cs typeface="Times New Roman" panose="02020603050405020304" pitchFamily="18" charset="0"/>
              </a:rPr>
              <a:t>преобразование осуществляется побитно, начиная со старших разрядов, и значение   , используемое в формуле, вычисляется на предыдущем шаге алгоритма.</a:t>
            </a:r>
          </a:p>
          <a:p>
            <a:pPr marL="358775" indent="-358775" algn="l" rtl="0" eaLnBrk="0" fontAlgn="base" hangingPunct="0">
              <a:spcBef>
                <a:spcPct val="0"/>
              </a:spcBef>
              <a:spcAft>
                <a:spcPct val="0"/>
              </a:spcAft>
            </a:pPr>
            <a:r>
              <a:rPr lang="ru-RU" sz="2200" b="1" spc="190" dirty="0" smtClean="0">
                <a:latin typeface="Times New Roman" panose="02020603050405020304" pitchFamily="18" charset="0"/>
                <a:cs typeface="Times New Roman" panose="02020603050405020304" pitchFamily="18" charset="0"/>
              </a:rPr>
              <a:t>Пример.</a:t>
            </a:r>
          </a:p>
          <a:p>
            <a:pPr marL="358775" indent="-358775" algn="just" rtl="0" eaLnBrk="0" fontAlgn="base" hangingPunct="0">
              <a:spcBef>
                <a:spcPct val="0"/>
              </a:spcBef>
              <a:spcAft>
                <a:spcPct val="0"/>
              </a:spcAft>
            </a:pPr>
            <a:r>
              <a:rPr lang="ru-RU" sz="2200" dirty="0" smtClean="0">
                <a:solidFill>
                  <a:srgbClr val="333333"/>
                </a:solidFill>
                <a:latin typeface="Times New Roman" panose="02020603050405020304" pitchFamily="18" charset="0"/>
                <a:cs typeface="Times New Roman" panose="02020603050405020304" pitchFamily="18" charset="0"/>
              </a:rPr>
              <a:t>Преобразовать код Грея в двоичное представление числа.</a:t>
            </a:r>
          </a:p>
          <a:p>
            <a:pPr marL="358775" indent="-358775" algn="ctr" rtl="0" eaLnBrk="0" fontAlgn="base" hangingPunct="0">
              <a:spcBef>
                <a:spcPct val="0"/>
              </a:spcBef>
              <a:spcAft>
                <a:spcPct val="0"/>
              </a:spcAft>
            </a:pPr>
            <a:r>
              <a:rPr lang="ru-RU" sz="2400" b="1" spc="260" dirty="0" smtClean="0">
                <a:solidFill>
                  <a:srgbClr val="FF0000"/>
                </a:solidFill>
                <a:latin typeface="Times New Roman" panose="02020603050405020304" pitchFamily="18" charset="0"/>
                <a:cs typeface="Times New Roman" panose="02020603050405020304" pitchFamily="18" charset="0"/>
              </a:rPr>
              <a:t>1</a:t>
            </a:r>
            <a:r>
              <a:rPr lang="ru-RU" sz="2400" b="1" spc="260" dirty="0" smtClean="0">
                <a:solidFill>
                  <a:srgbClr val="333333"/>
                </a:solidFill>
                <a:latin typeface="Times New Roman" panose="02020603050405020304" pitchFamily="18" charset="0"/>
                <a:cs typeface="Times New Roman" panose="02020603050405020304" pitchFamily="18" charset="0"/>
              </a:rPr>
              <a:t>10011001</a:t>
            </a:r>
          </a:p>
          <a:p>
            <a:pPr marL="358775" indent="-358775" algn="ctr" rtl="0" eaLnBrk="0" fontAlgn="base" hangingPunct="0">
              <a:spcBef>
                <a:spcPct val="0"/>
              </a:spcBef>
              <a:spcAft>
                <a:spcPct val="0"/>
              </a:spcAft>
            </a:pPr>
            <a:r>
              <a:rPr lang="ru-RU" sz="2400" b="1" spc="260" dirty="0" smtClean="0">
                <a:solidFill>
                  <a:srgbClr val="FF0000"/>
                </a:solidFill>
                <a:latin typeface="Times New Roman" panose="02020603050405020304" pitchFamily="18" charset="0"/>
                <a:cs typeface="Times New Roman" panose="02020603050405020304" pitchFamily="18" charset="0"/>
              </a:rPr>
              <a:t>1</a:t>
            </a:r>
            <a:r>
              <a:rPr lang="ru-RU" sz="2400" b="1" spc="260" dirty="0" smtClean="0">
                <a:solidFill>
                  <a:srgbClr val="333333"/>
                </a:solidFill>
                <a:latin typeface="Times New Roman" panose="02020603050405020304" pitchFamily="18" charset="0"/>
                <a:cs typeface="Times New Roman" panose="02020603050405020304" pitchFamily="18" charset="0"/>
              </a:rPr>
              <a:t>00010001</a:t>
            </a:r>
          </a:p>
          <a:p>
            <a:pPr marL="358775" indent="-358775" algn="just" rtl="0" eaLnBrk="0" fontAlgn="base" hangingPunct="0">
              <a:spcBef>
                <a:spcPct val="0"/>
              </a:spcBef>
              <a:spcAft>
                <a:spcPct val="0"/>
              </a:spcAft>
            </a:pPr>
            <a:endParaRPr lang="ru-RU" sz="2400" dirty="0">
              <a:solidFill>
                <a:srgbClr val="333333"/>
              </a:solidFill>
              <a:latin typeface="Times New Roman" panose="02020603050405020304" pitchFamily="18" charset="0"/>
              <a:cs typeface="Times New Roman" panose="02020603050405020304" pitchFamily="18" charset="0"/>
            </a:endParaRP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18</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2"/>
          <p:cNvSpPr>
            <a:spLocks noChangeArrowheads="1"/>
          </p:cNvSpPr>
          <p:nvPr/>
        </p:nvSpPr>
        <p:spPr bwMode="auto">
          <a:xfrm>
            <a:off x="0" y="105489"/>
            <a:ext cx="184731"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000" b="0" i="0" u="none" strike="noStrike" cap="none" normalizeH="0" baseline="0" dirty="0" smtClean="0">
              <a:ln>
                <a:noFill/>
              </a:ln>
              <a:solidFill>
                <a:srgbClr val="202122"/>
              </a:solidFill>
              <a:effectLst/>
              <a:latin typeface="Arial" panose="020B0604020202020204" pitchFamily="34" charset="0"/>
              <a:cs typeface="Arial" panose="020B0604020202020204" pitchFamily="34" charset="0"/>
            </a:endParaRPr>
          </a:p>
        </p:txBody>
      </p:sp>
      <p:sp>
        <p:nvSpPr>
          <p:cNvPr id="8" name="AutoShape 4" descr=" \oplus "/>
          <p:cNvSpPr>
            <a:spLocks noChangeAspect="1" noChangeArrowheads="1"/>
          </p:cNvSpPr>
          <p:nvPr/>
        </p:nvSpPr>
        <p:spPr bwMode="auto">
          <a:xfrm>
            <a:off x="352425" y="236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Rectangle 1"/>
          <p:cNvSpPr>
            <a:spLocks noChangeArrowheads="1"/>
          </p:cNvSpPr>
          <p:nvPr/>
        </p:nvSpPr>
        <p:spPr bwMode="auto">
          <a:xfrm>
            <a:off x="0" y="105489"/>
            <a:ext cx="184731"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000" b="0" i="0" u="none" strike="noStrike" cap="none" normalizeH="0" baseline="0" dirty="0" smtClean="0">
              <a:ln>
                <a:noFill/>
              </a:ln>
              <a:solidFill>
                <a:srgbClr val="202122"/>
              </a:solidFill>
              <a:effectLst/>
              <a:latin typeface="Arial" panose="020B0604020202020204" pitchFamily="34" charset="0"/>
              <a:cs typeface="Arial" panose="020B0604020202020204" pitchFamily="34" charset="0"/>
            </a:endParaRPr>
          </a:p>
        </p:txBody>
      </p:sp>
      <p:sp>
        <p:nvSpPr>
          <p:cNvPr id="10" name="AutoShape 2" descr="{\displaystyle B_{i}=B_{i+1}\oplus G_{i},}"/>
          <p:cNvSpPr>
            <a:spLocks noChangeAspect="1" noChangeArrowheads="1"/>
          </p:cNvSpPr>
          <p:nvPr/>
        </p:nvSpPr>
        <p:spPr bwMode="auto">
          <a:xfrm>
            <a:off x="127000"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AutoShape 3" descr="B_{{i+1}}"/>
          <p:cNvSpPr>
            <a:spLocks noChangeAspect="1" noChangeArrowheads="1"/>
          </p:cNvSpPr>
          <p:nvPr/>
        </p:nvSpPr>
        <p:spPr bwMode="auto">
          <a:xfrm>
            <a:off x="5678488" y="236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 name="Рисунок 11"/>
          <p:cNvPicPr>
            <a:picLocks noChangeAspect="1"/>
          </p:cNvPicPr>
          <p:nvPr/>
        </p:nvPicPr>
        <p:blipFill>
          <a:blip r:embed="rId2"/>
          <a:stretch>
            <a:fillRect/>
          </a:stretch>
        </p:blipFill>
        <p:spPr>
          <a:xfrm>
            <a:off x="4855369" y="1524001"/>
            <a:ext cx="2421696" cy="609599"/>
          </a:xfrm>
          <a:prstGeom prst="rect">
            <a:avLst/>
          </a:prstGeom>
        </p:spPr>
      </p:pic>
      <p:graphicFrame>
        <p:nvGraphicFramePr>
          <p:cNvPr id="7" name="Таблица 6"/>
          <p:cNvGraphicFramePr>
            <a:graphicFrameLocks noGrp="1"/>
          </p:cNvGraphicFramePr>
          <p:nvPr>
            <p:extLst/>
          </p:nvPr>
        </p:nvGraphicFramePr>
        <p:xfrm>
          <a:off x="228596" y="4303145"/>
          <a:ext cx="11725839" cy="1066799"/>
        </p:xfrm>
        <a:graphic>
          <a:graphicData uri="http://schemas.openxmlformats.org/drawingml/2006/table">
            <a:tbl>
              <a:tblPr firstRow="1" bandRow="1">
                <a:tableStyleId>{5940675A-B579-460E-94D1-54222C63F5DA}</a:tableStyleId>
              </a:tblPr>
              <a:tblGrid>
                <a:gridCol w="1676405"/>
                <a:gridCol w="1676400"/>
                <a:gridCol w="1676400"/>
                <a:gridCol w="1676400"/>
                <a:gridCol w="1676400"/>
                <a:gridCol w="1676400"/>
                <a:gridCol w="1667434"/>
              </a:tblGrid>
              <a:tr h="1066799">
                <a:tc>
                  <a:txBody>
                    <a:bodyPr/>
                    <a:lstStyle/>
                    <a:p>
                      <a:pPr marL="358775" indent="-358775" algn="l" rtl="0" eaLnBrk="0" fontAlgn="base" hangingPunct="0">
                        <a:spcBef>
                          <a:spcPct val="0"/>
                        </a:spcBef>
                        <a:spcAft>
                          <a:spcPct val="0"/>
                        </a:spcAft>
                      </a:pPr>
                      <a:r>
                        <a:rPr lang="ru-RU" sz="2000" spc="260" dirty="0" smtClean="0">
                          <a:solidFill>
                            <a:srgbClr val="FF0000"/>
                          </a:solidFill>
                        </a:rPr>
                        <a:t>*********</a:t>
                      </a:r>
                    </a:p>
                    <a:p>
                      <a:pPr marL="358775" indent="-358775" algn="l" rtl="0" eaLnBrk="0" fontAlgn="base" hangingPunct="0">
                        <a:spcBef>
                          <a:spcPct val="0"/>
                        </a:spcBef>
                        <a:spcAft>
                          <a:spcPct val="0"/>
                        </a:spcAft>
                      </a:pPr>
                      <a:r>
                        <a:rPr lang="ru-RU" sz="2000" spc="260" dirty="0" smtClean="0">
                          <a:solidFill>
                            <a:srgbClr val="FF0000"/>
                          </a:solidFill>
                        </a:rPr>
                        <a:t>0********</a:t>
                      </a:r>
                    </a:p>
                    <a:p>
                      <a:pPr marL="358775" indent="-358775" algn="l" rtl="0" eaLnBrk="0" fontAlgn="base" hangingPunct="0">
                        <a:spcBef>
                          <a:spcPct val="0"/>
                        </a:spcBef>
                        <a:spcAft>
                          <a:spcPct val="0"/>
                        </a:spcAft>
                      </a:pPr>
                      <a:r>
                        <a:rPr lang="ru-RU" sz="2000" spc="260" dirty="0" smtClean="0">
                          <a:solidFill>
                            <a:srgbClr val="FF0000"/>
                          </a:solidFill>
                        </a:rPr>
                        <a:t>1</a:t>
                      </a:r>
                      <a:r>
                        <a:rPr lang="ru-RU" sz="2000" spc="260" dirty="0" smtClean="0"/>
                        <a:t>10011001</a:t>
                      </a:r>
                      <a:endParaRPr lang="ru-RU" dirty="0"/>
                    </a:p>
                  </a:txBody>
                  <a:tcPr/>
                </a:tc>
                <a:tc>
                  <a:txBody>
                    <a:bodyPr/>
                    <a:lstStyle/>
                    <a:p>
                      <a:pPr marL="358775" indent="-358775" algn="l" rtl="0" eaLnBrk="0" fontAlgn="base" hangingPunct="0">
                        <a:spcBef>
                          <a:spcPct val="0"/>
                        </a:spcBef>
                        <a:spcAft>
                          <a:spcPct val="0"/>
                        </a:spcAft>
                      </a:pPr>
                      <a:r>
                        <a:rPr lang="ru-RU" sz="2000" spc="260" dirty="0" smtClean="0">
                          <a:solidFill>
                            <a:srgbClr val="FF0000"/>
                          </a:solidFill>
                          <a:latin typeface="+mn-lt"/>
                          <a:ea typeface="+mn-ea"/>
                          <a:cs typeface="+mn-cs"/>
                        </a:rPr>
                        <a:t>1********</a:t>
                      </a:r>
                    </a:p>
                    <a:p>
                      <a:pPr marL="358775" indent="-358775" algn="l" rtl="0" eaLnBrk="0" fontAlgn="base" hangingPunct="0">
                        <a:spcBef>
                          <a:spcPct val="0"/>
                        </a:spcBef>
                        <a:spcAft>
                          <a:spcPct val="0"/>
                        </a:spcAft>
                      </a:pPr>
                      <a:r>
                        <a:rPr lang="ru-RU" sz="2000" spc="260" dirty="0" smtClean="0">
                          <a:solidFill>
                            <a:schemeClr val="tx1"/>
                          </a:solidFill>
                          <a:latin typeface="+mn-lt"/>
                          <a:ea typeface="+mn-ea"/>
                          <a:cs typeface="+mn-cs"/>
                        </a:rPr>
                        <a:t>0</a:t>
                      </a:r>
                      <a:r>
                        <a:rPr lang="ru-RU" sz="2000" spc="260" dirty="0" smtClean="0">
                          <a:solidFill>
                            <a:srgbClr val="FF0000"/>
                          </a:solidFill>
                          <a:latin typeface="+mn-lt"/>
                          <a:ea typeface="+mn-ea"/>
                          <a:cs typeface="+mn-cs"/>
                        </a:rPr>
                        <a:t>1*******</a:t>
                      </a:r>
                    </a:p>
                    <a:p>
                      <a:pPr marL="358775" indent="-358775" algn="l" rtl="0" eaLnBrk="0" fontAlgn="base" hangingPunct="0">
                        <a:spcBef>
                          <a:spcPct val="0"/>
                        </a:spcBef>
                        <a:spcAft>
                          <a:spcPct val="0"/>
                        </a:spcAft>
                      </a:pPr>
                      <a:r>
                        <a:rPr lang="ru-RU" sz="2000" spc="260" dirty="0" smtClean="0">
                          <a:solidFill>
                            <a:schemeClr val="tx1"/>
                          </a:solidFill>
                          <a:latin typeface="+mn-lt"/>
                          <a:ea typeface="+mn-ea"/>
                          <a:cs typeface="+mn-cs"/>
                        </a:rPr>
                        <a:t>1</a:t>
                      </a:r>
                      <a:r>
                        <a:rPr lang="ru-RU" sz="2000" spc="260" dirty="0" smtClean="0">
                          <a:solidFill>
                            <a:srgbClr val="FF0000"/>
                          </a:solidFill>
                          <a:latin typeface="+mn-lt"/>
                          <a:ea typeface="+mn-ea"/>
                          <a:cs typeface="+mn-cs"/>
                        </a:rPr>
                        <a:t>1</a:t>
                      </a:r>
                      <a:r>
                        <a:rPr lang="ru-RU" sz="2000" spc="260" dirty="0" smtClean="0">
                          <a:solidFill>
                            <a:schemeClr val="tx1"/>
                          </a:solidFill>
                          <a:latin typeface="+mn-lt"/>
                          <a:ea typeface="+mn-ea"/>
                          <a:cs typeface="+mn-cs"/>
                        </a:rPr>
                        <a:t>0011001</a:t>
                      </a:r>
                      <a:endParaRPr lang="ru-RU" sz="2000" spc="260" dirty="0">
                        <a:solidFill>
                          <a:srgbClr val="FF0000"/>
                        </a:solidFill>
                        <a:latin typeface="+mn-lt"/>
                        <a:ea typeface="+mn-ea"/>
                        <a:cs typeface="+mn-cs"/>
                      </a:endParaRPr>
                    </a:p>
                  </a:txBody>
                  <a:tcPr/>
                </a:tc>
                <a:tc>
                  <a:txBody>
                    <a:bodyPr/>
                    <a:lstStyle/>
                    <a:p>
                      <a:pPr marL="358775" indent="-358775" algn="l" rtl="0" eaLnBrk="0" fontAlgn="base" hangingPunct="0">
                        <a:spcBef>
                          <a:spcPct val="0"/>
                        </a:spcBef>
                        <a:spcAft>
                          <a:spcPct val="0"/>
                        </a:spcAft>
                      </a:pPr>
                      <a:r>
                        <a:rPr lang="ru-RU" sz="2000" spc="260" dirty="0" smtClean="0">
                          <a:solidFill>
                            <a:schemeClr val="tx1"/>
                          </a:solidFill>
                          <a:latin typeface="+mn-lt"/>
                          <a:ea typeface="+mn-ea"/>
                          <a:cs typeface="+mn-cs"/>
                        </a:rPr>
                        <a:t>1</a:t>
                      </a:r>
                      <a:r>
                        <a:rPr lang="ru-RU" sz="2000" spc="260" dirty="0" smtClean="0">
                          <a:solidFill>
                            <a:srgbClr val="FF0000"/>
                          </a:solidFill>
                          <a:latin typeface="+mn-lt"/>
                          <a:ea typeface="+mn-ea"/>
                          <a:cs typeface="+mn-cs"/>
                        </a:rPr>
                        <a:t>0*******</a:t>
                      </a:r>
                    </a:p>
                    <a:p>
                      <a:pPr marL="358775" indent="-358775" algn="l" rtl="0" eaLnBrk="0" fontAlgn="base" hangingPunct="0">
                        <a:spcBef>
                          <a:spcPct val="0"/>
                        </a:spcBef>
                        <a:spcAft>
                          <a:spcPct val="0"/>
                        </a:spcAft>
                      </a:pPr>
                      <a:r>
                        <a:rPr lang="ru-RU" sz="2000" spc="260" dirty="0" smtClean="0">
                          <a:solidFill>
                            <a:schemeClr val="tx1"/>
                          </a:solidFill>
                          <a:latin typeface="+mn-lt"/>
                          <a:ea typeface="+mn-ea"/>
                          <a:cs typeface="+mn-cs"/>
                        </a:rPr>
                        <a:t>01</a:t>
                      </a:r>
                      <a:r>
                        <a:rPr lang="ru-RU" sz="2000" spc="260" dirty="0" smtClean="0">
                          <a:solidFill>
                            <a:srgbClr val="FF0000"/>
                          </a:solidFill>
                          <a:latin typeface="+mn-lt"/>
                          <a:ea typeface="+mn-ea"/>
                          <a:cs typeface="+mn-cs"/>
                        </a:rPr>
                        <a:t>0******</a:t>
                      </a:r>
                    </a:p>
                    <a:p>
                      <a:pPr marL="358775" indent="-358775" algn="l" rtl="0" eaLnBrk="0" fontAlgn="base" hangingPunct="0">
                        <a:spcBef>
                          <a:spcPct val="0"/>
                        </a:spcBef>
                        <a:spcAft>
                          <a:spcPct val="0"/>
                        </a:spcAft>
                      </a:pPr>
                      <a:r>
                        <a:rPr lang="ru-RU" sz="2000" spc="260" dirty="0" smtClean="0">
                          <a:solidFill>
                            <a:schemeClr val="tx1"/>
                          </a:solidFill>
                          <a:latin typeface="+mn-lt"/>
                          <a:ea typeface="+mn-ea"/>
                          <a:cs typeface="+mn-cs"/>
                        </a:rPr>
                        <a:t>110011001</a:t>
                      </a:r>
                    </a:p>
                  </a:txBody>
                  <a:tcPr/>
                </a:tc>
                <a:tc>
                  <a:txBody>
                    <a:bodyPr/>
                    <a:lstStyle/>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01</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110011001</a:t>
                      </a:r>
                      <a:endParaRPr lang="ru-RU" dirty="0"/>
                    </a:p>
                  </a:txBody>
                  <a:tcPr/>
                </a:tc>
                <a:tc>
                  <a:txBody>
                    <a:bodyPr/>
                    <a:lstStyle/>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010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110011001</a:t>
                      </a:r>
                      <a:endParaRPr kumimoji="0" lang="ru-RU" sz="1800" b="0" i="0" u="none" strike="noStrike" kern="0" cap="none" spc="0" normalizeH="0" baseline="0" noProof="0" dirty="0" smtClean="0">
                        <a:ln>
                          <a:noFill/>
                        </a:ln>
                        <a:solidFill>
                          <a:prstClr val="black"/>
                        </a:solidFill>
                        <a:effectLst/>
                        <a:uLnTx/>
                        <a:uFillTx/>
                        <a:latin typeface="+mn-lt"/>
                      </a:endParaRPr>
                    </a:p>
                  </a:txBody>
                  <a:tcPr/>
                </a:tc>
                <a:tc>
                  <a:txBody>
                    <a:bodyPr/>
                    <a:lstStyle/>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100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1****</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0100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1***</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110011001</a:t>
                      </a:r>
                      <a:endParaRPr kumimoji="0" lang="ru-RU" sz="1800" b="0" i="0" u="none" strike="noStrike" kern="0" cap="none" spc="0" normalizeH="0" baseline="0" noProof="0" dirty="0" smtClean="0">
                        <a:ln>
                          <a:noFill/>
                        </a:ln>
                        <a:solidFill>
                          <a:prstClr val="black"/>
                        </a:solidFill>
                        <a:effectLst/>
                        <a:uLnTx/>
                        <a:uFillTx/>
                        <a:latin typeface="+mn-lt"/>
                      </a:endParaRPr>
                    </a:p>
                  </a:txBody>
                  <a:tcPr/>
                </a:tc>
                <a:tc>
                  <a:txBody>
                    <a:bodyPr/>
                    <a:lstStyle/>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1000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1</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01000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1</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110011001</a:t>
                      </a:r>
                      <a:endParaRPr kumimoji="0" lang="ru-RU" sz="1800" b="0" i="0" u="none" strike="noStrike" kern="0" cap="none" spc="0" normalizeH="0" baseline="0" noProof="0" dirty="0" smtClean="0">
                        <a:ln>
                          <a:noFill/>
                        </a:ln>
                        <a:solidFill>
                          <a:prstClr val="black"/>
                        </a:solidFill>
                        <a:effectLst/>
                        <a:uLnTx/>
                        <a:uFillTx/>
                        <a:latin typeface="+mn-lt"/>
                      </a:endParaRPr>
                    </a:p>
                  </a:txBody>
                  <a:tcPr/>
                </a:tc>
              </a:tr>
            </a:tbl>
          </a:graphicData>
        </a:graphic>
      </p:graphicFrame>
      <p:graphicFrame>
        <p:nvGraphicFramePr>
          <p:cNvPr id="13" name="Таблица 12"/>
          <p:cNvGraphicFramePr>
            <a:graphicFrameLocks noGrp="1"/>
          </p:cNvGraphicFramePr>
          <p:nvPr>
            <p:extLst/>
          </p:nvPr>
        </p:nvGraphicFramePr>
        <p:xfrm>
          <a:off x="3581400" y="5486400"/>
          <a:ext cx="5029205" cy="1066799"/>
        </p:xfrm>
        <a:graphic>
          <a:graphicData uri="http://schemas.openxmlformats.org/drawingml/2006/table">
            <a:tbl>
              <a:tblPr firstRow="1" bandRow="1">
                <a:tableStyleId>{5940675A-B579-460E-94D1-54222C63F5DA}</a:tableStyleId>
              </a:tblPr>
              <a:tblGrid>
                <a:gridCol w="1676405"/>
                <a:gridCol w="1676400"/>
                <a:gridCol w="1676400"/>
              </a:tblGrid>
              <a:tr h="1066799">
                <a:tc>
                  <a:txBody>
                    <a:bodyPr/>
                    <a:lstStyle/>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10001</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010001</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110011001</a:t>
                      </a:r>
                      <a:endParaRPr lang="ru-RU" dirty="0"/>
                    </a:p>
                  </a:txBody>
                  <a:tcPr/>
                </a:tc>
                <a:tc>
                  <a:txBody>
                    <a:bodyPr/>
                    <a:lstStyle/>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100010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0100010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110011001</a:t>
                      </a:r>
                      <a:endParaRPr kumimoji="0" lang="ru-RU" sz="1800" b="0" i="0" u="none" strike="noStrike" kern="0" cap="none" spc="0" normalizeH="0" baseline="0" noProof="0" dirty="0">
                        <a:ln>
                          <a:noFill/>
                        </a:ln>
                        <a:solidFill>
                          <a:prstClr val="black"/>
                        </a:solidFill>
                        <a:effectLst/>
                        <a:uLnTx/>
                        <a:uFillTx/>
                        <a:latin typeface="+mn-lt"/>
                      </a:endParaRPr>
                    </a:p>
                  </a:txBody>
                  <a:tcPr/>
                </a:tc>
                <a:tc>
                  <a:txBody>
                    <a:bodyPr/>
                    <a:lstStyle/>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1000100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r>
                        <a:rPr kumimoji="0" lang="ru-RU" sz="2000" b="0" i="0" u="none" strike="noStrike" kern="0" cap="none" spc="260" normalizeH="0" baseline="0" noProof="0" dirty="0" smtClean="0">
                          <a:ln>
                            <a:noFill/>
                          </a:ln>
                          <a:solidFill>
                            <a:srgbClr val="FF0000"/>
                          </a:solidFill>
                          <a:effectLst/>
                          <a:uLnTx/>
                          <a:uFillTx/>
                          <a:latin typeface="+mn-lt"/>
                          <a:ea typeface="+mn-ea"/>
                          <a:cs typeface="+mn-cs"/>
                        </a:rPr>
                        <a:t>1</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01000100</a:t>
                      </a:r>
                      <a:r>
                        <a:rPr kumimoji="0" lang="ru-RU" sz="2000" b="0" i="0" u="none" strike="noStrike" kern="0" cap="none" spc="260" normalizeH="0" baseline="0" noProof="0" dirty="0" smtClean="0">
                          <a:ln>
                            <a:noFill/>
                          </a:ln>
                          <a:solidFill>
                            <a:schemeClr val="tx1"/>
                          </a:solidFill>
                          <a:effectLst/>
                          <a:uLnTx/>
                          <a:uFillTx/>
                          <a:latin typeface="+mn-lt"/>
                          <a:ea typeface="+mn-ea"/>
                          <a:cs typeface="+mn-cs"/>
                        </a:rPr>
                        <a:t>0</a:t>
                      </a:r>
                    </a:p>
                    <a:p>
                      <a:pPr marL="358775" marR="0" lvl="0" indent="-358775" algn="l" defTabSz="914400" rtl="0" eaLnBrk="0" fontAlgn="base" latinLnBrk="0" hangingPunct="0">
                        <a:lnSpc>
                          <a:spcPct val="100000"/>
                        </a:lnSpc>
                        <a:spcBef>
                          <a:spcPct val="0"/>
                        </a:spcBef>
                        <a:spcAft>
                          <a:spcPct val="0"/>
                        </a:spcAft>
                        <a:buClrTx/>
                        <a:buSzTx/>
                        <a:buFontTx/>
                        <a:buNone/>
                        <a:tabLst/>
                        <a:defRPr/>
                      </a:pPr>
                      <a:r>
                        <a:rPr kumimoji="0" lang="ru-RU" sz="2000" b="0" i="0" u="none" strike="noStrike" kern="0" cap="none" spc="260" normalizeH="0" baseline="0" noProof="0" dirty="0" smtClean="0">
                          <a:ln>
                            <a:noFill/>
                          </a:ln>
                          <a:solidFill>
                            <a:prstClr val="black"/>
                          </a:solidFill>
                          <a:effectLst/>
                          <a:uLnTx/>
                          <a:uFillTx/>
                          <a:latin typeface="+mn-lt"/>
                          <a:ea typeface="+mn-ea"/>
                          <a:cs typeface="+mn-cs"/>
                        </a:rPr>
                        <a:t>110011001</a:t>
                      </a:r>
                      <a:endParaRPr kumimoji="0" lang="ru-RU" sz="1800" b="0" i="0" u="none" strike="noStrike" kern="0" cap="none" spc="0" normalizeH="0" baseline="0" noProof="0" dirty="0">
                        <a:ln>
                          <a:noFill/>
                        </a:ln>
                        <a:solidFill>
                          <a:prstClr val="black"/>
                        </a:solidFill>
                        <a:effectLst/>
                        <a:uLnTx/>
                        <a:uFillTx/>
                        <a:latin typeface="+mn-lt"/>
                      </a:endParaRPr>
                    </a:p>
                  </a:txBody>
                  <a:tcPr/>
                </a:tc>
              </a:tr>
            </a:tbl>
          </a:graphicData>
        </a:graphic>
      </p:graphicFrame>
    </p:spTree>
    <p:extLst>
      <p:ext uri="{BB962C8B-B14F-4D97-AF65-F5344CB8AC3E}">
        <p14:creationId xmlns:p14="http://schemas.microsoft.com/office/powerpoint/2010/main" val="27146437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5182829"/>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Код Грея</a:t>
            </a:r>
          </a:p>
          <a:p>
            <a:pPr algn="just"/>
            <a:r>
              <a:rPr lang="ru-RU" sz="2400" dirty="0">
                <a:latin typeface="Times New Roman" panose="02020603050405020304" pitchFamily="18" charset="0"/>
                <a:cs typeface="Times New Roman" panose="02020603050405020304" pitchFamily="18" charset="0"/>
              </a:rPr>
              <a:t>Код Грея для n бит может быть рекурсивно построен на основе кода для n–1 бит путём:</a:t>
            </a:r>
          </a:p>
          <a:p>
            <a:pPr marL="1157288" indent="-342900" algn="just">
              <a:buFont typeface="Arial" panose="020B0604020202020204" pitchFamily="34" charset="0"/>
              <a:buChar char="•"/>
            </a:pPr>
            <a:r>
              <a:rPr lang="ru-RU" sz="2400" dirty="0" smtClean="0">
                <a:latin typeface="Times New Roman" panose="02020603050405020304" pitchFamily="18" charset="0"/>
                <a:cs typeface="Times New Roman" panose="02020603050405020304" pitchFamily="18" charset="0"/>
              </a:rPr>
              <a:t>записывания </a:t>
            </a:r>
            <a:r>
              <a:rPr lang="ru-RU" sz="2400" dirty="0">
                <a:latin typeface="Times New Roman" panose="02020603050405020304" pitchFamily="18" charset="0"/>
                <a:cs typeface="Times New Roman" panose="02020603050405020304" pitchFamily="18" charset="0"/>
              </a:rPr>
              <a:t>кодов в обратном порядке</a:t>
            </a:r>
          </a:p>
          <a:p>
            <a:pPr marL="1157288" indent="-342900"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конкатенации исходного и перевёрнутого списков</a:t>
            </a:r>
          </a:p>
          <a:p>
            <a:pPr marL="1157288" indent="-342900" algn="just">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дописывания </a:t>
            </a:r>
            <a:r>
              <a:rPr lang="en-US" sz="2400" dirty="0">
                <a:latin typeface="Times New Roman" panose="02020603050405020304" pitchFamily="18" charset="0"/>
                <a:cs typeface="Times New Roman" panose="02020603050405020304" pitchFamily="18" charset="0"/>
              </a:rPr>
              <a:t>0 </a:t>
            </a:r>
            <a:r>
              <a:rPr lang="ru-RU" sz="2400" dirty="0">
                <a:latin typeface="Times New Roman" panose="02020603050405020304" pitchFamily="18" charset="0"/>
                <a:cs typeface="Times New Roman" panose="02020603050405020304" pitchFamily="18" charset="0"/>
              </a:rPr>
              <a:t>в начало каждого кода в исходном списке и </a:t>
            </a:r>
            <a:r>
              <a:rPr lang="en-US" sz="2400" dirty="0">
                <a:latin typeface="Times New Roman" panose="02020603050405020304" pitchFamily="18" charset="0"/>
                <a:cs typeface="Times New Roman" panose="02020603050405020304" pitchFamily="18" charset="0"/>
              </a:rPr>
              <a:t>1</a:t>
            </a:r>
            <a:r>
              <a:rPr lang="ru-RU" sz="2400" dirty="0">
                <a:latin typeface="Times New Roman" panose="02020603050405020304" pitchFamily="18" charset="0"/>
                <a:cs typeface="Times New Roman" panose="02020603050405020304" pitchFamily="18" charset="0"/>
              </a:rPr>
              <a:t> в начало кодов в перевёрнутом списке.</a:t>
            </a:r>
          </a:p>
          <a:p>
            <a:pPr algn="just">
              <a:buNone/>
            </a:pPr>
            <a:r>
              <a:rPr lang="ru-RU" sz="2400" b="1" dirty="0">
                <a:latin typeface="Times New Roman" panose="02020603050405020304" pitchFamily="18" charset="0"/>
                <a:cs typeface="Times New Roman" panose="02020603050405020304" pitchFamily="18" charset="0"/>
              </a:rPr>
              <a:t>Пример:</a:t>
            </a:r>
          </a:p>
          <a:p>
            <a:pPr algn="just"/>
            <a:r>
              <a:rPr lang="ru-RU" sz="2400" dirty="0">
                <a:latin typeface="Times New Roman" panose="02020603050405020304" pitchFamily="18" charset="0"/>
                <a:cs typeface="Times New Roman" panose="02020603050405020304" pitchFamily="18" charset="0"/>
              </a:rPr>
              <a:t>Коды для n = 2 бит:                00, 01, 11, 10 </a:t>
            </a:r>
          </a:p>
          <a:p>
            <a:pPr algn="just"/>
            <a:r>
              <a:rPr lang="ru-RU" sz="2400" dirty="0">
                <a:latin typeface="Times New Roman" panose="02020603050405020304" pitchFamily="18" charset="0"/>
                <a:cs typeface="Times New Roman" panose="02020603050405020304" pitchFamily="18" charset="0"/>
              </a:rPr>
              <a:t>Перевёрнутый список кодов:   10, 11, 01, 00 </a:t>
            </a:r>
          </a:p>
          <a:p>
            <a:pPr algn="just"/>
            <a:r>
              <a:rPr lang="ru-RU" sz="2400" dirty="0">
                <a:latin typeface="Times New Roman" panose="02020603050405020304" pitchFamily="18" charset="0"/>
                <a:cs typeface="Times New Roman" panose="02020603050405020304" pitchFamily="18" charset="0"/>
              </a:rPr>
              <a:t>Объединённый список:            00, 01, 11, 10</a:t>
            </a:r>
            <a:r>
              <a:rPr lang="en-US" sz="2400" dirty="0">
                <a:latin typeface="Times New Roman" panose="02020603050405020304" pitchFamily="18" charset="0"/>
                <a:cs typeface="Times New Roman" panose="02020603050405020304" pitchFamily="18" charset="0"/>
              </a:rPr>
              <a:t>,</a:t>
            </a:r>
            <a:r>
              <a:rPr lang="ru-RU" sz="2400" dirty="0">
                <a:latin typeface="Times New Roman" panose="02020603050405020304" pitchFamily="18" charset="0"/>
                <a:cs typeface="Times New Roman" panose="02020603050405020304" pitchFamily="18" charset="0"/>
              </a:rPr>
              <a:t> 10, 11, 01, 00 </a:t>
            </a:r>
          </a:p>
          <a:p>
            <a:pPr algn="l"/>
            <a:r>
              <a:rPr lang="ru-RU" sz="2400" dirty="0">
                <a:latin typeface="Times New Roman" panose="02020603050405020304" pitchFamily="18" charset="0"/>
                <a:cs typeface="Times New Roman" panose="02020603050405020304" pitchFamily="18" charset="0"/>
              </a:rPr>
              <a:t>К начальному списку дописаны нули: </a:t>
            </a:r>
            <a:br>
              <a:rPr lang="ru-RU" sz="2400" dirty="0">
                <a:latin typeface="Times New Roman" panose="02020603050405020304" pitchFamily="18" charset="0"/>
                <a:cs typeface="Times New Roman" panose="02020603050405020304" pitchFamily="18" charset="0"/>
              </a:rPr>
            </a:br>
            <a:r>
              <a:rPr lang="ru-RU" sz="2400" dirty="0">
                <a:latin typeface="Times New Roman" panose="02020603050405020304" pitchFamily="18" charset="0"/>
                <a:cs typeface="Times New Roman" panose="02020603050405020304" pitchFamily="18" charset="0"/>
              </a:rPr>
              <a:t>                        000, 001, 011, 010</a:t>
            </a:r>
            <a:r>
              <a:rPr lang="en-US" sz="2400" dirty="0">
                <a:latin typeface="Times New Roman" panose="02020603050405020304" pitchFamily="18" charset="0"/>
                <a:cs typeface="Times New Roman" panose="02020603050405020304" pitchFamily="18" charset="0"/>
              </a:rPr>
              <a:t>,</a:t>
            </a:r>
            <a:r>
              <a:rPr lang="ru-RU" sz="2400" dirty="0">
                <a:latin typeface="Times New Roman" panose="02020603050405020304" pitchFamily="18" charset="0"/>
                <a:cs typeface="Times New Roman" panose="02020603050405020304" pitchFamily="18" charset="0"/>
              </a:rPr>
              <a:t> 10, 11, 01, 00 </a:t>
            </a:r>
          </a:p>
          <a:p>
            <a:pPr algn="l"/>
            <a:r>
              <a:rPr lang="ru-RU" sz="2400" dirty="0">
                <a:latin typeface="Times New Roman" panose="02020603050405020304" pitchFamily="18" charset="0"/>
                <a:cs typeface="Times New Roman" panose="02020603050405020304" pitchFamily="18" charset="0"/>
              </a:rPr>
              <a:t>К перевёрнутому списку дописаны единицы: </a:t>
            </a:r>
            <a:br>
              <a:rPr lang="ru-RU" sz="2400" dirty="0">
                <a:latin typeface="Times New Roman" panose="02020603050405020304" pitchFamily="18" charset="0"/>
                <a:cs typeface="Times New Roman" panose="02020603050405020304" pitchFamily="18" charset="0"/>
              </a:rPr>
            </a:br>
            <a:r>
              <a:rPr lang="ru-RU" sz="2400" dirty="0">
                <a:latin typeface="Times New Roman" panose="02020603050405020304" pitchFamily="18" charset="0"/>
                <a:cs typeface="Times New Roman" panose="02020603050405020304" pitchFamily="18" charset="0"/>
              </a:rPr>
              <a:t>                       000, 001, 011, 010</a:t>
            </a:r>
            <a:r>
              <a:rPr lang="en-US" sz="2400" dirty="0">
                <a:latin typeface="Times New Roman" panose="02020603050405020304" pitchFamily="18" charset="0"/>
                <a:cs typeface="Times New Roman" panose="02020603050405020304" pitchFamily="18" charset="0"/>
              </a:rPr>
              <a:t>,</a:t>
            </a:r>
            <a:r>
              <a:rPr lang="ru-RU" sz="2400" dirty="0">
                <a:latin typeface="Times New Roman" panose="02020603050405020304" pitchFamily="18" charset="0"/>
                <a:cs typeface="Times New Roman" panose="02020603050405020304" pitchFamily="18" charset="0"/>
              </a:rPr>
              <a:t> 110, 111, 101, 100</a:t>
            </a: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19</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2"/>
          <p:cNvSpPr>
            <a:spLocks noChangeArrowheads="1"/>
          </p:cNvSpPr>
          <p:nvPr/>
        </p:nvSpPr>
        <p:spPr bwMode="auto">
          <a:xfrm>
            <a:off x="0" y="105489"/>
            <a:ext cx="184731"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000" b="0" i="0" u="none" strike="noStrike" cap="none" normalizeH="0" baseline="0" dirty="0" smtClean="0">
              <a:ln>
                <a:noFill/>
              </a:ln>
              <a:solidFill>
                <a:srgbClr val="202122"/>
              </a:solidFill>
              <a:effectLst/>
              <a:latin typeface="Arial" panose="020B0604020202020204" pitchFamily="34" charset="0"/>
              <a:cs typeface="Arial" panose="020B0604020202020204" pitchFamily="34" charset="0"/>
            </a:endParaRPr>
          </a:p>
        </p:txBody>
      </p:sp>
      <p:sp>
        <p:nvSpPr>
          <p:cNvPr id="8" name="AutoShape 4" descr=" \oplus "/>
          <p:cNvSpPr>
            <a:spLocks noChangeAspect="1" noChangeArrowheads="1"/>
          </p:cNvSpPr>
          <p:nvPr/>
        </p:nvSpPr>
        <p:spPr bwMode="auto">
          <a:xfrm>
            <a:off x="352425" y="236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0479023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11624056" cy="566822"/>
          </a:xfrm>
          <a:prstGeom prst="rect">
            <a:avLst/>
          </a:prstGeom>
        </p:spPr>
        <p:txBody>
          <a:bodyPr vert="horz" wrap="square" lIns="0" tIns="12700" rIns="0" bIns="0" rtlCol="0">
            <a:spAutoFit/>
          </a:bodyPr>
          <a:lstStyle/>
          <a:p>
            <a:pPr marL="12700" algn="ctr">
              <a:lnSpc>
                <a:spcPct val="100000"/>
              </a:lnSpc>
              <a:spcBef>
                <a:spcPts val="100"/>
              </a:spcBef>
            </a:pPr>
            <a:r>
              <a:rPr lang="ru-RU" sz="3600" b="1" spc="95" dirty="0" smtClean="0">
                <a:latin typeface="Arial Rounded MT Bold" panose="020F0704030504030204" pitchFamily="34" charset="0"/>
              </a:rPr>
              <a:t>Алгоритмы генерации перестановок</a:t>
            </a:r>
            <a:endParaRPr sz="3600" b="1" spc="95" dirty="0">
              <a:latin typeface="Arial Rounded MT Bold" panose="020F0704030504030204" pitchFamily="34" charset="0"/>
            </a:endParaRPr>
          </a:p>
        </p:txBody>
      </p:sp>
      <p:sp>
        <p:nvSpPr>
          <p:cNvPr id="3" name="object 3"/>
          <p:cNvSpPr txBox="1">
            <a:spLocks noGrp="1"/>
          </p:cNvSpPr>
          <p:nvPr>
            <p:ph type="body" idx="1"/>
          </p:nvPr>
        </p:nvSpPr>
        <p:spPr>
          <a:xfrm>
            <a:off x="219635" y="781975"/>
            <a:ext cx="11734800" cy="381515"/>
          </a:xfrm>
          <a:prstGeom prst="rect">
            <a:avLst/>
          </a:prstGeom>
        </p:spPr>
        <p:txBody>
          <a:bodyPr vert="horz" wrap="square" lIns="0" tIns="12065" rIns="0" bIns="0" rtlCol="0">
            <a:spAutoFit/>
          </a:bodyPr>
          <a:lstStyle/>
          <a:p>
            <a:pPr marL="358775" indent="-358775" algn="ctr" rtl="0" eaLnBrk="0" fontAlgn="base" hangingPunct="0">
              <a:spcBef>
                <a:spcPct val="0"/>
              </a:spcBef>
              <a:spcAft>
                <a:spcPct val="0"/>
              </a:spcAft>
            </a:pPr>
            <a:r>
              <a:rPr lang="ru-RU" sz="2400" b="1" dirty="0" smtClean="0">
                <a:solidFill>
                  <a:srgbClr val="333333"/>
                </a:solidFill>
                <a:latin typeface="Times New Roman" panose="02020603050405020304" pitchFamily="18" charset="0"/>
                <a:cs typeface="Times New Roman" panose="02020603050405020304" pitchFamily="18" charset="0"/>
              </a:rPr>
              <a:t>Код Грея</a:t>
            </a:r>
          </a:p>
        </p:txBody>
      </p:sp>
      <p:sp>
        <p:nvSpPr>
          <p:cNvPr id="4" name="Номер слайда 3"/>
          <p:cNvSpPr>
            <a:spLocks noGrp="1"/>
          </p:cNvSpPr>
          <p:nvPr>
            <p:ph type="sldNum" sz="quarter" idx="7"/>
          </p:nvPr>
        </p:nvSpPr>
        <p:spPr>
          <a:xfrm>
            <a:off x="11582400" y="6487193"/>
            <a:ext cx="543940" cy="327025"/>
          </a:xfrm>
        </p:spPr>
        <p:txBody>
          <a:bodyPr/>
          <a:lstStyle/>
          <a:p>
            <a:pPr marL="136525">
              <a:lnSpc>
                <a:spcPct val="100000"/>
              </a:lnSpc>
              <a:spcBef>
                <a:spcPts val="185"/>
              </a:spcBef>
            </a:pPr>
            <a:fld id="{81D60167-4931-47E6-BA6A-407CBD079E47}" type="slidenum">
              <a:rPr lang="ru-RU" spc="55" smtClean="0"/>
              <a:t>20</a:t>
            </a:fld>
            <a:endParaRPr lang="ru-RU" spc="55" dirty="0"/>
          </a:p>
        </p:txBody>
      </p:sp>
      <p:sp>
        <p:nvSpPr>
          <p:cNvPr id="6" name="AutoShape 3" descr="Жадные алгоритмы.Жадность и графы."/>
          <p:cNvSpPr>
            <a:spLocks noChangeAspect="1" noChangeArrowheads="1"/>
          </p:cNvSpPr>
          <p:nvPr/>
        </p:nvSpPr>
        <p:spPr bwMode="auto">
          <a:xfrm>
            <a:off x="1118679" y="-1235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2"/>
          <p:cNvSpPr>
            <a:spLocks noChangeArrowheads="1"/>
          </p:cNvSpPr>
          <p:nvPr/>
        </p:nvSpPr>
        <p:spPr bwMode="auto">
          <a:xfrm>
            <a:off x="0" y="105489"/>
            <a:ext cx="184731"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000" b="0" i="0" u="none" strike="noStrike" cap="none" normalizeH="0" baseline="0" dirty="0" smtClean="0">
              <a:ln>
                <a:noFill/>
              </a:ln>
              <a:solidFill>
                <a:srgbClr val="202122"/>
              </a:solidFill>
              <a:effectLst/>
              <a:latin typeface="Arial" panose="020B0604020202020204" pitchFamily="34" charset="0"/>
              <a:cs typeface="Arial" panose="020B0604020202020204" pitchFamily="34" charset="0"/>
            </a:endParaRPr>
          </a:p>
        </p:txBody>
      </p:sp>
      <p:sp>
        <p:nvSpPr>
          <p:cNvPr id="8" name="AutoShape 4" descr=" \oplus "/>
          <p:cNvSpPr>
            <a:spLocks noChangeAspect="1" noChangeArrowheads="1"/>
          </p:cNvSpPr>
          <p:nvPr/>
        </p:nvSpPr>
        <p:spPr bwMode="auto">
          <a:xfrm>
            <a:off x="352425" y="236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p:cNvPicPr>
            <a:picLocks noChangeAspect="1"/>
          </p:cNvPicPr>
          <p:nvPr/>
        </p:nvPicPr>
        <p:blipFill>
          <a:blip r:embed="rId2"/>
          <a:stretch>
            <a:fillRect/>
          </a:stretch>
        </p:blipFill>
        <p:spPr>
          <a:xfrm>
            <a:off x="3334310" y="1404127"/>
            <a:ext cx="5505450" cy="4763356"/>
          </a:xfrm>
          <a:prstGeom prst="rect">
            <a:avLst/>
          </a:prstGeom>
        </p:spPr>
      </p:pic>
    </p:spTree>
    <p:extLst>
      <p:ext uri="{BB962C8B-B14F-4D97-AF65-F5344CB8AC3E}">
        <p14:creationId xmlns:p14="http://schemas.microsoft.com/office/powerpoint/2010/main" val="27824243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6276</TotalTime>
  <Words>1998</Words>
  <Application>Microsoft Office PowerPoint</Application>
  <PresentationFormat>Широкоэкранный</PresentationFormat>
  <Paragraphs>578</Paragraphs>
  <Slides>20</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20</vt:i4>
      </vt:variant>
    </vt:vector>
  </HeadingPairs>
  <TitlesOfParts>
    <vt:vector size="29" baseType="lpstr">
      <vt:lpstr>Arial</vt:lpstr>
      <vt:lpstr>Arial Black</vt:lpstr>
      <vt:lpstr>Arial Narrow</vt:lpstr>
      <vt:lpstr>Arial Rounded MT Bold</vt:lpstr>
      <vt:lpstr>Calibri</vt:lpstr>
      <vt:lpstr>Symbol</vt:lpstr>
      <vt:lpstr>Times New Roman</vt:lpstr>
      <vt:lpstr>verdana</vt:lpstr>
      <vt:lpstr>Office Theme</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lpstr>Алгоритмы генерации перестановок</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Ольга Молдованова</dc:creator>
  <cp:lastModifiedBy>Пользователь Windows</cp:lastModifiedBy>
  <cp:revision>351</cp:revision>
  <dcterms:created xsi:type="dcterms:W3CDTF">2020-11-25T06:19:43Z</dcterms:created>
  <dcterms:modified xsi:type="dcterms:W3CDTF">2026-02-24T09:01:33Z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2018-03-28T00:00:00Z</vt:filetime>
  </property>
  <property fmtid="{D5CDD505-2E9C-101B-9397-08002B2CF9AE}" pid="3" name="Creator">
    <vt:lpwstr>Microsoft® PowerPoint® 2016</vt:lpwstr>
  </property>
  <property fmtid="{D5CDD505-2E9C-101B-9397-08002B2CF9AE}" pid="4" name="LastSaved">
    <vt:filetime>2020-11-25T00:00:00Z</vt:filetime>
  </property>
</Properties>
</file>