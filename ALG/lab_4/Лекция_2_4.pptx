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357" r:id="rId2"/>
    <p:sldId id="358" r:id="rId3"/>
    <p:sldId id="359" r:id="rId4"/>
    <p:sldId id="360" r:id="rId5"/>
    <p:sldId id="361" r:id="rId6"/>
    <p:sldId id="362" r:id="rId7"/>
    <p:sldId id="363" r:id="rId8"/>
    <p:sldId id="364" r:id="rId9"/>
    <p:sldId id="385" r:id="rId10"/>
    <p:sldId id="386" r:id="rId11"/>
    <p:sldId id="388" r:id="rId12"/>
    <p:sldId id="387" r:id="rId13"/>
    <p:sldId id="368" r:id="rId14"/>
    <p:sldId id="369" r:id="rId15"/>
    <p:sldId id="370" r:id="rId16"/>
    <p:sldId id="371" r:id="rId17"/>
    <p:sldId id="372" r:id="rId18"/>
    <p:sldId id="373" r:id="rId19"/>
    <p:sldId id="374" r:id="rId20"/>
    <p:sldId id="375" r:id="rId21"/>
    <p:sldId id="376" r:id="rId22"/>
    <p:sldId id="377" r:id="rId23"/>
    <p:sldId id="378" r:id="rId24"/>
    <p:sldId id="389" r:id="rId25"/>
    <p:sldId id="390" r:id="rId26"/>
    <p:sldId id="391" r:id="rId27"/>
    <p:sldId id="381" r:id="rId28"/>
    <p:sldId id="382" r:id="rId29"/>
    <p:sldId id="383" r:id="rId30"/>
    <p:sldId id="384" r:id="rId31"/>
    <p:sldId id="392" r:id="rId32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D684FC-E2AC-4AB3-A21B-182AD5A7138B}">
          <p14:sldIdLst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85"/>
            <p14:sldId id="386"/>
            <p14:sldId id="388"/>
            <p14:sldId id="38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89"/>
            <p14:sldId id="390"/>
            <p14:sldId id="391"/>
            <p14:sldId id="381"/>
            <p14:sldId id="382"/>
            <p14:sldId id="383"/>
            <p14:sldId id="384"/>
            <p14:sldId id="392"/>
          </p14:sldIdLst>
        </p14:section>
        <p14:section name="Раздел без заголовка" id="{4D47161F-2531-461D-AACD-B3DC4210DA6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D6DA-AE59-438F-9F5C-0B68B241EB0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0EBC8-7F5F-4BD0-A43D-EB24A7D5E8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82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0844" y="3297235"/>
            <a:ext cx="10370311" cy="1667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E319B-4E82-4702-AE53-7DAD3C802305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13652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55" dirty="0"/>
              <a:t>‹#›</a:t>
            </a:fld>
            <a:endParaRPr spc="5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70B2C-7951-4373-8768-2D492E1C8BD0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13652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55" dirty="0"/>
              <a:t>‹#›</a:t>
            </a:fld>
            <a:endParaRPr spc="5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FBA3D-F69C-4D9B-B7A1-871145ABF8A3}" type="datetime1">
              <a:rPr lang="en-US" smtClean="0"/>
              <a:t>2/23/2026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13652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55" dirty="0"/>
              <a:t>‹#›</a:t>
            </a:fld>
            <a:endParaRPr spc="5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5A23A-BF61-47E1-A9BC-D9D10C8D1FE7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13652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55" dirty="0"/>
              <a:t>‹#›</a:t>
            </a:fld>
            <a:endParaRPr spc="5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CB74E-0F7A-46F0-9CAB-1619F652C7D2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13652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55" dirty="0"/>
              <a:t>‹#›</a:t>
            </a:fld>
            <a:endParaRPr spc="5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586633"/>
            <a:ext cx="9144000" cy="92333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609600" y="6377940"/>
            <a:ext cx="2804160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xfrm>
            <a:off x="4145280" y="6377940"/>
            <a:ext cx="3901440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xfrm>
            <a:off x="11852656" y="6487193"/>
            <a:ext cx="273684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06E91-CBDD-4BC2-827C-A2A1699EA0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91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73812"/>
            <a:ext cx="1203452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039" y="1185417"/>
            <a:ext cx="11183620" cy="436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6F019-6A20-4218-A0FD-4E775096B01F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52656" y="6487193"/>
            <a:ext cx="273684" cy="327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13652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55" dirty="0"/>
              <a:t>‹#›</a:t>
            </a:fld>
            <a:endParaRPr spc="5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2286000"/>
            <a:ext cx="11624056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 rtl="0">
              <a:spcBef>
                <a:spcPts val="2135"/>
              </a:spcBef>
            </a:pPr>
            <a:r>
              <a:rPr lang="ru-RU" sz="6000" kern="1200" spc="175" dirty="0">
                <a:ea typeface="+mn-ea"/>
              </a:rPr>
              <a:t>АЛГОРИТМЫ </a:t>
            </a:r>
            <a:r>
              <a:rPr lang="ru-RU" sz="6000" dirty="0" smtClean="0"/>
              <a:t>ПОСТРОЕНИЯ СЛУЧАЙНОЙ ПЕРЕСТАНОВКИ</a:t>
            </a:r>
            <a:endParaRPr lang="ru-RU" sz="6000" kern="1200" spc="175" dirty="0">
              <a:ea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7"/>
          </p:nvPr>
        </p:nvSpPr>
        <p:spPr>
          <a:xfrm>
            <a:off x="11582400" y="6487193"/>
            <a:ext cx="543940" cy="327025"/>
          </a:xfrm>
        </p:spPr>
        <p:txBody>
          <a:bodyPr/>
          <a:lstStyle/>
          <a:p>
            <a:pPr marL="13652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lang="ru-RU" spc="55" smtClean="0"/>
              <a:t>1</a:t>
            </a:fld>
            <a:endParaRPr lang="ru-RU" spc="55" dirty="0"/>
          </a:p>
        </p:txBody>
      </p:sp>
      <p:sp>
        <p:nvSpPr>
          <p:cNvPr id="6" name="AutoShape 3" descr="Жадные алгоритмы.Жадность и графы."/>
          <p:cNvSpPr>
            <a:spLocks noChangeAspect="1" noChangeArrowheads="1"/>
          </p:cNvSpPr>
          <p:nvPr/>
        </p:nvSpPr>
        <p:spPr bwMode="auto">
          <a:xfrm>
            <a:off x="1118679" y="-1235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88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1162405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3600" b="1" spc="95" dirty="0" smtClean="0">
                <a:latin typeface="Arial Rounded MT Bold" panose="020F0704030504030204" pitchFamily="34" charset="0"/>
              </a:rPr>
              <a:t>Алгоритмы построения случайной перестановки</a:t>
            </a:r>
            <a:endParaRPr sz="3600" b="1" spc="95" dirty="0">
              <a:latin typeface="Arial Rounded MT Bold" panose="020F07040305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19635" y="781975"/>
            <a:ext cx="11734800" cy="59214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генерации 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случайных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комбинаторных 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объектов таких,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случайный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пароль заданной длины, случайный лабиринт, случайная 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конфигурация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как правило, приводит к задаче генерации случайной 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перестановки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(либо случайной перестановки с какими-либо ограничениями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Случайность в данном случае означает </a:t>
            </a:r>
            <a:r>
              <a:rPr lang="ru-RU" sz="2400"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равновероятность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получения любой из </a:t>
            </a:r>
            <a:r>
              <a:rPr lang="ru-RU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n!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возможных перестановок множества </a:t>
            </a:r>
            <a:r>
              <a:rPr lang="ru-RU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Одна из 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идей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состоит в том, чтобы выбрать случайное целое число от </a:t>
            </a:r>
            <a:r>
              <a:rPr lang="ru-RU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n!−1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по нему восстановить саму перестановку. 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Однако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восстановление потребует порядка</a:t>
            </a:r>
            <a:r>
              <a:rPr lang="ru-RU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ru-RU" sz="2400" b="1" baseline="30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операций. Такой подход неэффективен, так как случайную перестановку можно сгенерировать за линейное время O(n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lvl="0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Один из алгоритмов алгоритм 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Фишера-Йетса -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создания случайных перестановок конечного множества. Основная процедура построения случайной перестановкой Фишера-Йетса аналогична случайному вытаскиванию одного элемента за другим, пока элементы не 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закончатся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Время работы алгоритма O(n). </a:t>
            </a:r>
            <a:endParaRPr lang="en-US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7"/>
          </p:nvPr>
        </p:nvSpPr>
        <p:spPr>
          <a:xfrm>
            <a:off x="11582400" y="6487193"/>
            <a:ext cx="543940" cy="327025"/>
          </a:xfrm>
        </p:spPr>
        <p:txBody>
          <a:bodyPr/>
          <a:lstStyle/>
          <a:p>
            <a:pPr marL="13652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lang="ru-RU" spc="55" smtClean="0"/>
              <a:t>2</a:t>
            </a:fld>
            <a:endParaRPr lang="ru-RU" spc="55" dirty="0"/>
          </a:p>
        </p:txBody>
      </p:sp>
      <p:sp>
        <p:nvSpPr>
          <p:cNvPr id="6" name="AutoShape 3" descr="Жадные алгоритмы.Жадность и графы."/>
          <p:cNvSpPr>
            <a:spLocks noChangeAspect="1" noChangeArrowheads="1"/>
          </p:cNvSpPr>
          <p:nvPr/>
        </p:nvSpPr>
        <p:spPr bwMode="auto">
          <a:xfrm>
            <a:off x="1118679" y="-1235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31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1162405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3600" b="1" spc="95" dirty="0" smtClean="0">
                <a:latin typeface="Arial Rounded MT Bold" panose="020F0704030504030204" pitchFamily="34" charset="0"/>
              </a:rPr>
              <a:t>Алгоритмы построения случайной перестановки</a:t>
            </a:r>
            <a:endParaRPr sz="3600" b="1" spc="95" dirty="0">
              <a:latin typeface="Arial Rounded MT Bold" panose="020F07040305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17856" y="1049893"/>
            <a:ext cx="11734800" cy="40748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7"/>
          </p:nvPr>
        </p:nvSpPr>
        <p:spPr>
          <a:xfrm>
            <a:off x="11582400" y="6487193"/>
            <a:ext cx="543940" cy="327025"/>
          </a:xfrm>
        </p:spPr>
        <p:txBody>
          <a:bodyPr/>
          <a:lstStyle/>
          <a:p>
            <a:pPr marL="13652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lang="ru-RU" spc="55" smtClean="0"/>
              <a:t>3</a:t>
            </a:fld>
            <a:endParaRPr lang="ru-RU" spc="55" dirty="0"/>
          </a:p>
        </p:txBody>
      </p:sp>
      <p:sp>
        <p:nvSpPr>
          <p:cNvPr id="6" name="AutoShape 3" descr="Жадные алгоритмы.Жадность и графы."/>
          <p:cNvSpPr>
            <a:spLocks noChangeAspect="1" noChangeArrowheads="1"/>
          </p:cNvSpPr>
          <p:nvPr/>
        </p:nvSpPr>
        <p:spPr bwMode="auto">
          <a:xfrm>
            <a:off x="1118679" y="-1235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1981200" y="1676400"/>
          <a:ext cx="8128000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Диапазон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Случайное число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Элементы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Перестановка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ru-RU" baseline="0" dirty="0" smtClean="0"/>
                        <a:t> 3 4 5 6 7 8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1-7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1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ru-RU" baseline="0" dirty="0" smtClean="0"/>
                        <a:t> 3 4 5 </a:t>
                      </a:r>
                      <a:r>
                        <a:rPr lang="ru-RU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r>
                        <a:rPr lang="ru-RU" baseline="0" dirty="0" smtClean="0"/>
                        <a:t> 7 8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2 6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1-6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1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ru-RU" baseline="0" dirty="0" smtClean="0"/>
                        <a:t> 3 </a:t>
                      </a:r>
                      <a:r>
                        <a:rPr lang="ru-RU" baseline="0" dirty="0" smtClean="0">
                          <a:solidFill>
                            <a:srgbClr val="FFFF00"/>
                          </a:solidFill>
                        </a:rPr>
                        <a:t>4</a:t>
                      </a:r>
                      <a:r>
                        <a:rPr lang="ru-RU" baseline="0" dirty="0" smtClean="0"/>
                        <a:t> 5 </a:t>
                      </a:r>
                      <a:r>
                        <a:rPr lang="ru-RU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r>
                        <a:rPr lang="ru-RU" baseline="0" dirty="0" smtClean="0"/>
                        <a:t> 7 8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2 6 4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1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00B050"/>
                          </a:solidFill>
                        </a:rPr>
                        <a:t>3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FF00"/>
                          </a:solidFill>
                        </a:rPr>
                        <a:t>4</a:t>
                      </a:r>
                      <a:r>
                        <a:rPr lang="ru-RU" baseline="0" dirty="0" smtClean="0"/>
                        <a:t> 5 </a:t>
                      </a:r>
                      <a:r>
                        <a:rPr lang="ru-RU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r>
                        <a:rPr lang="ru-RU" baseline="0" dirty="0" smtClean="0"/>
                        <a:t> 7 8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2 6 4 3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1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00B050"/>
                          </a:solidFill>
                        </a:rPr>
                        <a:t>3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FF00"/>
                          </a:solidFill>
                        </a:rPr>
                        <a:t>4</a:t>
                      </a:r>
                      <a:r>
                        <a:rPr lang="ru-RU" baseline="0" dirty="0" smtClean="0"/>
                        <a:t> 5 </a:t>
                      </a:r>
                      <a:r>
                        <a:rPr lang="ru-RU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  <a:r>
                        <a:rPr lang="ru-RU" baseline="0" dirty="0" smtClean="0"/>
                        <a:t> 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2 6 4 3 7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00B050"/>
                          </a:solidFill>
                        </a:rPr>
                        <a:t>3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FF00"/>
                          </a:solidFill>
                        </a:rPr>
                        <a:t>4</a:t>
                      </a:r>
                      <a:r>
                        <a:rPr lang="ru-RU" baseline="0" dirty="0" smtClean="0"/>
                        <a:t> 5 </a:t>
                      </a:r>
                      <a:r>
                        <a:rPr lang="ru-RU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  <a:r>
                        <a:rPr lang="ru-RU" baseline="0" dirty="0" smtClean="0"/>
                        <a:t> 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2 6 4 3 7 1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00B050"/>
                          </a:solidFill>
                        </a:rPr>
                        <a:t>3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FF00"/>
                          </a:solidFill>
                        </a:rPr>
                        <a:t>4</a:t>
                      </a:r>
                      <a:r>
                        <a:rPr lang="ru-RU" baseline="0" dirty="0" smtClean="0"/>
                        <a:t> 5 </a:t>
                      </a:r>
                      <a:r>
                        <a:rPr lang="ru-RU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C000"/>
                          </a:solidFill>
                        </a:rPr>
                        <a:t>8</a:t>
                      </a:r>
                      <a:endParaRPr lang="ru-RU" dirty="0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2 6 4 3 7 1 8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00B050"/>
                          </a:solidFill>
                        </a:rPr>
                        <a:t>3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FF00"/>
                          </a:solidFill>
                        </a:rPr>
                        <a:t>4</a:t>
                      </a:r>
                      <a:r>
                        <a:rPr lang="ru-RU" baseline="0" dirty="0" smtClean="0"/>
                        <a:t> 5 </a:t>
                      </a:r>
                      <a:r>
                        <a:rPr lang="ru-RU" baseline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smtClean="0">
                          <a:solidFill>
                            <a:srgbClr val="FFC000"/>
                          </a:solidFill>
                        </a:rPr>
                        <a:t>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2 6 4 3 7 1 8 5</a:t>
                      </a:r>
                      <a:endParaRPr lang="ru-RU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87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1162405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3600" b="1" spc="95" dirty="0" smtClean="0">
                <a:latin typeface="Arial Rounded MT Bold" panose="020F0704030504030204" pitchFamily="34" charset="0"/>
              </a:rPr>
              <a:t>Алгоритмы построения случайной перестановки</a:t>
            </a:r>
            <a:endParaRPr sz="3600" b="1" spc="95" dirty="0">
              <a:latin typeface="Arial Rounded MT Bold" panose="020F07040305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73228" y="892121"/>
            <a:ext cx="11734800" cy="48134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версию алгоритма </a:t>
            </a:r>
            <a:r>
              <a:rPr lang="ru-RU" sz="2400"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Дюрстенфельда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идея метода в том, чтобы не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вычеркивать выбранные 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числа, а заменять их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последним, еще не выбранным числом.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7"/>
          </p:nvPr>
        </p:nvSpPr>
        <p:spPr>
          <a:xfrm>
            <a:off x="11582400" y="6487193"/>
            <a:ext cx="543940" cy="327025"/>
          </a:xfrm>
        </p:spPr>
        <p:txBody>
          <a:bodyPr/>
          <a:lstStyle/>
          <a:p>
            <a:pPr marL="13652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lang="ru-RU" spc="55" smtClean="0"/>
              <a:t>4</a:t>
            </a:fld>
            <a:endParaRPr lang="ru-RU" spc="55" dirty="0"/>
          </a:p>
        </p:txBody>
      </p:sp>
      <p:sp>
        <p:nvSpPr>
          <p:cNvPr id="6" name="AutoShape 3" descr="Жадные алгоритмы.Жадность и графы."/>
          <p:cNvSpPr>
            <a:spLocks noChangeAspect="1" noChangeArrowheads="1"/>
          </p:cNvSpPr>
          <p:nvPr/>
        </p:nvSpPr>
        <p:spPr bwMode="auto">
          <a:xfrm>
            <a:off x="1118679" y="-1235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2057400" y="2209800"/>
          <a:ext cx="8128000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/>
                <a:gridCol w="2032000"/>
                <a:gridCol w="2108200"/>
                <a:gridCol w="1955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Диапазон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Случайное число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Элементы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Перестановка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1 2 3 4 5 6 7 8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1-7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3 4 5 6 7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2 5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1-6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3 4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7 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6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2 5 3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4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2 5 3 8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2 5 3 8 6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2 5 3 8 6 1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4 7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2 5 3 8 6 1 7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2 5 3 8 6 1 7 4</a:t>
                      </a:r>
                      <a:endParaRPr lang="ru-RU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925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1162405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3600" b="1" spc="95" dirty="0" smtClean="0">
                <a:latin typeface="Arial Rounded MT Bold" panose="020F0704030504030204" pitchFamily="34" charset="0"/>
              </a:rPr>
              <a:t>Алгоритмы построения случайной перестановки</a:t>
            </a:r>
            <a:endParaRPr sz="3600" b="1" spc="95" dirty="0">
              <a:latin typeface="Arial Rounded MT Bold" panose="020F07040305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17856" y="1049893"/>
            <a:ext cx="11734800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«Вывернутый» - идея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состоит в том, чтобы начать с последнего элемента, заменить его случайно выбранным элементом из всего массива (включая последний). 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Далее рассматривается массив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0 до n-2 (размер уменьшен на 1) и 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повторяется процесс до </a:t>
            </a:r>
            <a:r>
              <a:rPr lang="ru-RU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первого элемента</a:t>
            </a:r>
            <a:r>
              <a:rPr lang="ru-RU" sz="24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7"/>
          </p:nvPr>
        </p:nvSpPr>
        <p:spPr>
          <a:xfrm>
            <a:off x="11582400" y="6487193"/>
            <a:ext cx="543940" cy="327025"/>
          </a:xfrm>
        </p:spPr>
        <p:txBody>
          <a:bodyPr/>
          <a:lstStyle/>
          <a:p>
            <a:pPr marL="13652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lang="ru-RU" spc="55" smtClean="0"/>
              <a:t>5</a:t>
            </a:fld>
            <a:endParaRPr lang="ru-RU" spc="55" dirty="0"/>
          </a:p>
        </p:txBody>
      </p:sp>
      <p:sp>
        <p:nvSpPr>
          <p:cNvPr id="6" name="AutoShape 3" descr="Жадные алгоритмы.Жадность и графы."/>
          <p:cNvSpPr>
            <a:spLocks noChangeAspect="1" noChangeArrowheads="1"/>
          </p:cNvSpPr>
          <p:nvPr/>
        </p:nvSpPr>
        <p:spPr bwMode="auto">
          <a:xfrm>
            <a:off x="1118679" y="-1235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2057400" y="3048000"/>
          <a:ext cx="8128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Диапазон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Случайное число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Элементы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Перестановка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aseline="0" dirty="0" smtClean="0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3 4 5 6 7 8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8 3 4 5 6 7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1-7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8 3 4 </a:t>
                      </a:r>
                      <a:r>
                        <a:rPr lang="ru-RU" baseline="0" dirty="0" smtClean="0">
                          <a:solidFill>
                            <a:srgbClr val="92D050"/>
                          </a:solidFill>
                        </a:rPr>
                        <a:t>5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6 7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8 3 4 7 6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1-6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8 </a:t>
                      </a:r>
                      <a:r>
                        <a:rPr lang="ru-RU" baseline="0" dirty="0" smtClean="0">
                          <a:solidFill>
                            <a:srgbClr val="00B0F0"/>
                          </a:solidFill>
                        </a:rPr>
                        <a:t>3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4 7 6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8 6 4 7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aseline="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6 4 7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7 6 4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1-4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7 </a:t>
                      </a:r>
                      <a:r>
                        <a:rPr lang="ru-RU" baseline="0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4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7 4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7 4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7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1-2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aseline="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7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7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4 1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81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8856" y="990600"/>
            <a:ext cx="11353800" cy="3484031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indent="358775" algn="just">
              <a:defRPr/>
            </a:pPr>
            <a:endParaRPr lang="ru-RU" sz="2000" dirty="0"/>
          </a:p>
          <a:p>
            <a:pPr indent="358775" algn="just">
              <a:defRPr/>
            </a:pPr>
            <a:endParaRPr lang="ru-RU" sz="2000" dirty="0"/>
          </a:p>
          <a:p>
            <a:pPr marL="571500" lvl="1" indent="-571500" algn="just">
              <a:buFont typeface="Arial" panose="020B0604020202020204" pitchFamily="34" charset="0"/>
              <a:buChar char="•"/>
              <a:defRPr/>
            </a:pPr>
            <a:r>
              <a:rPr lang="ru-RU" sz="4000" dirty="0">
                <a:latin typeface="+mj-lt"/>
              </a:rPr>
              <a:t>Наивный метод</a:t>
            </a:r>
          </a:p>
          <a:p>
            <a:pPr marL="571500" indent="-571500" algn="just">
              <a:buFont typeface="Arial" panose="020B0604020202020204" pitchFamily="34" charset="0"/>
              <a:buChar char="•"/>
              <a:defRPr/>
            </a:pPr>
            <a:r>
              <a:rPr lang="ru-RU" sz="4000" dirty="0">
                <a:latin typeface="+mj-lt"/>
              </a:rPr>
              <a:t>Алгоритм </a:t>
            </a:r>
            <a:r>
              <a:rPr lang="ru-RU" sz="4000" dirty="0" err="1">
                <a:latin typeface="+mj-lt"/>
              </a:rPr>
              <a:t>Бойера</a:t>
            </a:r>
            <a:r>
              <a:rPr lang="ru-RU" sz="4000" dirty="0">
                <a:latin typeface="+mj-lt"/>
              </a:rPr>
              <a:t>-Мура</a:t>
            </a:r>
          </a:p>
          <a:p>
            <a:pPr marL="571500" lvl="1" indent="-571500" algn="just">
              <a:buFont typeface="Arial" panose="020B0604020202020204" pitchFamily="34" charset="0"/>
              <a:buChar char="•"/>
              <a:defRPr/>
            </a:pPr>
            <a:r>
              <a:rPr lang="ru-RU" sz="4000" dirty="0">
                <a:latin typeface="+mj-lt"/>
              </a:rPr>
              <a:t>Алгоритм Рабина-Карпа</a:t>
            </a:r>
          </a:p>
          <a:p>
            <a:pPr marL="571500" indent="-571500" algn="just">
              <a:buFont typeface="Arial" panose="020B0604020202020204" pitchFamily="34" charset="0"/>
              <a:buChar char="•"/>
              <a:defRPr/>
            </a:pPr>
            <a:r>
              <a:rPr lang="ru-RU" sz="4000" dirty="0">
                <a:latin typeface="+mj-lt"/>
              </a:rPr>
              <a:t>Алгоритм Кнута-Морриса-</a:t>
            </a:r>
            <a:r>
              <a:rPr lang="ru-RU" sz="4000" dirty="0" err="1">
                <a:latin typeface="+mj-lt"/>
              </a:rPr>
              <a:t>Пратта</a:t>
            </a:r>
            <a:endParaRPr lang="ru-RU" sz="4000" dirty="0">
              <a:latin typeface="+mj-lt"/>
            </a:endParaRPr>
          </a:p>
          <a:p>
            <a:pPr indent="358775" algn="just">
              <a:defRPr/>
            </a:pPr>
            <a:endParaRPr lang="ru-RU" sz="2000" dirty="0"/>
          </a:p>
        </p:txBody>
      </p:sp>
      <p:sp>
        <p:nvSpPr>
          <p:cNvPr id="3075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92B8C04-2171-42D4-8C34-E43B096581FB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6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228600"/>
            <a:ext cx="116240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90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1648" y="1066800"/>
            <a:ext cx="11658599" cy="4912114"/>
          </a:xfrm>
        </p:spPr>
        <p:txBody>
          <a:bodyPr/>
          <a:lstStyle/>
          <a:p>
            <a:pPr marL="0" lvl="1">
              <a:lnSpc>
                <a:spcPct val="80000"/>
              </a:lnSpc>
              <a:spcBef>
                <a:spcPct val="0"/>
              </a:spcBef>
              <a:defRPr/>
            </a:pPr>
            <a:r>
              <a:rPr lang="ru-RU" sz="3600" b="1" u="sng" dirty="0" smtClean="0"/>
              <a:t>Алгоритм </a:t>
            </a:r>
            <a:r>
              <a:rPr lang="ru-RU" sz="3600" b="1" u="sng" dirty="0" err="1"/>
              <a:t>Бойера</a:t>
            </a:r>
            <a:r>
              <a:rPr lang="ru-RU" sz="3600" b="1" u="sng" dirty="0"/>
              <a:t>-Мура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indent="358775" algn="just">
              <a:defRPr/>
            </a:pPr>
            <a:endParaRPr lang="ru-RU" sz="2000" b="1" u="sng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Бойера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Мура считается наиболее быстрым среди алгоритмов, предназначенных для поиска подстроки в строке. Он был разработан Р.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Бойером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Д. Муром в 1977 году. Преимущество этого алгоритма в том, что необходимо сделать некоторые предварительные вычисления над подстрокой, чтобы сравнение подстроки с исходной строкой осуществлять не во всех позициях – часть проверок пропускаются как заведомо не дающие результата.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 оптимален в большинстве случаев, когда нет возможности провести предварительную обработку текста, в котором проводится поиск.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Данный алгоритм является наиболее эффективным в обычных ситуациях, а его быстродействие повышается при увеличении подстроки или алфавита.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наихудшем случае трудоемкость рассматриваемого алгоритма O(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000" dirty="0"/>
          </a:p>
        </p:txBody>
      </p:sp>
      <p:sp>
        <p:nvSpPr>
          <p:cNvPr id="4099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C6D8D40D-41FD-43B0-9B71-91F01EB4C986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228600"/>
            <a:ext cx="116240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97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914400"/>
            <a:ext cx="11734799" cy="4136517"/>
          </a:xfrm>
        </p:spPr>
        <p:txBody>
          <a:bodyPr/>
          <a:lstStyle/>
          <a:p>
            <a:pPr marL="0" lvl="1">
              <a:lnSpc>
                <a:spcPct val="80000"/>
              </a:lnSpc>
              <a:spcBef>
                <a:spcPct val="0"/>
              </a:spcBef>
              <a:defRPr/>
            </a:pPr>
            <a:r>
              <a:rPr lang="ru-RU" sz="2800" b="1" u="sng" dirty="0"/>
              <a:t>Алгоритм </a:t>
            </a:r>
            <a:r>
              <a:rPr lang="ru-RU" sz="2800" b="1" u="sng" dirty="0" err="1"/>
              <a:t>Бойера</a:t>
            </a:r>
            <a:r>
              <a:rPr lang="ru-RU" sz="2800" b="1" u="sng" dirty="0"/>
              <a:t>-Мура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основан на 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следующих идеях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Сканирование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слева направо, сравнение справа налево. 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Совмещается начало текста (строки) и шаблона, проверка начинается с последнего символа шаблона. Если символы совпадают, производится сравнение предпоследнего символа шаблона и т. д. Если все символы шаблона совпали с наложенными символами строки, значит, подстрока найдена, и выполняется поиск следующего вхождения подстроки.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Если же какой-то символ шаблона не совпадает с соответствующим символом строки, шаблон сдвигается на несколько символов вправо, и проверка снова начинается с последнего символа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04B88F0-20FD-4DAA-A24D-35B8462F3CEE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8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228600"/>
            <a:ext cx="116240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42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873348"/>
            <a:ext cx="11734799" cy="3767185"/>
          </a:xfrm>
        </p:spPr>
        <p:txBody>
          <a:bodyPr/>
          <a:lstStyle/>
          <a:p>
            <a:pPr marL="0" lvl="1">
              <a:lnSpc>
                <a:spcPct val="80000"/>
              </a:lnSpc>
              <a:spcBef>
                <a:spcPct val="0"/>
              </a:spcBef>
              <a:defRPr/>
            </a:pPr>
            <a:r>
              <a:rPr lang="ru-RU" sz="2800" b="1" u="sng" dirty="0"/>
              <a:t>Алгоритм </a:t>
            </a:r>
            <a:r>
              <a:rPr lang="ru-RU" sz="2800" b="1" u="sng" dirty="0" err="1"/>
              <a:t>Бойера</a:t>
            </a:r>
            <a:r>
              <a:rPr lang="ru-RU" sz="2800" b="1" u="sng" dirty="0"/>
              <a:t>-Мура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символов сдвига вычисляется по двум эвристикам.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Эвристика стоп-символа. 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не совпавший символ является стоп-символом.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Если стоп-символа в шаблоне нет, шаблон смещается за этот стоп-символ.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Если стоп-символ оказался за другой буквой равной стоп-символу, эвристика стоп-символа не работает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 по тексту для сравнения вместо проверки каждого символа в тексте уменьшает количество сравнений, которые необходимо выполнить, что является ключом к эффективности алгоритма. </a:t>
            </a:r>
          </a:p>
        </p:txBody>
      </p:sp>
      <p:sp>
        <p:nvSpPr>
          <p:cNvPr id="5123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04B88F0-20FD-4DAA-A24D-35B8462F3CEE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9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228600"/>
            <a:ext cx="116240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04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873348"/>
            <a:ext cx="11734799" cy="5244513"/>
          </a:xfrm>
        </p:spPr>
        <p:txBody>
          <a:bodyPr/>
          <a:lstStyle/>
          <a:p>
            <a:pPr marL="0" lvl="1">
              <a:lnSpc>
                <a:spcPct val="80000"/>
              </a:lnSpc>
              <a:spcBef>
                <a:spcPct val="0"/>
              </a:spcBef>
              <a:defRPr/>
            </a:pPr>
            <a:r>
              <a:rPr lang="ru-RU" sz="2800" b="1" u="sng" dirty="0"/>
              <a:t>Алгоритм </a:t>
            </a:r>
            <a:r>
              <a:rPr lang="ru-RU" sz="2800" b="1" u="sng" dirty="0" err="1"/>
              <a:t>Бойера</a:t>
            </a:r>
            <a:r>
              <a:rPr lang="ru-RU" sz="2800" b="1" u="sng" dirty="0"/>
              <a:t>-Мура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Более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формально, алгоритм начинается 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выравнивания,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 что начало P совмещен с началом Т .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Затем символы в P и T сравниваются, начиная с индекса n в P и k в T , двигаясь назад.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Строки сравниваются с конца Р до начала 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Сравнения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продолжаются до тех пор, пока либо не будет достигнуто начало P (что означает совпадение), либо не произойдет несоответствие, после которого выравнивание сдвинется вперед (вправо) в соответствии с максимальным значением, разрешенным рядом правил. </a:t>
            </a:r>
            <a:endParaRPr lang="ru-RU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Сравнения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выполняются снова при новом выравнивании, и процесс повторяется до тех пор, пока выравнивание не смещается за конец T , что означает, что больше совпадений не будет найдено. Правила сдвига реализуется в виде постоянная время табличного поиска, используя таблицы, генерируемые во время предварительной обработки P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04B88F0-20FD-4DAA-A24D-35B8462F3CEE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10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228600"/>
            <a:ext cx="116240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31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873348"/>
            <a:ext cx="11734799" cy="4136517"/>
          </a:xfrm>
        </p:spPr>
        <p:txBody>
          <a:bodyPr/>
          <a:lstStyle/>
          <a:p>
            <a:pPr marL="0" lvl="1">
              <a:lnSpc>
                <a:spcPct val="80000"/>
              </a:lnSpc>
              <a:spcBef>
                <a:spcPct val="0"/>
              </a:spcBef>
              <a:defRPr/>
            </a:pPr>
            <a:r>
              <a:rPr lang="ru-RU" sz="2800" b="1" u="sng" dirty="0"/>
              <a:t>Алгоритм </a:t>
            </a:r>
            <a:r>
              <a:rPr lang="ru-RU" sz="2800" b="1" u="sng" dirty="0" err="1"/>
              <a:t>Бойера</a:t>
            </a:r>
            <a:r>
              <a:rPr lang="ru-RU" sz="2800" b="1" u="sng" dirty="0"/>
              <a:t>-Мура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Эвристика совпавшего суффикса. 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Неформально, если при чтении шаблона справа налево совпал суффикс S, а символ b, стоящий перед S в шаблоне (то есть шаблон имеет вид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PbS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не совпал, то эвристика совпавшего суффикса сдвигает шаблон на наименьшее число позиций вправо так, чтобы строка S совпала с шаблоном, а символ, предшествующий в шаблоне данному совпадению S, отличался бы от b (если такой символ вообще есть).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 эвристики требуют предварительных вычислений 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зависимости от шаблона поиска заполняются две таблицы.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стоп-символов по размеру соответствует алфавиту (например, если алфавит состоит из 256 символов, то её длина 256); таблица суффиксов 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искомому 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шаблону</a:t>
            </a: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04B88F0-20FD-4DAA-A24D-35B8462F3CEE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11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228600"/>
            <a:ext cx="116240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68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873348"/>
            <a:ext cx="11734799" cy="5244513"/>
          </a:xfrm>
        </p:spPr>
        <p:txBody>
          <a:bodyPr/>
          <a:lstStyle/>
          <a:p>
            <a:pPr marL="0" lvl="1">
              <a:lnSpc>
                <a:spcPct val="80000"/>
              </a:lnSpc>
              <a:spcBef>
                <a:spcPct val="0"/>
              </a:spcBef>
              <a:defRPr/>
            </a:pPr>
            <a:r>
              <a:rPr lang="ru-RU" sz="2800" b="1" u="sng" dirty="0"/>
              <a:t>Алгоритм </a:t>
            </a:r>
            <a:r>
              <a:rPr lang="ru-RU" sz="2800" b="1" u="sng" dirty="0" err="1"/>
              <a:t>Бойера</a:t>
            </a:r>
            <a:r>
              <a:rPr lang="ru-RU" sz="2800" b="1" u="sng" dirty="0"/>
              <a:t>-Мура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u="sng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</a:t>
            </a:r>
            <a:r>
              <a:rPr lang="ru-RU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стоп - символов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таблице указывается последняя позиция элемента в шаблоне (за исключением последней буквы)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Если в шаблоне нет такого элемента то в таблицу записывается ноль.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стоп-символов по размеру соответствует алфавиту (например, если алфавит состоит из 256 символов, то её длина 256);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суффиксов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каждого возможного суффикса в таблицу записывается наименьшая величина, на которую надо сдвинуть шаблон чтобы он снова совпал с суффиксом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суффиксов  по размеру соответствует искомому шаблону.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04B88F0-20FD-4DAA-A24D-35B8462F3CEE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12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228600"/>
            <a:ext cx="116240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92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DE573924-3CF8-4473-950C-7F22A4781932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13</a:t>
            </a:fld>
            <a:endParaRPr lang="en-GB" sz="1400"/>
          </a:p>
        </p:txBody>
      </p:sp>
      <p:sp>
        <p:nvSpPr>
          <p:cNvPr id="9220" name="TextBox 1"/>
          <p:cNvSpPr txBox="1">
            <a:spLocks noChangeArrowheads="1"/>
          </p:cNvSpPr>
          <p:nvPr/>
        </p:nvSpPr>
        <p:spPr bwMode="auto">
          <a:xfrm>
            <a:off x="3124200" y="1600200"/>
            <a:ext cx="8534400" cy="3575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92075" algn="ctr">
              <a:buNone/>
              <a:defRPr/>
            </a:pPr>
            <a:r>
              <a:rPr lang="ru-RU" sz="2800" dirty="0" smtClean="0"/>
              <a:t>ПРИМЕР </a:t>
            </a:r>
            <a:r>
              <a:rPr lang="ru-RU" sz="2800" dirty="0"/>
              <a:t>таблицы суффиксов строки шаблона</a:t>
            </a:r>
            <a:r>
              <a:rPr lang="en-US" sz="2800" dirty="0"/>
              <a:t> </a:t>
            </a:r>
            <a:endParaRPr lang="ru-RU" sz="2800" dirty="0"/>
          </a:p>
          <a:p>
            <a:pPr marL="342900" algn="ctr">
              <a:buNone/>
              <a:defRPr/>
            </a:pPr>
            <a:r>
              <a:rPr lang="en-US" sz="4400" b="1" dirty="0" err="1" smtClean="0"/>
              <a:t>fasbfdytd</a:t>
            </a:r>
            <a:endParaRPr lang="ru-RU" sz="4400" b="1" dirty="0" smtClean="0"/>
          </a:p>
          <a:p>
            <a:pPr marL="342900" algn="ctr">
              <a:buNone/>
              <a:defRPr/>
            </a:pPr>
            <a:endParaRPr lang="ru-RU" sz="28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Для </a:t>
            </a:r>
            <a:r>
              <a:rPr lang="ru-RU" sz="2400" dirty="0">
                <a:solidFill>
                  <a:schemeClr val="tx1"/>
                </a:solidFill>
              </a:rPr>
              <a:t>каждого возможного суффикса  шаблона для сдвига указывается наименьшая величина, на которую нужно сдвинуть вправо шаблон, чтобы он снова совпал с </a:t>
            </a:r>
            <a:r>
              <a:rPr lang="ru-RU" sz="2400" i="1" dirty="0">
                <a:solidFill>
                  <a:schemeClr val="tx1"/>
                </a:solidFill>
              </a:rPr>
              <a:t>суффиксом</a:t>
            </a:r>
            <a:r>
              <a:rPr lang="ru-RU" sz="2400" dirty="0">
                <a:solidFill>
                  <a:schemeClr val="tx1"/>
                </a:solidFill>
              </a:rPr>
              <a:t>. Если такой сдвиг невозможен, ставится значение количества символов строки.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541822"/>
              </p:ext>
            </p:extLst>
          </p:nvPr>
        </p:nvGraphicFramePr>
        <p:xfrm>
          <a:off x="457200" y="1560838"/>
          <a:ext cx="2471738" cy="4082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5709"/>
                <a:gridCol w="936029"/>
              </a:tblGrid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/>
                        <a:t>суффикс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/>
                        <a:t>сдвиг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</a:tr>
              <a:tr h="373419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пустой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1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td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ytd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dytd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fdytd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bfdytd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sbfdytd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asbfdytd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fasbfdytd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9</a:t>
                      </a:r>
                      <a:endParaRPr lang="ru-RU" sz="1800" dirty="0"/>
                    </a:p>
                  </a:txBody>
                  <a:tcPr marL="91433" marR="91433" marT="45727" marB="45727"/>
                </a:tc>
              </a:tr>
            </a:tbl>
          </a:graphicData>
        </a:graphic>
      </p:graphicFrame>
      <p:sp>
        <p:nvSpPr>
          <p:cNvPr id="7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err="1" smtClean="0"/>
              <a:t>Бойера</a:t>
            </a:r>
            <a:r>
              <a:rPr lang="ru-RU" sz="2800" b="1" u="sng" dirty="0" smtClean="0"/>
              <a:t>-Мура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60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1064170"/>
            <a:ext cx="11582399" cy="5638467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indent="358775" algn="just">
              <a:defRPr/>
            </a:pPr>
            <a:r>
              <a:rPr lang="ru-RU" sz="2000" b="1" u="sng" dirty="0"/>
              <a:t>Пример</a:t>
            </a:r>
          </a:p>
          <a:p>
            <a:pPr>
              <a:defRPr/>
            </a:pPr>
            <a:r>
              <a:rPr lang="ru-RU" sz="2000" dirty="0"/>
              <a:t>Строка: к о а о л о к о л о к о л</a:t>
            </a:r>
          </a:p>
          <a:p>
            <a:pPr>
              <a:defRPr/>
            </a:pPr>
            <a:r>
              <a:rPr lang="ru-RU" sz="2000" dirty="0"/>
              <a:t>Шаблон: к о л о к о л</a:t>
            </a:r>
          </a:p>
          <a:p>
            <a:pPr indent="358775" algn="just">
              <a:defRPr/>
            </a:pPr>
            <a:endParaRPr lang="ru-RU" sz="2000" dirty="0"/>
          </a:p>
          <a:p>
            <a:pPr indent="358775" algn="just">
              <a:defRPr/>
            </a:pPr>
            <a:r>
              <a:rPr lang="ru-RU" sz="2000" dirty="0"/>
              <a:t>1. Проводим подготовительные работы</a:t>
            </a:r>
          </a:p>
          <a:p>
            <a:pPr marL="342900" indent="374650" algn="just"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Строим таблицу стоп-символов</a:t>
            </a:r>
          </a:p>
          <a:p>
            <a:pPr marL="342900">
              <a:defRPr/>
            </a:pPr>
            <a:r>
              <a:rPr lang="ru-RU" sz="2000" dirty="0"/>
              <a:t>к о </a:t>
            </a:r>
            <a:r>
              <a:rPr lang="ru-RU" sz="2000" dirty="0" smtClean="0"/>
              <a:t>л		        </a:t>
            </a:r>
            <a:r>
              <a:rPr lang="ru-RU" sz="2000" dirty="0"/>
              <a:t>для всех остальных</a:t>
            </a:r>
          </a:p>
          <a:p>
            <a:pPr marL="342900" indent="2616200" algn="l">
              <a:defRPr/>
            </a:pPr>
            <a:r>
              <a:rPr lang="ru-RU" sz="2000" dirty="0"/>
              <a:t>5 6 3                 </a:t>
            </a:r>
            <a:r>
              <a:rPr lang="ru-RU" sz="2000" dirty="0" smtClean="0"/>
              <a:t>			0</a:t>
            </a:r>
            <a:endParaRPr lang="ru-RU" sz="2000" dirty="0"/>
          </a:p>
          <a:p>
            <a:pPr marL="342900" algn="l">
              <a:defRPr/>
            </a:pPr>
            <a:endParaRPr lang="ru-RU" sz="2000" dirty="0"/>
          </a:p>
          <a:p>
            <a:pPr marL="342900" indent="374650" algn="just"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Строим таблицу суффиксов</a:t>
            </a:r>
          </a:p>
          <a:p>
            <a:pPr marL="342900" algn="just">
              <a:defRPr/>
            </a:pPr>
            <a:r>
              <a:rPr lang="ru-RU" sz="2000" dirty="0"/>
              <a:t>пустой     </a:t>
            </a:r>
            <a:r>
              <a:rPr lang="ru-RU" sz="2000" dirty="0" smtClean="0"/>
              <a:t> 1</a:t>
            </a:r>
            <a:endParaRPr lang="ru-RU" sz="2000" dirty="0"/>
          </a:p>
          <a:p>
            <a:pPr marL="342900" algn="just">
              <a:defRPr/>
            </a:pPr>
            <a:r>
              <a:rPr lang="ru-RU" sz="2000" dirty="0"/>
              <a:t>л     </a:t>
            </a:r>
            <a:r>
              <a:rPr lang="ru-RU" sz="2000" dirty="0" smtClean="0"/>
              <a:t>	4</a:t>
            </a:r>
            <a:endParaRPr lang="ru-RU" sz="2000" dirty="0"/>
          </a:p>
          <a:p>
            <a:pPr marL="342900" algn="just">
              <a:defRPr/>
            </a:pPr>
            <a:r>
              <a:rPr lang="ru-RU" sz="2000" dirty="0" err="1"/>
              <a:t>ол</a:t>
            </a:r>
            <a:r>
              <a:rPr lang="ru-RU" sz="2000" dirty="0"/>
              <a:t>   	</a:t>
            </a:r>
            <a:r>
              <a:rPr lang="ru-RU" sz="2000" dirty="0" smtClean="0"/>
              <a:t>4</a:t>
            </a:r>
            <a:endParaRPr lang="ru-RU" sz="2000" dirty="0"/>
          </a:p>
          <a:p>
            <a:pPr marL="342900" algn="just">
              <a:defRPr/>
            </a:pPr>
            <a:r>
              <a:rPr lang="ru-RU" sz="2000" dirty="0">
                <a:solidFill>
                  <a:srgbClr val="FF0000"/>
                </a:solidFill>
              </a:rPr>
              <a:t>кол</a:t>
            </a:r>
            <a:r>
              <a:rPr lang="ru-RU" sz="2000" dirty="0"/>
              <a:t>   	 4</a:t>
            </a:r>
          </a:p>
          <a:p>
            <a:pPr marL="342900" algn="just">
              <a:defRPr/>
            </a:pPr>
            <a:r>
              <a:rPr lang="ru-RU" sz="2000" dirty="0" err="1"/>
              <a:t>окол</a:t>
            </a:r>
            <a:r>
              <a:rPr lang="ru-RU" sz="2000" dirty="0"/>
              <a:t>	 </a:t>
            </a:r>
            <a:r>
              <a:rPr lang="ru-RU" sz="2000" dirty="0" smtClean="0"/>
              <a:t>4</a:t>
            </a:r>
            <a:endParaRPr lang="ru-RU" sz="2000" dirty="0"/>
          </a:p>
          <a:p>
            <a:pPr marL="342900" algn="just">
              <a:defRPr/>
            </a:pPr>
            <a:r>
              <a:rPr lang="ru-RU" sz="2000" dirty="0" err="1"/>
              <a:t>локол</a:t>
            </a:r>
            <a:r>
              <a:rPr lang="ru-RU" sz="2000" dirty="0"/>
              <a:t>	 4</a:t>
            </a:r>
          </a:p>
          <a:p>
            <a:pPr marL="342900" algn="just">
              <a:defRPr/>
            </a:pPr>
            <a:r>
              <a:rPr lang="ru-RU" sz="2000" dirty="0" err="1"/>
              <a:t>олокол</a:t>
            </a:r>
            <a:r>
              <a:rPr lang="ru-RU" sz="2000" dirty="0"/>
              <a:t>	 4</a:t>
            </a:r>
          </a:p>
          <a:p>
            <a:pPr marL="342900" algn="just">
              <a:defRPr/>
            </a:pPr>
            <a:r>
              <a:rPr lang="ru-RU" sz="2000" dirty="0"/>
              <a:t>колокол  </a:t>
            </a:r>
            <a:r>
              <a:rPr lang="ru-RU" sz="2000" dirty="0" smtClean="0"/>
              <a:t>  4</a:t>
            </a:r>
            <a:endParaRPr lang="ru-RU" sz="2000" dirty="0"/>
          </a:p>
        </p:txBody>
      </p:sp>
      <p:sp>
        <p:nvSpPr>
          <p:cNvPr id="10243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4CE452B-2307-418F-9346-7776917E9E10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14</a:t>
            </a:fld>
            <a:endParaRPr lang="en-GB" sz="1400"/>
          </a:p>
        </p:txBody>
      </p:sp>
      <p:sp>
        <p:nvSpPr>
          <p:cNvPr id="10244" name="TextBox 1"/>
          <p:cNvSpPr txBox="1">
            <a:spLocks noChangeArrowheads="1"/>
          </p:cNvSpPr>
          <p:nvPr/>
        </p:nvSpPr>
        <p:spPr bwMode="auto">
          <a:xfrm>
            <a:off x="3200400" y="4800600"/>
            <a:ext cx="8153400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ru-RU" sz="2400" dirty="0">
                <a:solidFill>
                  <a:schemeClr val="tx1"/>
                </a:solidFill>
              </a:rPr>
              <a:t>Если шаблон начинается и заканчивается одной и той же комбинацией букв, максимальная величина сдвига во всех остальных случаях равна величине сдвига для этого суффикса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err="1" smtClean="0"/>
              <a:t>Бойера</a:t>
            </a:r>
            <a:r>
              <a:rPr lang="ru-RU" sz="2800" b="1" u="sng" dirty="0" smtClean="0"/>
              <a:t>-Мура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4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1064170"/>
            <a:ext cx="11506199" cy="5546134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marL="342900" algn="just">
              <a:defRPr/>
            </a:pPr>
            <a:r>
              <a:rPr lang="ru-RU" sz="2000" dirty="0"/>
              <a:t>2. Совмещаем строки</a:t>
            </a:r>
          </a:p>
          <a:p>
            <a:pPr marL="342900" algn="just">
              <a:defRPr/>
            </a:pPr>
            <a:r>
              <a:rPr lang="ru-RU" sz="2000" dirty="0"/>
              <a:t>к о а о л о к о л о к о л</a:t>
            </a:r>
          </a:p>
          <a:p>
            <a:pPr marL="342900" algn="just">
              <a:defRPr/>
            </a:pPr>
            <a:r>
              <a:rPr lang="ru-RU" sz="2000" dirty="0"/>
              <a:t>к о л о к о л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Начинаем сравнивать с последнего символа шаблона</a:t>
            </a:r>
          </a:p>
          <a:p>
            <a:pPr marL="342900" algn="just">
              <a:defRPr/>
            </a:pPr>
            <a:endParaRPr lang="ru-RU" sz="900" dirty="0"/>
          </a:p>
          <a:p>
            <a:pPr marL="342900" algn="just">
              <a:defRPr/>
            </a:pPr>
            <a:r>
              <a:rPr lang="ru-RU" sz="2000" dirty="0"/>
              <a:t>к о а о л о </a:t>
            </a:r>
            <a:r>
              <a:rPr lang="ru-RU" sz="2000" dirty="0">
                <a:solidFill>
                  <a:srgbClr val="FF0000"/>
                </a:solidFill>
              </a:rPr>
              <a:t>к</a:t>
            </a:r>
            <a:r>
              <a:rPr lang="ru-RU" sz="2000" dirty="0"/>
              <a:t> о л о к о л</a:t>
            </a:r>
          </a:p>
          <a:p>
            <a:pPr marL="342900" algn="just">
              <a:defRPr/>
            </a:pPr>
            <a:r>
              <a:rPr lang="ru-RU" sz="2000" dirty="0"/>
              <a:t>к о л о к о </a:t>
            </a:r>
            <a:r>
              <a:rPr lang="ru-RU" sz="2000" dirty="0">
                <a:solidFill>
                  <a:srgbClr val="FF0000"/>
                </a:solidFill>
              </a:rPr>
              <a:t>л</a:t>
            </a:r>
          </a:p>
          <a:p>
            <a:pPr marL="342900" algn="just">
              <a:defRPr/>
            </a:pPr>
            <a:endParaRPr lang="ru-RU" sz="2000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Первая же буква не совпала -- «к». Тогда можно сдвинуть шаблон вправо до последней буквы «к».</a:t>
            </a:r>
          </a:p>
          <a:p>
            <a:pPr marL="342900" algn="just">
              <a:defRPr/>
            </a:pPr>
            <a:endParaRPr lang="ru-RU" sz="900" dirty="0"/>
          </a:p>
          <a:p>
            <a:pPr marL="342900" algn="just">
              <a:defRPr/>
            </a:pPr>
            <a:r>
              <a:rPr lang="ru-RU" sz="2000" dirty="0"/>
              <a:t>к о а о л о </a:t>
            </a:r>
            <a:r>
              <a:rPr lang="ru-RU" sz="2000" dirty="0">
                <a:solidFill>
                  <a:srgbClr val="FF0000"/>
                </a:solidFill>
              </a:rPr>
              <a:t>к</a:t>
            </a:r>
            <a:r>
              <a:rPr lang="ru-RU" sz="2000" dirty="0"/>
              <a:t> о л о к о л</a:t>
            </a:r>
          </a:p>
          <a:p>
            <a:pPr marL="342900" algn="just">
              <a:defRPr/>
            </a:pPr>
            <a:r>
              <a:rPr lang="ru-RU" sz="2000" dirty="0"/>
              <a:t>      к о л о </a:t>
            </a:r>
            <a:r>
              <a:rPr lang="ru-RU" sz="2000" dirty="0">
                <a:solidFill>
                  <a:srgbClr val="FF0000"/>
                </a:solidFill>
              </a:rPr>
              <a:t>к</a:t>
            </a:r>
            <a:r>
              <a:rPr lang="ru-RU" sz="2000" dirty="0"/>
              <a:t> о л</a:t>
            </a:r>
          </a:p>
          <a:p>
            <a:pPr marL="342900" algn="just">
              <a:defRPr/>
            </a:pPr>
            <a:endParaRPr lang="ru-RU" sz="2000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Нет совпадения по первой букве шаблона.</a:t>
            </a:r>
          </a:p>
          <a:p>
            <a:pPr marL="342900" algn="just">
              <a:defRPr/>
            </a:pPr>
            <a:endParaRPr lang="ru-RU" sz="900" dirty="0"/>
          </a:p>
          <a:p>
            <a:pPr marL="342900" algn="just">
              <a:defRPr/>
            </a:pPr>
            <a:r>
              <a:rPr lang="ru-RU" sz="2000" dirty="0"/>
              <a:t>к о </a:t>
            </a:r>
            <a:r>
              <a:rPr lang="ru-RU" sz="2000" dirty="0">
                <a:solidFill>
                  <a:srgbClr val="FF0000"/>
                </a:solidFill>
              </a:rPr>
              <a:t>а</a:t>
            </a:r>
            <a:r>
              <a:rPr lang="ru-RU" sz="2000" dirty="0"/>
              <a:t> о л о к о л о к о л</a:t>
            </a:r>
          </a:p>
          <a:p>
            <a:pPr marL="342900" algn="just">
              <a:defRPr/>
            </a:pPr>
            <a:r>
              <a:rPr lang="ru-RU" sz="2000" dirty="0"/>
              <a:t>      </a:t>
            </a:r>
            <a:r>
              <a:rPr lang="ru-RU" sz="2000" dirty="0">
                <a:solidFill>
                  <a:srgbClr val="FF0000"/>
                </a:solidFill>
              </a:rPr>
              <a:t>к</a:t>
            </a:r>
            <a:r>
              <a:rPr lang="ru-RU" sz="2000" dirty="0"/>
              <a:t> о л о к о </a:t>
            </a:r>
            <a:r>
              <a:rPr lang="ru-RU" sz="2000" dirty="0" smtClean="0"/>
              <a:t>л</a:t>
            </a:r>
            <a:endParaRPr lang="ru-RU" sz="2000" dirty="0"/>
          </a:p>
        </p:txBody>
      </p:sp>
      <p:sp>
        <p:nvSpPr>
          <p:cNvPr id="11267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7F43C9E-365B-4252-8410-62A58FFD7287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15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err="1" smtClean="0"/>
              <a:t>Бойера</a:t>
            </a:r>
            <a:r>
              <a:rPr lang="ru-RU" sz="2800" b="1" u="sng" dirty="0" smtClean="0"/>
              <a:t>-Мура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35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1600200"/>
            <a:ext cx="11658600" cy="3237809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Сдвинуть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используя таблицу стоп символов нет возможности (символа «а» в таблице стоп символов нет, следовательно сдвиг на 0). В этом случае рассматривается таблица суффиксов и следовательно сдвиг осуществляется на 4 символа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defRPr/>
            </a:pPr>
            <a:r>
              <a:rPr lang="ru-RU" sz="2000" dirty="0"/>
              <a:t>к о а о л о к о л о к о л</a:t>
            </a:r>
          </a:p>
          <a:p>
            <a:pPr marL="342900" algn="just">
              <a:defRPr/>
            </a:pPr>
            <a:r>
              <a:rPr lang="ru-RU" sz="2000" dirty="0"/>
              <a:t>                  к о л о к о л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данном примере совпадение.</a:t>
            </a:r>
          </a:p>
          <a:p>
            <a:pPr marL="342900" algn="just">
              <a:defRPr/>
            </a:pPr>
            <a:endParaRPr lang="ru-RU" sz="2000" dirty="0"/>
          </a:p>
        </p:txBody>
      </p:sp>
      <p:sp>
        <p:nvSpPr>
          <p:cNvPr id="12291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5950E267-7478-4B32-83B4-BB4DAD94A4D2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16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err="1" smtClean="0"/>
              <a:t>Бойера</a:t>
            </a:r>
            <a:r>
              <a:rPr lang="ru-RU" sz="2800" b="1" u="sng" dirty="0" smtClean="0"/>
              <a:t>-Мура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60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914400"/>
            <a:ext cx="11658600" cy="2868478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indent="358775" algn="just">
              <a:defRPr/>
            </a:pPr>
            <a:r>
              <a:rPr lang="ru-RU" sz="2000" b="1" u="sng" dirty="0"/>
              <a:t>Пример</a:t>
            </a:r>
          </a:p>
          <a:p>
            <a:pPr>
              <a:defRPr/>
            </a:pPr>
            <a:r>
              <a:rPr lang="ru-RU" sz="2000" dirty="0"/>
              <a:t>Строка: a b e c </a:t>
            </a:r>
            <a:r>
              <a:rPr lang="ru-RU" sz="2000" dirty="0" err="1"/>
              <a:t>c</a:t>
            </a:r>
            <a:r>
              <a:rPr lang="ru-RU" sz="2000" dirty="0"/>
              <a:t> a </a:t>
            </a:r>
            <a:r>
              <a:rPr lang="ru-RU" sz="2000" dirty="0" err="1"/>
              <a:t>a</a:t>
            </a:r>
            <a:r>
              <a:rPr lang="ru-RU" sz="2000" dirty="0"/>
              <a:t> b a d b a b </a:t>
            </a:r>
            <a:r>
              <a:rPr lang="ru-RU" sz="2000" dirty="0" err="1"/>
              <a:t>b</a:t>
            </a:r>
            <a:r>
              <a:rPr lang="ru-RU" sz="2000" dirty="0"/>
              <a:t> a d</a:t>
            </a:r>
            <a:endParaRPr lang="en-US" sz="2000" dirty="0"/>
          </a:p>
          <a:p>
            <a:pPr>
              <a:defRPr/>
            </a:pPr>
            <a:r>
              <a:rPr lang="ru-RU" sz="2000" dirty="0"/>
              <a:t>Шаблон: a b </a:t>
            </a:r>
            <a:r>
              <a:rPr lang="ru-RU" sz="2000" dirty="0" err="1"/>
              <a:t>b</a:t>
            </a:r>
            <a:r>
              <a:rPr lang="ru-RU" sz="2000" dirty="0"/>
              <a:t> a d</a:t>
            </a:r>
          </a:p>
          <a:p>
            <a:pPr>
              <a:defRPr/>
            </a:pPr>
            <a:endParaRPr lang="ru-RU" sz="2000" dirty="0"/>
          </a:p>
          <a:p>
            <a:pPr indent="358775" algn="just">
              <a:defRPr/>
            </a:pPr>
            <a:r>
              <a:rPr lang="ru-RU" sz="2000" dirty="0"/>
              <a:t>1. Проводим подготовительные работы</a:t>
            </a:r>
          </a:p>
          <a:p>
            <a:pPr marL="342900" indent="374650" algn="just"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Строим таблицу стоп-символов</a:t>
            </a:r>
          </a:p>
          <a:p>
            <a:pPr marL="342900">
              <a:defRPr/>
            </a:pPr>
            <a:r>
              <a:rPr lang="en-US" sz="2000" dirty="0"/>
              <a:t>a</a:t>
            </a:r>
            <a:r>
              <a:rPr lang="ru-RU" sz="2000" dirty="0"/>
              <a:t> </a:t>
            </a:r>
            <a:r>
              <a:rPr lang="en-US" sz="2000" dirty="0"/>
              <a:t>b</a:t>
            </a:r>
            <a:r>
              <a:rPr lang="ru-RU" sz="2000" dirty="0"/>
              <a:t> </a:t>
            </a:r>
            <a:r>
              <a:rPr lang="en-US" sz="2000" dirty="0"/>
              <a:t>d</a:t>
            </a:r>
            <a:r>
              <a:rPr lang="ru-RU" sz="2000" dirty="0"/>
              <a:t> </a:t>
            </a:r>
            <a:r>
              <a:rPr lang="ru-RU" sz="2000" dirty="0" smtClean="0"/>
              <a:t>		         для </a:t>
            </a:r>
            <a:r>
              <a:rPr lang="ru-RU" sz="2000" dirty="0"/>
              <a:t>всех остальных</a:t>
            </a:r>
          </a:p>
          <a:p>
            <a:pPr marL="342900" indent="2616200" algn="l">
              <a:defRPr/>
            </a:pPr>
            <a:r>
              <a:rPr lang="en-US" sz="2000" dirty="0"/>
              <a:t>4</a:t>
            </a:r>
            <a:r>
              <a:rPr lang="ru-RU" sz="2000" dirty="0"/>
              <a:t> </a:t>
            </a:r>
            <a:r>
              <a:rPr lang="en-US" sz="2000" dirty="0"/>
              <a:t>3</a:t>
            </a:r>
            <a:r>
              <a:rPr lang="ru-RU" sz="2000" dirty="0"/>
              <a:t> </a:t>
            </a:r>
            <a:r>
              <a:rPr lang="en-US" sz="2000" dirty="0"/>
              <a:t>0</a:t>
            </a:r>
            <a:r>
              <a:rPr lang="ru-RU" sz="2000" dirty="0"/>
              <a:t>                </a:t>
            </a:r>
            <a:r>
              <a:rPr lang="ru-RU" sz="2000" dirty="0" smtClean="0"/>
              <a:t>			 </a:t>
            </a:r>
            <a:r>
              <a:rPr lang="ru-RU" sz="2000" dirty="0"/>
              <a:t>0</a:t>
            </a:r>
          </a:p>
          <a:p>
            <a:pPr marL="342900" indent="374650" algn="just">
              <a:buFont typeface="Arial" panose="020B0604020202020204" pitchFamily="34" charset="0"/>
              <a:buChar char="•"/>
              <a:defRPr/>
            </a:pPr>
            <a:r>
              <a:rPr lang="ru-RU" sz="2000" dirty="0"/>
              <a:t>Строим таблицу суффиксов</a:t>
            </a:r>
          </a:p>
        </p:txBody>
      </p:sp>
      <p:sp>
        <p:nvSpPr>
          <p:cNvPr id="13315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5151EA7-E673-42EC-8E21-F0F991ECBDC5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17</a:t>
            </a:fld>
            <a:endParaRPr lang="en-GB" sz="140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695615"/>
              </p:ext>
            </p:extLst>
          </p:nvPr>
        </p:nvGraphicFramePr>
        <p:xfrm>
          <a:off x="5943600" y="3746302"/>
          <a:ext cx="2471737" cy="259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5708"/>
                <a:gridCol w="936029"/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/>
                        <a:t>суффикс</a:t>
                      </a:r>
                      <a:endParaRPr lang="ru-RU" sz="1800" dirty="0"/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/>
                        <a:t>сдвиг</a:t>
                      </a:r>
                      <a:endParaRPr lang="ru-RU" sz="1800" dirty="0"/>
                    </a:p>
                  </a:txBody>
                  <a:tcPr marL="91433" marR="91433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пустой</a:t>
                      </a:r>
                      <a:endParaRPr lang="ru-RU" sz="1800" dirty="0"/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1</a:t>
                      </a:r>
                      <a:endParaRPr lang="ru-RU" sz="1800" dirty="0"/>
                    </a:p>
                  </a:txBody>
                  <a:tcPr marL="91433" marR="91433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d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ru-RU" sz="1800" dirty="0"/>
                    </a:p>
                  </a:txBody>
                  <a:tcPr marL="91433" marR="91433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a d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ru-RU" sz="1800" dirty="0"/>
                    </a:p>
                  </a:txBody>
                  <a:tcPr marL="91433" marR="91433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b a d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ru-RU" sz="1800" dirty="0"/>
                    </a:p>
                  </a:txBody>
                  <a:tcPr marL="91433" marR="91433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b </a:t>
                      </a:r>
                      <a:r>
                        <a:rPr lang="ru-RU" sz="1800" dirty="0" err="1" smtClean="0"/>
                        <a:t>b</a:t>
                      </a:r>
                      <a:r>
                        <a:rPr lang="ru-RU" sz="1800" dirty="0" smtClean="0"/>
                        <a:t> a d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ru-RU" sz="1800" dirty="0"/>
                    </a:p>
                  </a:txBody>
                  <a:tcPr marL="91433" marR="91433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a b </a:t>
                      </a:r>
                      <a:r>
                        <a:rPr lang="ru-RU" sz="1800" dirty="0" err="1" smtClean="0"/>
                        <a:t>b</a:t>
                      </a:r>
                      <a:r>
                        <a:rPr lang="ru-RU" sz="1800" dirty="0" smtClean="0"/>
                        <a:t> a d</a:t>
                      </a:r>
                    </a:p>
                  </a:txBody>
                  <a:tcPr marL="91433" marR="91433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ru-RU" sz="1800" dirty="0"/>
                    </a:p>
                  </a:txBody>
                  <a:tcPr marL="91433" marR="91433" marT="45714" marB="45714"/>
                </a:tc>
              </a:tr>
            </a:tbl>
          </a:graphicData>
        </a:graphic>
      </p:graphicFrame>
      <p:sp>
        <p:nvSpPr>
          <p:cNvPr id="6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err="1" smtClean="0"/>
              <a:t>Бойера</a:t>
            </a:r>
            <a:r>
              <a:rPr lang="ru-RU" sz="2800" b="1" u="sng" dirty="0" smtClean="0"/>
              <a:t>-Мура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93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1636605"/>
            <a:ext cx="11658599" cy="52999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marL="342900" algn="just">
              <a:defRPr/>
            </a:pPr>
            <a:r>
              <a:rPr lang="ru-RU" sz="2000" dirty="0" smtClean="0"/>
              <a:t>2</a:t>
            </a:r>
            <a:r>
              <a:rPr lang="ru-RU" sz="2000" dirty="0"/>
              <a:t>. </a:t>
            </a:r>
            <a:r>
              <a:rPr lang="ru-RU" sz="2000" dirty="0"/>
              <a:t>Совмещаем строки</a:t>
            </a:r>
          </a:p>
          <a:p>
            <a:pPr marL="358775" algn="l">
              <a:defRPr/>
            </a:pPr>
            <a:r>
              <a:rPr lang="ru-RU" sz="2000" dirty="0"/>
              <a:t>a b e c </a:t>
            </a:r>
            <a:r>
              <a:rPr lang="ru-RU" sz="2000" dirty="0" err="1"/>
              <a:t>c</a:t>
            </a:r>
            <a:r>
              <a:rPr lang="ru-RU" sz="2000" dirty="0"/>
              <a:t> a </a:t>
            </a:r>
            <a:r>
              <a:rPr lang="ru-RU" sz="2000" dirty="0" err="1"/>
              <a:t>a</a:t>
            </a:r>
            <a:r>
              <a:rPr lang="ru-RU" sz="2000" dirty="0"/>
              <a:t> b a d b a b </a:t>
            </a:r>
            <a:r>
              <a:rPr lang="ru-RU" sz="2000" dirty="0" err="1"/>
              <a:t>b</a:t>
            </a:r>
            <a:r>
              <a:rPr lang="ru-RU" sz="2000" dirty="0"/>
              <a:t> a d</a:t>
            </a:r>
            <a:endParaRPr lang="en-US" sz="2000" dirty="0"/>
          </a:p>
          <a:p>
            <a:pPr marL="358775" algn="l">
              <a:defRPr/>
            </a:pPr>
            <a:r>
              <a:rPr lang="ru-RU" sz="2000" dirty="0"/>
              <a:t>a b </a:t>
            </a:r>
            <a:r>
              <a:rPr lang="ru-RU" sz="2000" dirty="0" err="1"/>
              <a:t>b</a:t>
            </a:r>
            <a:r>
              <a:rPr lang="ru-RU" sz="2000" dirty="0"/>
              <a:t> a d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Начинаем сравнивать с последнего символа 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шаблона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sz="9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algn="l">
              <a:defRPr/>
            </a:pPr>
            <a:r>
              <a:rPr lang="ru-RU" sz="2000" dirty="0"/>
              <a:t>a b e c </a:t>
            </a:r>
            <a:r>
              <a:rPr lang="ru-RU" sz="2000" dirty="0" err="1">
                <a:solidFill>
                  <a:srgbClr val="FF0000"/>
                </a:solidFill>
              </a:rPr>
              <a:t>c</a:t>
            </a:r>
            <a:r>
              <a:rPr lang="ru-RU" sz="2000" dirty="0"/>
              <a:t> a </a:t>
            </a:r>
            <a:r>
              <a:rPr lang="ru-RU" sz="2000" dirty="0" err="1"/>
              <a:t>a</a:t>
            </a:r>
            <a:r>
              <a:rPr lang="ru-RU" sz="2000" dirty="0"/>
              <a:t> b a d b a b </a:t>
            </a:r>
            <a:r>
              <a:rPr lang="ru-RU" sz="2000" dirty="0" err="1"/>
              <a:t>b</a:t>
            </a:r>
            <a:r>
              <a:rPr lang="ru-RU" sz="2000" dirty="0"/>
              <a:t> a d</a:t>
            </a:r>
            <a:endParaRPr lang="en-US" sz="2000" dirty="0"/>
          </a:p>
          <a:p>
            <a:pPr marL="358775" algn="l">
              <a:defRPr/>
            </a:pPr>
            <a:r>
              <a:rPr lang="ru-RU" sz="2000" dirty="0"/>
              <a:t>a b </a:t>
            </a:r>
            <a:r>
              <a:rPr lang="ru-RU" sz="2000" dirty="0" err="1"/>
              <a:t>b</a:t>
            </a:r>
            <a:r>
              <a:rPr lang="ru-RU" sz="2000" dirty="0"/>
              <a:t> a </a:t>
            </a:r>
            <a:r>
              <a:rPr lang="ru-RU" sz="2000" dirty="0">
                <a:solidFill>
                  <a:srgbClr val="FF0000"/>
                </a:solidFill>
              </a:rPr>
              <a:t>d</a:t>
            </a:r>
          </a:p>
          <a:p>
            <a:pPr marL="342900" algn="just">
              <a:defRPr/>
            </a:pPr>
            <a:endParaRPr lang="ru-RU" sz="800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Первая же буква не совпала. Совпадения суффикса нет -- таблица суффиксов даёт сдвиг на одну позицию. Для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несовпавшего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символа исходной строки «с» (5-я позиция) в таблице стоп-символов записан 0.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Можно сдвинуть образец вправо на 5-0=5 позиций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sz="9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defRPr/>
            </a:pPr>
            <a:r>
              <a:rPr lang="ru-RU" sz="2000" dirty="0"/>
              <a:t>a b e c </a:t>
            </a:r>
            <a:r>
              <a:rPr lang="ru-RU" sz="2000" dirty="0" err="1"/>
              <a:t>c</a:t>
            </a:r>
            <a:r>
              <a:rPr lang="ru-RU" sz="2000" dirty="0"/>
              <a:t> a </a:t>
            </a:r>
            <a:r>
              <a:rPr lang="ru-RU" sz="2000" dirty="0" err="1">
                <a:solidFill>
                  <a:srgbClr val="FF0000"/>
                </a:solidFill>
              </a:rPr>
              <a:t>a</a:t>
            </a:r>
            <a:r>
              <a:rPr lang="ru-RU" sz="2000" dirty="0"/>
              <a:t> b a d b a b </a:t>
            </a:r>
            <a:r>
              <a:rPr lang="ru-RU" sz="2000" dirty="0" err="1"/>
              <a:t>b</a:t>
            </a:r>
            <a:r>
              <a:rPr lang="ru-RU" sz="2000" dirty="0"/>
              <a:t> a d</a:t>
            </a:r>
            <a:endParaRPr lang="en-US" sz="2000" dirty="0"/>
          </a:p>
          <a:p>
            <a:pPr marL="358775" algn="l">
              <a:defRPr/>
            </a:pPr>
            <a:r>
              <a:rPr lang="ru-RU" sz="2000" dirty="0"/>
              <a:t>               a </a:t>
            </a:r>
            <a:r>
              <a:rPr lang="ru-RU" sz="2000" dirty="0">
                <a:solidFill>
                  <a:srgbClr val="FF0000"/>
                </a:solidFill>
              </a:rPr>
              <a:t>b</a:t>
            </a:r>
            <a:r>
              <a:rPr lang="ru-RU" sz="2000" dirty="0"/>
              <a:t> </a:t>
            </a:r>
            <a:r>
              <a:rPr lang="ru-RU" sz="2000" dirty="0" err="1"/>
              <a:t>b</a:t>
            </a:r>
            <a:r>
              <a:rPr lang="ru-RU" sz="2000" dirty="0"/>
              <a:t> a d</a:t>
            </a:r>
          </a:p>
          <a:p>
            <a:pPr marL="342900" algn="just">
              <a:defRPr/>
            </a:pPr>
            <a:endParaRPr lang="ru-RU" sz="800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Несовпадающий символ есть в таблице стоп символов, но сдвиг больше чем позиция, получим отрицательное значение 5-4=1. </a:t>
            </a:r>
          </a:p>
          <a:p>
            <a:pPr marL="342900" algn="just">
              <a:defRPr/>
            </a:pPr>
            <a:endParaRPr lang="ru-RU" sz="2000" dirty="0"/>
          </a:p>
        </p:txBody>
      </p:sp>
      <p:sp>
        <p:nvSpPr>
          <p:cNvPr id="14339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EFBB19B3-053F-43F8-BBEB-197E3CAAE371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18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err="1" smtClean="0"/>
              <a:t>Бойера</a:t>
            </a:r>
            <a:r>
              <a:rPr lang="ru-RU" sz="2800" b="1" u="sng" dirty="0" smtClean="0"/>
              <a:t>-Мура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25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2617" y="1447800"/>
            <a:ext cx="11734799" cy="3699474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Следовательно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таблица суффиксов. Сдвиг на 5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sz="9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algn="l">
              <a:defRPr/>
            </a:pPr>
            <a:r>
              <a:rPr lang="ru-RU" sz="2000" dirty="0"/>
              <a:t>a b e c </a:t>
            </a:r>
            <a:r>
              <a:rPr lang="ru-RU" sz="2000" dirty="0" err="1"/>
              <a:t>c</a:t>
            </a:r>
            <a:r>
              <a:rPr lang="ru-RU" sz="2000" dirty="0"/>
              <a:t> a </a:t>
            </a:r>
            <a:r>
              <a:rPr lang="ru-RU" sz="2000" dirty="0" err="1"/>
              <a:t>a</a:t>
            </a:r>
            <a:r>
              <a:rPr lang="ru-RU" sz="2000" dirty="0"/>
              <a:t> b a d b a b </a:t>
            </a:r>
            <a:r>
              <a:rPr lang="ru-RU" sz="2000" dirty="0" err="1"/>
              <a:t>b</a:t>
            </a:r>
            <a:r>
              <a:rPr lang="ru-RU" sz="2000" dirty="0"/>
              <a:t> </a:t>
            </a:r>
            <a:r>
              <a:rPr lang="ru-RU" sz="2000" dirty="0">
                <a:solidFill>
                  <a:srgbClr val="FF0000"/>
                </a:solidFill>
              </a:rPr>
              <a:t>a</a:t>
            </a:r>
            <a:r>
              <a:rPr lang="ru-RU" sz="2000" dirty="0"/>
              <a:t> d</a:t>
            </a:r>
            <a:endParaRPr lang="en-US" sz="2000" dirty="0"/>
          </a:p>
          <a:p>
            <a:pPr marL="358775" algn="l">
              <a:defRPr/>
            </a:pPr>
            <a:r>
              <a:rPr lang="ru-RU" sz="2000" dirty="0"/>
              <a:t>                              a b </a:t>
            </a:r>
            <a:r>
              <a:rPr lang="ru-RU" sz="2000" dirty="0" err="1"/>
              <a:t>b</a:t>
            </a:r>
            <a:r>
              <a:rPr lang="ru-RU" sz="2000" dirty="0"/>
              <a:t> a </a:t>
            </a:r>
            <a:r>
              <a:rPr lang="ru-RU" sz="2000" dirty="0">
                <a:solidFill>
                  <a:srgbClr val="FF0000"/>
                </a:solidFill>
              </a:rPr>
              <a:t>d</a:t>
            </a:r>
          </a:p>
          <a:p>
            <a:pPr marL="342900" algn="just">
              <a:defRPr/>
            </a:pPr>
            <a:endParaRPr lang="ru-RU" sz="2000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Несовпадение по последнему символу. Таблица суффиксов дает сдвиг на 1. Таблица стоп символов дает сдвиг 5-4=1.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сдвиг одинаковый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sz="9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algn="l">
              <a:defRPr/>
            </a:pPr>
            <a:r>
              <a:rPr lang="ru-RU" sz="2000" dirty="0"/>
              <a:t>a b e c </a:t>
            </a:r>
            <a:r>
              <a:rPr lang="ru-RU" sz="2000" dirty="0" err="1"/>
              <a:t>c</a:t>
            </a:r>
            <a:r>
              <a:rPr lang="ru-RU" sz="2000" dirty="0"/>
              <a:t> a </a:t>
            </a:r>
            <a:r>
              <a:rPr lang="ru-RU" sz="2000" dirty="0" err="1"/>
              <a:t>a</a:t>
            </a:r>
            <a:r>
              <a:rPr lang="ru-RU" sz="2000" dirty="0"/>
              <a:t> b a d b a b </a:t>
            </a:r>
            <a:r>
              <a:rPr lang="ru-RU" sz="2000" dirty="0" err="1"/>
              <a:t>b</a:t>
            </a:r>
            <a:r>
              <a:rPr lang="ru-RU" sz="2000" dirty="0"/>
              <a:t> a d</a:t>
            </a:r>
            <a:endParaRPr lang="en-US" sz="2000" dirty="0"/>
          </a:p>
          <a:p>
            <a:pPr marL="358775" algn="l">
              <a:defRPr/>
            </a:pPr>
            <a:r>
              <a:rPr lang="ru-RU" sz="2000" dirty="0"/>
              <a:t>                                 a b </a:t>
            </a:r>
            <a:r>
              <a:rPr lang="ru-RU" sz="2000" dirty="0" err="1"/>
              <a:t>b</a:t>
            </a:r>
            <a:r>
              <a:rPr lang="ru-RU" sz="2000" dirty="0"/>
              <a:t> a d</a:t>
            </a:r>
          </a:p>
          <a:p>
            <a:pPr marL="342900" algn="just">
              <a:defRPr/>
            </a:pPr>
            <a:endParaRPr lang="ru-RU" sz="2000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Получено совпадение.</a:t>
            </a:r>
          </a:p>
        </p:txBody>
      </p:sp>
      <p:sp>
        <p:nvSpPr>
          <p:cNvPr id="15363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6DB771EB-066A-4429-8C22-D53EFBAB1213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19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err="1" smtClean="0"/>
              <a:t>Бойера</a:t>
            </a:r>
            <a:r>
              <a:rPr lang="ru-RU" sz="2800" b="1" u="sng" dirty="0" smtClean="0"/>
              <a:t>-Мура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26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" y="1086733"/>
            <a:ext cx="11582399" cy="5638467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Доказательство корректности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доказательства корректности алгоритма достаточно показать, что если та или иная эвристика предлагает сдвиг более чем на одну позицию вправо, на пропущенных позициях шаблон не найдётся.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Пусть совпал суффикс S, шаблон=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PbS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стоп-символ -- a (в дальнейшем малые буквы -- символы, большие -- строки).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Строка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* * * * * * * a [-- S --] * * * *</a:t>
            </a: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Шаблон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[--- P ---] b [-- S --]</a:t>
            </a: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Эвристика стоп-символа. Работает, когда в строке S символ а отсутствует. Если P=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и в строке V нет символа а, то эвристика стоп-символа предлагает сдвиг на |V|+1 позицию.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Строка: * * * * * * * * * * * * a [-- S --] * * * * * * * *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Шаблон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[- W -] a [--- V ---] b [-- S --]</a:t>
            </a: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Пропустить: [- W -] a [--- V ---] b [-- S --]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Новый шаг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[- W -] a [--- V ---] b [-- S --]</a:t>
            </a: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7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D4A2CF09-86C8-4797-9BE2-B76EED085D5C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20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err="1" smtClean="0"/>
              <a:t>Бойера</a:t>
            </a:r>
            <a:r>
              <a:rPr lang="ru-RU" sz="2800" b="1" u="sng" dirty="0" smtClean="0"/>
              <a:t>-Мура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38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5128" y="1219200"/>
            <a:ext cx="11811000" cy="3730252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Доказательство корректности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Действительно, если в строке V нет буквы a, нет смысла пробовать пропущенные |V| позиций.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Если же в шаблоне вообще нет символа а, то эвристика стоп-символа предлагает сдвиг на |P|+1 позицию -- и также нет смысла пробовать пропущенные |P|.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Строка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* * * * * * * * a [-- S --] * * * * * * * *</a:t>
            </a: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Шаблон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[--- P ---] b [-- S --]</a:t>
            </a: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Пропустить: [--- P ---] b [-- S --]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Новый шаг: [--- P ---] b [-- S --]</a:t>
            </a:r>
          </a:p>
          <a:p>
            <a:pPr marL="342900" algn="just">
              <a:defRPr/>
            </a:pPr>
            <a:endParaRPr lang="en-US" sz="2000" dirty="0"/>
          </a:p>
        </p:txBody>
      </p:sp>
      <p:sp>
        <p:nvSpPr>
          <p:cNvPr id="17411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22A555B0-1D7C-4FA8-A892-9176AA0471C7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21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err="1" smtClean="0"/>
              <a:t>Бойера</a:t>
            </a:r>
            <a:r>
              <a:rPr lang="ru-RU" sz="2800" b="1" u="sng" dirty="0" smtClean="0"/>
              <a:t>-Мура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54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1116224"/>
            <a:ext cx="11658599" cy="5638467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000" dirty="0"/>
              <a:t> 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Рабина-Карпа 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алгоритм который ищет шаблон, то есть подстроку, в тексте, используя хеширование.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 был разработан в 1987 году Майклом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Рабином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и Ричардом Карпом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редко используется для поиска одиночного шаблона, он очень эффективен в поиске совпадений множественных шаблонов одинаковой длины.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текста длины n и шаблона длины m его среднее и лучшее время исполнения равно O(n) при правильном выборе хеш-функции, но в худшем случае он имеет эффективность 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O(n*m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приложений, в которых допустимы ложные срабатывания при поиске, то есть, когда некоторые из найденных вхождений шаблона на самом деле могут не соответствовать шаблону, алгоритм Рабина 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Карпа работает за гарантированное время O(n) и при подходящем выборе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рандомизированной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хеш-функции вероятность ошибки небольшая.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Также алгоритм имеет уникальную особенность находить любую из заданных k строк одинаковой длины в среднем за время O(n) независимо от размера k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5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0092889B-1E18-4AE5-8E9C-C2669486C8DD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22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smtClean="0"/>
              <a:t>Рабина-Карпа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92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1362713"/>
            <a:ext cx="11658599" cy="5170646"/>
          </a:xfrm>
        </p:spPr>
        <p:txBody>
          <a:bodyPr/>
          <a:lstStyle/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 простейших практических применений алгоритма Рабина 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Карпа состоит в определении плагиата.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Рабина 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Карпа может быстро найти в проверяемой тексте примеры вхождения некоторых предложений из исходных материалов.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устранения чувствительности алгоритма к небольшим различиям можно игнорировать регистр или пунктуацию, при помощи их удаления.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Поскольку количество строк, которые являются шаблонами k обычные алгоритмы поиска одиночных строк становятся неэффективными.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Вместо того, чтобы использовать пропуск, алгоритм Рабина 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Карпа пытается ускорить проверку эквивалентности образца с подстроками в тексте, используя хеш-функцию.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Хеш-функция 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функция, преобразующая каждую строку в числовое значение, называемое 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-значением (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например,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 строки «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равен 5. Алгоритм использует тот факт, что если две строки одинаковы, то и их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-значения также одинаковы. </a:t>
            </a:r>
          </a:p>
        </p:txBody>
      </p:sp>
      <p:sp>
        <p:nvSpPr>
          <p:cNvPr id="19459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9AA035F-045A-413E-A1D4-D40C8546E506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23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smtClean="0"/>
              <a:t>Рабина-Карпа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3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1362713"/>
            <a:ext cx="11658599" cy="5170646"/>
          </a:xfrm>
        </p:spPr>
        <p:txBody>
          <a:bodyPr/>
          <a:lstStyle/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образом, всё что нужно, это посчитать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-значение искомой подстроки и затем найти подстроку с таким же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-значением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Существуют две проблемы, связанные с этим.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Первая состоит в том, что, так как существует очень много различных строк, между двумя различными строками может произойти коллизия 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совпадение их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хешей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В таких случаях необходимо посимвольно проверять совпадение самих подстрок, что занимает достаточно много времени, если данные подстроки имеют большую длину. При использовании достаточно хороших хеш-функций коллизии случаются крайне редко, и в результате среднее время поиска оказывается невелико.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торая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заключается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пересчитывании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решена путем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 кольцевого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Самым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простым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примером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кольцевого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значений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каждого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следующего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подстроке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последующее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данной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формулы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подсчёта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каждого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следующего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хеш-значения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фиксированное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время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59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9AA035F-045A-413E-A1D4-D40C8546E506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24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smtClean="0"/>
              <a:t>Рабина-Карпа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82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1362713"/>
            <a:ext cx="11658599" cy="4431983"/>
          </a:xfrm>
        </p:spPr>
        <p:txBody>
          <a:bodyPr/>
          <a:lstStyle/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Ключами</a:t>
            </a:r>
            <a:r>
              <a:rPr lang="en-GB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производительности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Рабина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Карпа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являются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низкая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вероятность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коллизий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эффективное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вычисление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хеш-значения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последовательных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подстрок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текста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Рабин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Карп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предложили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использовать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называемый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полиномиальный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данного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шаблона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  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такой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определён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следующим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некоторое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простое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число</a:t>
            </a:r>
            <a:endParaRPr lang="en-GB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 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число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0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q-1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59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9AA035F-045A-413E-A1D4-D40C8546E506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25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smtClean="0"/>
              <a:t>Рабина-Карпа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  <p:pic>
        <p:nvPicPr>
          <p:cNvPr id="5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971800"/>
            <a:ext cx="5986462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666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1362713"/>
            <a:ext cx="11658599" cy="5170646"/>
          </a:xfrm>
        </p:spPr>
        <p:txBody>
          <a:bodyPr/>
          <a:lstStyle/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Хеш-значения</a:t>
            </a:r>
            <a:r>
              <a:rPr lang="en-GB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последовательных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подстрок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s[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…i+m-1]    и  s[i+1…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i+m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 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полиномиального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хеша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вычисляются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следующим</a:t>
            </a:r>
            <a:r>
              <a:rPr lang="en-GB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</a:t>
            </a:r>
            <a:r>
              <a:rPr lang="ru-RU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азом</a:t>
            </a: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пусть  x=101, q произвольно, и имеем текст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abracadabra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ищем образец длины 3. Можно рассчитать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хеш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подстроки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из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хеша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подстроки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(предыдущая подстрока), вычитая число, добавленное для первой буквы 'a' из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то есть  97* 101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умножая на основание 101 и добавляя последнее число для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то есть 97* 101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=97}. Чтобы избежать переполнения целых чисел, в большинстве реализаций после каждой из этих четырёх операций нужно брать результат по модулю q.</a:t>
            </a:r>
            <a:endParaRPr lang="en-GB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59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9AA035F-045A-413E-A1D4-D40C8546E506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26</a:t>
            </a:fld>
            <a:endParaRPr lang="en-GB" sz="140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smtClean="0"/>
              <a:t>Рабина-Карпа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  <p:pic>
        <p:nvPicPr>
          <p:cNvPr id="6" name="Рисунок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59041"/>
            <a:ext cx="10820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8437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1932" y="1078204"/>
            <a:ext cx="11734799" cy="5576911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indent="358775" algn="just">
              <a:defRPr/>
            </a:pPr>
            <a:r>
              <a:rPr lang="ru-RU" sz="2000" b="1" u="sng" dirty="0" smtClean="0"/>
              <a:t>Пример</a:t>
            </a:r>
            <a:endParaRPr lang="ru-RU" sz="2000" b="1" u="sng" dirty="0"/>
          </a:p>
          <a:p>
            <a:pPr marL="358775" indent="-358775" algn="just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Пусть дана последовательность целых чисел, определить вхождение подпоследовательности в последовательность.</a:t>
            </a:r>
          </a:p>
          <a:p>
            <a:pPr indent="358775" algn="just">
              <a:defRPr/>
            </a:pPr>
            <a:endParaRPr lang="ru-RU" sz="800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indent="358775" algn="just">
              <a:defRPr/>
            </a:pPr>
            <a:r>
              <a:rPr lang="ru-RU" sz="2000" dirty="0">
                <a:solidFill>
                  <a:srgbClr val="202122"/>
                </a:solidFill>
                <a:cs typeface="Arial" panose="020B0604020202020204" pitchFamily="34" charset="0"/>
              </a:rPr>
              <a:t>Последовательность: 1 5 3 6 2 8 5 9 7 0 4 5 6 3 7 8 9 0 2 5</a:t>
            </a:r>
          </a:p>
          <a:p>
            <a:pPr indent="358775" algn="just">
              <a:defRPr/>
            </a:pPr>
            <a:r>
              <a:rPr lang="ru-RU" sz="2000" dirty="0" err="1">
                <a:solidFill>
                  <a:srgbClr val="202122"/>
                </a:solidFill>
                <a:cs typeface="Arial" panose="020B0604020202020204" pitchFamily="34" charset="0"/>
              </a:rPr>
              <a:t>Подпоследовательность</a:t>
            </a:r>
            <a:r>
              <a:rPr lang="ru-RU" sz="2000" dirty="0">
                <a:solidFill>
                  <a:srgbClr val="202122"/>
                </a:solidFill>
                <a:cs typeface="Arial" panose="020B0604020202020204" pitchFamily="34" charset="0"/>
              </a:rPr>
              <a:t> 0 4 5 6 </a:t>
            </a:r>
            <a:r>
              <a:rPr lang="ru-RU" sz="2000" dirty="0" smtClean="0">
                <a:solidFill>
                  <a:srgbClr val="202122"/>
                </a:solidFill>
                <a:cs typeface="Arial" panose="020B0604020202020204" pitchFamily="34" charset="0"/>
              </a:rPr>
              <a:t>3</a:t>
            </a:r>
          </a:p>
          <a:p>
            <a:pPr indent="358775" algn="just">
              <a:defRPr/>
            </a:pPr>
            <a:r>
              <a:rPr lang="ru-RU" sz="2000" dirty="0" err="1" smtClean="0"/>
              <a:t>Хэш</a:t>
            </a:r>
            <a:r>
              <a:rPr lang="ru-RU" sz="2000" dirty="0" smtClean="0"/>
              <a:t> </a:t>
            </a:r>
            <a:r>
              <a:rPr lang="ru-RU" sz="2000" dirty="0"/>
              <a:t>для подстроки 0+4+5+6+3=18</a:t>
            </a:r>
          </a:p>
          <a:p>
            <a:pPr indent="358775" algn="just">
              <a:defRPr/>
            </a:pPr>
            <a:endParaRPr lang="ru-RU" sz="2000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indent="358775" algn="just">
              <a:defRPr/>
            </a:pPr>
            <a:endParaRPr lang="ru-RU" sz="2000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indent="358775" algn="just">
              <a:defRPr/>
            </a:pPr>
            <a:endParaRPr lang="ru-RU" sz="2000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indent="358775" algn="just">
              <a:defRPr/>
            </a:pPr>
            <a:r>
              <a:rPr lang="en-GB" sz="2000" dirty="0">
                <a:solidFill>
                  <a:schemeClr val="bg1"/>
                </a:solidFill>
              </a:rPr>
              <a:t> </a:t>
            </a:r>
          </a:p>
          <a:p>
            <a:pPr algn="just">
              <a:defRPr/>
            </a:pPr>
            <a:r>
              <a:rPr lang="ru-RU" sz="2000" dirty="0" err="1" smtClean="0"/>
              <a:t>Хеш</a:t>
            </a:r>
            <a:r>
              <a:rPr lang="ru-RU" sz="2000" dirty="0" smtClean="0"/>
              <a:t> </a:t>
            </a:r>
            <a:r>
              <a:rPr lang="ru-RU" sz="2000" dirty="0"/>
              <a:t>для строки </a:t>
            </a:r>
            <a:r>
              <a:rPr lang="ru-RU" sz="2000" dirty="0" smtClean="0"/>
              <a:t>1+5+3+6+2=17</a:t>
            </a:r>
          </a:p>
          <a:p>
            <a:pPr algn="just">
              <a:defRPr/>
            </a:pPr>
            <a:r>
              <a:rPr lang="ru-RU" sz="2000" dirty="0" smtClean="0"/>
              <a:t>Равенства </a:t>
            </a:r>
            <a:r>
              <a:rPr lang="ru-RU" sz="2000" dirty="0"/>
              <a:t>нет.</a:t>
            </a:r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r>
              <a:rPr lang="ru-RU" sz="2000" dirty="0" smtClean="0"/>
              <a:t>3. </a:t>
            </a:r>
            <a:r>
              <a:rPr lang="ru-RU" sz="2000" dirty="0" err="1" smtClean="0"/>
              <a:t>Хэш</a:t>
            </a:r>
            <a:r>
              <a:rPr lang="ru-RU" sz="2000" dirty="0" smtClean="0"/>
              <a:t> </a:t>
            </a:r>
            <a:r>
              <a:rPr lang="ru-RU" sz="2000" dirty="0"/>
              <a:t>для строки 17-1+8=24</a:t>
            </a:r>
          </a:p>
          <a:p>
            <a:pPr algn="just">
              <a:defRPr/>
            </a:pPr>
            <a:r>
              <a:rPr lang="ru-RU" sz="2000" dirty="0"/>
              <a:t>Совпадений нет. Сравнений нет.</a:t>
            </a:r>
          </a:p>
        </p:txBody>
      </p:sp>
      <p:sp>
        <p:nvSpPr>
          <p:cNvPr id="22531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98C453E0-BB98-4856-99DB-FF5AA7670744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27</a:t>
            </a:fld>
            <a:endParaRPr lang="en-GB" sz="1400"/>
          </a:p>
        </p:txBody>
      </p:sp>
      <p:sp>
        <p:nvSpPr>
          <p:cNvPr id="22532" name="AutoShape 6" descr="O(m)"/>
          <p:cNvSpPr>
            <a:spLocks noChangeAspect="1" noChangeArrowheads="1"/>
          </p:cNvSpPr>
          <p:nvPr/>
        </p:nvSpPr>
        <p:spPr bwMode="auto">
          <a:xfrm>
            <a:off x="1003458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2533" name="AutoShape 7" descr="{\displaystyle \Omega (mn)}"/>
          <p:cNvSpPr>
            <a:spLocks noChangeAspect="1" noChangeArrowheads="1"/>
          </p:cNvSpPr>
          <p:nvPr/>
        </p:nvSpPr>
        <p:spPr bwMode="auto">
          <a:xfrm>
            <a:off x="162337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2534" name="Rectangle 8"/>
          <p:cNvSpPr>
            <a:spLocks noChangeArrowheads="1"/>
          </p:cNvSpPr>
          <p:nvPr/>
        </p:nvSpPr>
        <p:spPr bwMode="auto">
          <a:xfrm>
            <a:off x="1598614" y="768351"/>
            <a:ext cx="8961437" cy="246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000">
              <a:solidFill>
                <a:srgbClr val="202122"/>
              </a:solidFill>
              <a:cs typeface="Arial" panose="020B0604020202020204" pitchFamily="34" charset="0"/>
            </a:endParaRPr>
          </a:p>
        </p:txBody>
      </p:sp>
      <p:sp>
        <p:nvSpPr>
          <p:cNvPr id="22535" name="AutoShape 9" descr="{\displaystyle p[1..m]}"/>
          <p:cNvSpPr>
            <a:spLocks noChangeAspect="1" noChangeArrowheads="1"/>
          </p:cNvSpPr>
          <p:nvPr/>
        </p:nvSpPr>
        <p:spPr bwMode="auto">
          <a:xfrm>
            <a:off x="3656014" y="-65088"/>
            <a:ext cx="301625" cy="30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2536" name="AutoShape 2" descr="q"/>
          <p:cNvSpPr>
            <a:spLocks noChangeAspect="1" noChangeArrowheads="1"/>
          </p:cNvSpPr>
          <p:nvPr/>
        </p:nvSpPr>
        <p:spPr bwMode="auto">
          <a:xfrm>
            <a:off x="187642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2537" name="AutoShape 3" descr="x"/>
          <p:cNvSpPr>
            <a:spLocks noChangeAspect="1" noChangeArrowheads="1"/>
          </p:cNvSpPr>
          <p:nvPr/>
        </p:nvSpPr>
        <p:spPr bwMode="auto">
          <a:xfrm>
            <a:off x="3838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2538" name="AutoShape 4" descr="{\displaystyle 0}"/>
          <p:cNvSpPr>
            <a:spLocks noChangeAspect="1" noChangeArrowheads="1"/>
          </p:cNvSpPr>
          <p:nvPr/>
        </p:nvSpPr>
        <p:spPr bwMode="auto">
          <a:xfrm>
            <a:off x="468153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2539" name="AutoShape 5" descr="q-1"/>
          <p:cNvSpPr>
            <a:spLocks noChangeAspect="1" noChangeArrowheads="1"/>
          </p:cNvSpPr>
          <p:nvPr/>
        </p:nvSpPr>
        <p:spPr bwMode="auto">
          <a:xfrm>
            <a:off x="4997450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2540" name="AutoShape 6" descr="{\displaystyle s[i..i+m-1]}"/>
          <p:cNvSpPr>
            <a:spLocks noChangeAspect="1" noChangeArrowheads="1"/>
          </p:cNvSpPr>
          <p:nvPr/>
        </p:nvSpPr>
        <p:spPr bwMode="auto">
          <a:xfrm>
            <a:off x="77708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2541" name="AutoShape 7" descr="{\displaystyle s[i+1..i+m]}"/>
          <p:cNvSpPr>
            <a:spLocks noChangeAspect="1" noChangeArrowheads="1"/>
          </p:cNvSpPr>
          <p:nvPr/>
        </p:nvSpPr>
        <p:spPr bwMode="auto">
          <a:xfrm>
            <a:off x="8013700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2542" name="AutoShape 8" descr="{\displaystyle x^{m-1}{\bmod {q}}}"/>
          <p:cNvSpPr>
            <a:spLocks noChangeAspect="1" noChangeArrowheads="1"/>
          </p:cNvSpPr>
          <p:nvPr/>
        </p:nvSpPr>
        <p:spPr bwMode="auto">
          <a:xfrm>
            <a:off x="1589563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22914"/>
              </p:ext>
            </p:extLst>
          </p:nvPr>
        </p:nvGraphicFramePr>
        <p:xfrm>
          <a:off x="3276600" y="3505200"/>
          <a:ext cx="6096000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</a:tblGrid>
              <a:tr h="370681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1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6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2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8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9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7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4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6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7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8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9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2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4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6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00" marB="45700"/>
                </a:tc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574729"/>
              </p:ext>
            </p:extLst>
          </p:nvPr>
        </p:nvGraphicFramePr>
        <p:xfrm>
          <a:off x="3276600" y="5029200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</a:tblGrid>
              <a:tr h="370682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1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6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2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8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9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7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4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6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7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8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9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2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</a:tr>
              <a:tr h="370682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4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6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00" marB="45700"/>
                </a:tc>
              </a:tr>
            </a:tbl>
          </a:graphicData>
        </a:graphic>
      </p:graphicFrame>
      <p:sp>
        <p:nvSpPr>
          <p:cNvPr id="17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smtClean="0"/>
              <a:t>Рабина-Карпа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28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844551"/>
            <a:ext cx="11658600" cy="5915466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indent="358775" algn="just">
              <a:defRPr/>
            </a:pPr>
            <a:endParaRPr lang="ru-RU" sz="18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 smtClean="0"/>
          </a:p>
          <a:p>
            <a:pPr algn="just">
              <a:defRPr/>
            </a:pPr>
            <a:r>
              <a:rPr lang="ru-RU" sz="2000" dirty="0" err="1" smtClean="0"/>
              <a:t>Хэш</a:t>
            </a:r>
            <a:r>
              <a:rPr lang="ru-RU" sz="2000" dirty="0" smtClean="0"/>
              <a:t> </a:t>
            </a:r>
            <a:r>
              <a:rPr lang="ru-RU" sz="2000" dirty="0"/>
              <a:t>для строки 24-5+5=24</a:t>
            </a:r>
          </a:p>
          <a:p>
            <a:pPr algn="just">
              <a:defRPr/>
            </a:pPr>
            <a:r>
              <a:rPr lang="ru-RU" sz="2000" dirty="0"/>
              <a:t>Совпадений нет. Сравнений нет.</a:t>
            </a:r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r>
              <a:rPr lang="ru-RU" sz="2000" dirty="0" err="1"/>
              <a:t>Хэш</a:t>
            </a:r>
            <a:r>
              <a:rPr lang="ru-RU" sz="2000" dirty="0"/>
              <a:t> для строки 24-3+9=30</a:t>
            </a:r>
          </a:p>
          <a:p>
            <a:pPr algn="just">
              <a:defRPr/>
            </a:pPr>
            <a:r>
              <a:rPr lang="ru-RU" sz="2000" dirty="0"/>
              <a:t>Совпадений нет. Сравнений нет.</a:t>
            </a:r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r>
              <a:rPr lang="ru-RU" sz="2000" dirty="0" err="1"/>
              <a:t>Хэш</a:t>
            </a:r>
            <a:r>
              <a:rPr lang="ru-RU" sz="2000" dirty="0"/>
              <a:t> для строки 30-6+7=31</a:t>
            </a:r>
          </a:p>
          <a:p>
            <a:pPr algn="just">
              <a:defRPr/>
            </a:pPr>
            <a:r>
              <a:rPr lang="ru-RU" sz="2000" dirty="0"/>
              <a:t>Совпадений нет. Сравнений нет.</a:t>
            </a:r>
          </a:p>
          <a:p>
            <a:pPr algn="just">
              <a:defRPr/>
            </a:pPr>
            <a:endParaRPr lang="ru-RU" sz="2000" dirty="0"/>
          </a:p>
        </p:txBody>
      </p:sp>
      <p:sp>
        <p:nvSpPr>
          <p:cNvPr id="23555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7F1A5E66-9BA3-4A8C-AE7C-EA62A3DFC7D0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28</a:t>
            </a:fld>
            <a:endParaRPr lang="en-GB" sz="1400"/>
          </a:p>
        </p:txBody>
      </p:sp>
      <p:sp>
        <p:nvSpPr>
          <p:cNvPr id="23556" name="AutoShape 6" descr="O(m)"/>
          <p:cNvSpPr>
            <a:spLocks noChangeAspect="1" noChangeArrowheads="1"/>
          </p:cNvSpPr>
          <p:nvPr/>
        </p:nvSpPr>
        <p:spPr bwMode="auto">
          <a:xfrm>
            <a:off x="1003458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3557" name="AutoShape 7" descr="{\displaystyle \Omega (mn)}"/>
          <p:cNvSpPr>
            <a:spLocks noChangeAspect="1" noChangeArrowheads="1"/>
          </p:cNvSpPr>
          <p:nvPr/>
        </p:nvSpPr>
        <p:spPr bwMode="auto">
          <a:xfrm>
            <a:off x="162337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3558" name="Rectangle 8"/>
          <p:cNvSpPr>
            <a:spLocks noChangeArrowheads="1"/>
          </p:cNvSpPr>
          <p:nvPr/>
        </p:nvSpPr>
        <p:spPr bwMode="auto">
          <a:xfrm>
            <a:off x="1598614" y="768351"/>
            <a:ext cx="8961437" cy="246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000">
              <a:solidFill>
                <a:srgbClr val="202122"/>
              </a:solidFill>
              <a:cs typeface="Arial" panose="020B0604020202020204" pitchFamily="34" charset="0"/>
            </a:endParaRPr>
          </a:p>
        </p:txBody>
      </p:sp>
      <p:sp>
        <p:nvSpPr>
          <p:cNvPr id="23559" name="AutoShape 9" descr="{\displaystyle p[1..m]}"/>
          <p:cNvSpPr>
            <a:spLocks noChangeAspect="1" noChangeArrowheads="1"/>
          </p:cNvSpPr>
          <p:nvPr/>
        </p:nvSpPr>
        <p:spPr bwMode="auto">
          <a:xfrm>
            <a:off x="3656014" y="-65088"/>
            <a:ext cx="301625" cy="30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3560" name="AutoShape 2" descr="q"/>
          <p:cNvSpPr>
            <a:spLocks noChangeAspect="1" noChangeArrowheads="1"/>
          </p:cNvSpPr>
          <p:nvPr/>
        </p:nvSpPr>
        <p:spPr bwMode="auto">
          <a:xfrm>
            <a:off x="187642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3561" name="AutoShape 3" descr="x"/>
          <p:cNvSpPr>
            <a:spLocks noChangeAspect="1" noChangeArrowheads="1"/>
          </p:cNvSpPr>
          <p:nvPr/>
        </p:nvSpPr>
        <p:spPr bwMode="auto">
          <a:xfrm>
            <a:off x="3838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3562" name="AutoShape 4" descr="{\displaystyle 0}"/>
          <p:cNvSpPr>
            <a:spLocks noChangeAspect="1" noChangeArrowheads="1"/>
          </p:cNvSpPr>
          <p:nvPr/>
        </p:nvSpPr>
        <p:spPr bwMode="auto">
          <a:xfrm>
            <a:off x="468153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3563" name="AutoShape 5" descr="q-1"/>
          <p:cNvSpPr>
            <a:spLocks noChangeAspect="1" noChangeArrowheads="1"/>
          </p:cNvSpPr>
          <p:nvPr/>
        </p:nvSpPr>
        <p:spPr bwMode="auto">
          <a:xfrm>
            <a:off x="4997450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3564" name="AutoShape 6" descr="{\displaystyle s[i..i+m-1]}"/>
          <p:cNvSpPr>
            <a:spLocks noChangeAspect="1" noChangeArrowheads="1"/>
          </p:cNvSpPr>
          <p:nvPr/>
        </p:nvSpPr>
        <p:spPr bwMode="auto">
          <a:xfrm>
            <a:off x="77708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3565" name="AutoShape 7" descr="{\displaystyle s[i+1..i+m]}"/>
          <p:cNvSpPr>
            <a:spLocks noChangeAspect="1" noChangeArrowheads="1"/>
          </p:cNvSpPr>
          <p:nvPr/>
        </p:nvSpPr>
        <p:spPr bwMode="auto">
          <a:xfrm>
            <a:off x="8013700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3566" name="AutoShape 8" descr="{\displaystyle x^{m-1}{\bmod {q}}}"/>
          <p:cNvSpPr>
            <a:spLocks noChangeAspect="1" noChangeArrowheads="1"/>
          </p:cNvSpPr>
          <p:nvPr/>
        </p:nvSpPr>
        <p:spPr bwMode="auto">
          <a:xfrm>
            <a:off x="1589563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482009"/>
              </p:ext>
            </p:extLst>
          </p:nvPr>
        </p:nvGraphicFramePr>
        <p:xfrm>
          <a:off x="3429000" y="1219200"/>
          <a:ext cx="6096000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</a:tblGrid>
              <a:tr h="370681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1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6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2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8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9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7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4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6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7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8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9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2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0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4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5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6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3</a:t>
                      </a:r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T="45700" marB="45700"/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112954"/>
              </p:ext>
            </p:extLst>
          </p:nvPr>
        </p:nvGraphicFramePr>
        <p:xfrm>
          <a:off x="3505200" y="2971800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554535"/>
              </p:ext>
            </p:extLst>
          </p:nvPr>
        </p:nvGraphicFramePr>
        <p:xfrm>
          <a:off x="3505200" y="4800600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smtClean="0"/>
              <a:t>Рабина-Карпа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3832" y="849441"/>
            <a:ext cx="11810999" cy="5915466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indent="358775" algn="just">
              <a:defRPr/>
            </a:pPr>
            <a:endParaRPr lang="ru-RU" sz="18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r>
              <a:rPr lang="ru-RU" sz="2000" dirty="0" err="1"/>
              <a:t>Хэш</a:t>
            </a:r>
            <a:r>
              <a:rPr lang="ru-RU" sz="2000" dirty="0"/>
              <a:t> для строки 31-2+0=29</a:t>
            </a:r>
          </a:p>
          <a:p>
            <a:pPr algn="just">
              <a:defRPr/>
            </a:pPr>
            <a:r>
              <a:rPr lang="ru-RU" sz="2000" dirty="0"/>
              <a:t>Совпадений нет. Сравнений нет.</a:t>
            </a:r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r>
              <a:rPr lang="ru-RU" sz="2000" dirty="0" err="1"/>
              <a:t>Хэш</a:t>
            </a:r>
            <a:r>
              <a:rPr lang="ru-RU" sz="2000" dirty="0"/>
              <a:t> для строки 29-8+4=25</a:t>
            </a:r>
          </a:p>
          <a:p>
            <a:pPr algn="just">
              <a:defRPr/>
            </a:pPr>
            <a:r>
              <a:rPr lang="ru-RU" sz="2000" dirty="0"/>
              <a:t>Совпадений нет. Сравнений нет.</a:t>
            </a:r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r>
              <a:rPr lang="ru-RU" sz="2000" dirty="0" err="1"/>
              <a:t>Хэш</a:t>
            </a:r>
            <a:r>
              <a:rPr lang="ru-RU" sz="2000" dirty="0"/>
              <a:t> для строки 25-5+5=25</a:t>
            </a:r>
          </a:p>
          <a:p>
            <a:pPr algn="just">
              <a:defRPr/>
            </a:pPr>
            <a:r>
              <a:rPr lang="ru-RU" sz="2000" dirty="0"/>
              <a:t>Совпадений нет. Сравнений нет.</a:t>
            </a:r>
          </a:p>
          <a:p>
            <a:pPr algn="just">
              <a:defRPr/>
            </a:pPr>
            <a:endParaRPr lang="ru-RU" sz="2000" dirty="0"/>
          </a:p>
        </p:txBody>
      </p:sp>
      <p:sp>
        <p:nvSpPr>
          <p:cNvPr id="24579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E96974C-9E5F-42C1-920C-4DA6D6A145E3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29</a:t>
            </a:fld>
            <a:endParaRPr lang="en-GB" sz="1400"/>
          </a:p>
        </p:txBody>
      </p:sp>
      <p:sp>
        <p:nvSpPr>
          <p:cNvPr id="24580" name="AutoShape 6" descr="O(m)"/>
          <p:cNvSpPr>
            <a:spLocks noChangeAspect="1" noChangeArrowheads="1"/>
          </p:cNvSpPr>
          <p:nvPr/>
        </p:nvSpPr>
        <p:spPr bwMode="auto">
          <a:xfrm>
            <a:off x="1003458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4581" name="AutoShape 7" descr="{\displaystyle \Omega (mn)}"/>
          <p:cNvSpPr>
            <a:spLocks noChangeAspect="1" noChangeArrowheads="1"/>
          </p:cNvSpPr>
          <p:nvPr/>
        </p:nvSpPr>
        <p:spPr bwMode="auto">
          <a:xfrm>
            <a:off x="162337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4582" name="Rectangle 8"/>
          <p:cNvSpPr>
            <a:spLocks noChangeArrowheads="1"/>
          </p:cNvSpPr>
          <p:nvPr/>
        </p:nvSpPr>
        <p:spPr bwMode="auto">
          <a:xfrm>
            <a:off x="1598614" y="768351"/>
            <a:ext cx="8961437" cy="246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000">
              <a:solidFill>
                <a:srgbClr val="202122"/>
              </a:solidFill>
              <a:cs typeface="Arial" panose="020B0604020202020204" pitchFamily="34" charset="0"/>
            </a:endParaRPr>
          </a:p>
        </p:txBody>
      </p:sp>
      <p:sp>
        <p:nvSpPr>
          <p:cNvPr id="24583" name="AutoShape 9" descr="{\displaystyle p[1..m]}"/>
          <p:cNvSpPr>
            <a:spLocks noChangeAspect="1" noChangeArrowheads="1"/>
          </p:cNvSpPr>
          <p:nvPr/>
        </p:nvSpPr>
        <p:spPr bwMode="auto">
          <a:xfrm>
            <a:off x="3656014" y="-65088"/>
            <a:ext cx="301625" cy="30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4584" name="AutoShape 2" descr="q"/>
          <p:cNvSpPr>
            <a:spLocks noChangeAspect="1" noChangeArrowheads="1"/>
          </p:cNvSpPr>
          <p:nvPr/>
        </p:nvSpPr>
        <p:spPr bwMode="auto">
          <a:xfrm>
            <a:off x="187642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4585" name="AutoShape 3" descr="x"/>
          <p:cNvSpPr>
            <a:spLocks noChangeAspect="1" noChangeArrowheads="1"/>
          </p:cNvSpPr>
          <p:nvPr/>
        </p:nvSpPr>
        <p:spPr bwMode="auto">
          <a:xfrm>
            <a:off x="3838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4586" name="AutoShape 4" descr="{\displaystyle 0}"/>
          <p:cNvSpPr>
            <a:spLocks noChangeAspect="1" noChangeArrowheads="1"/>
          </p:cNvSpPr>
          <p:nvPr/>
        </p:nvSpPr>
        <p:spPr bwMode="auto">
          <a:xfrm>
            <a:off x="468153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4587" name="AutoShape 5" descr="q-1"/>
          <p:cNvSpPr>
            <a:spLocks noChangeAspect="1" noChangeArrowheads="1"/>
          </p:cNvSpPr>
          <p:nvPr/>
        </p:nvSpPr>
        <p:spPr bwMode="auto">
          <a:xfrm>
            <a:off x="4997450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4588" name="AutoShape 6" descr="{\displaystyle s[i..i+m-1]}"/>
          <p:cNvSpPr>
            <a:spLocks noChangeAspect="1" noChangeArrowheads="1"/>
          </p:cNvSpPr>
          <p:nvPr/>
        </p:nvSpPr>
        <p:spPr bwMode="auto">
          <a:xfrm>
            <a:off x="77708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4589" name="AutoShape 7" descr="{\displaystyle s[i+1..i+m]}"/>
          <p:cNvSpPr>
            <a:spLocks noChangeAspect="1" noChangeArrowheads="1"/>
          </p:cNvSpPr>
          <p:nvPr/>
        </p:nvSpPr>
        <p:spPr bwMode="auto">
          <a:xfrm>
            <a:off x="8013700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4590" name="AutoShape 8" descr="{\displaystyle x^{m-1}{\bmod {q}}}"/>
          <p:cNvSpPr>
            <a:spLocks noChangeAspect="1" noChangeArrowheads="1"/>
          </p:cNvSpPr>
          <p:nvPr/>
        </p:nvSpPr>
        <p:spPr bwMode="auto">
          <a:xfrm>
            <a:off x="1589563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358926"/>
              </p:ext>
            </p:extLst>
          </p:nvPr>
        </p:nvGraphicFramePr>
        <p:xfrm>
          <a:off x="3031331" y="1177927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95950"/>
              </p:ext>
            </p:extLst>
          </p:nvPr>
        </p:nvGraphicFramePr>
        <p:xfrm>
          <a:off x="3031331" y="3070574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577620"/>
              </p:ext>
            </p:extLst>
          </p:nvPr>
        </p:nvGraphicFramePr>
        <p:xfrm>
          <a:off x="3031331" y="4953000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smtClean="0"/>
              <a:t>Рабина-Карпа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32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032" y="782385"/>
            <a:ext cx="11658599" cy="5915466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indent="358775" algn="just">
              <a:defRPr/>
            </a:pPr>
            <a:endParaRPr lang="ru-RU" sz="18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marL="457200" indent="-457200" algn="just">
              <a:buFont typeface="Arial" panose="020B0604020202020204" pitchFamily="34" charset="0"/>
              <a:buAutoNum type="arabicPeriod"/>
              <a:defRPr/>
            </a:pPr>
            <a:r>
              <a:rPr lang="ru-RU" sz="2000" dirty="0" err="1"/>
              <a:t>Хэш</a:t>
            </a:r>
            <a:r>
              <a:rPr lang="ru-RU" sz="2000" dirty="0"/>
              <a:t> для строки 25-9+6=22</a:t>
            </a:r>
          </a:p>
          <a:p>
            <a:pPr algn="just">
              <a:defRPr/>
            </a:pPr>
            <a:r>
              <a:rPr lang="ru-RU" sz="2000" dirty="0"/>
              <a:t>Совпадений нет. Сравнений нет.</a:t>
            </a:r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marL="457200" indent="-457200" algn="just">
              <a:buFont typeface="Arial" panose="020B0604020202020204" pitchFamily="34" charset="0"/>
              <a:buAutoNum type="arabicPeriod"/>
              <a:defRPr/>
            </a:pPr>
            <a:r>
              <a:rPr lang="ru-RU" sz="2000" dirty="0" err="1"/>
              <a:t>Хэш</a:t>
            </a:r>
            <a:r>
              <a:rPr lang="ru-RU" sz="2000" dirty="0"/>
              <a:t> для строки 22-7+3=18</a:t>
            </a:r>
          </a:p>
          <a:p>
            <a:pPr algn="just">
              <a:defRPr/>
            </a:pPr>
            <a:r>
              <a:rPr lang="ru-RU" sz="2000" dirty="0"/>
              <a:t>Совпадений есть. Проводится сравнение значений подстроки со строкой. Совпадение найдено.</a:t>
            </a:r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algn="just">
              <a:defRPr/>
            </a:pPr>
            <a:endParaRPr lang="ru-RU" sz="2000" dirty="0"/>
          </a:p>
          <a:p>
            <a:pPr marL="457200" indent="-457200" algn="just">
              <a:buFont typeface="Arial" panose="020B0604020202020204" pitchFamily="34" charset="0"/>
              <a:buAutoNum type="arabicPeriod"/>
              <a:defRPr/>
            </a:pPr>
            <a:r>
              <a:rPr lang="ru-RU" sz="2000" dirty="0" err="1"/>
              <a:t>Хэш</a:t>
            </a:r>
            <a:r>
              <a:rPr lang="ru-RU" sz="2000" dirty="0"/>
              <a:t> для строки 18-0+7=25</a:t>
            </a:r>
          </a:p>
          <a:p>
            <a:pPr algn="just">
              <a:defRPr/>
            </a:pPr>
            <a:r>
              <a:rPr lang="ru-RU" sz="2000" dirty="0"/>
              <a:t>Совпадений нет. Сравнений нет. </a:t>
            </a:r>
            <a:r>
              <a:rPr lang="ru-RU" sz="2000" dirty="0"/>
              <a:t>И т.д</a:t>
            </a:r>
            <a:r>
              <a:rPr lang="ru-RU" sz="2000" dirty="0" smtClean="0"/>
              <a:t>.</a:t>
            </a:r>
            <a:endParaRPr lang="ru-RU" sz="2000" dirty="0"/>
          </a:p>
        </p:txBody>
      </p:sp>
      <p:sp>
        <p:nvSpPr>
          <p:cNvPr id="25603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43E4BA4-D78A-43E0-A773-C578A3720921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30</a:t>
            </a:fld>
            <a:endParaRPr lang="en-GB" sz="1400"/>
          </a:p>
        </p:txBody>
      </p:sp>
      <p:sp>
        <p:nvSpPr>
          <p:cNvPr id="25604" name="AutoShape 6" descr="O(m)"/>
          <p:cNvSpPr>
            <a:spLocks noChangeAspect="1" noChangeArrowheads="1"/>
          </p:cNvSpPr>
          <p:nvPr/>
        </p:nvSpPr>
        <p:spPr bwMode="auto">
          <a:xfrm>
            <a:off x="1003458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05" name="AutoShape 7" descr="{\displaystyle \Omega (mn)}"/>
          <p:cNvSpPr>
            <a:spLocks noChangeAspect="1" noChangeArrowheads="1"/>
          </p:cNvSpPr>
          <p:nvPr/>
        </p:nvSpPr>
        <p:spPr bwMode="auto">
          <a:xfrm>
            <a:off x="162337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06" name="Rectangle 8"/>
          <p:cNvSpPr>
            <a:spLocks noChangeArrowheads="1"/>
          </p:cNvSpPr>
          <p:nvPr/>
        </p:nvSpPr>
        <p:spPr bwMode="auto">
          <a:xfrm>
            <a:off x="1598614" y="768351"/>
            <a:ext cx="8961437" cy="246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000">
              <a:solidFill>
                <a:srgbClr val="202122"/>
              </a:solidFill>
              <a:cs typeface="Arial" panose="020B0604020202020204" pitchFamily="34" charset="0"/>
            </a:endParaRPr>
          </a:p>
        </p:txBody>
      </p:sp>
      <p:sp>
        <p:nvSpPr>
          <p:cNvPr id="25607" name="AutoShape 9" descr="{\displaystyle p[1..m]}"/>
          <p:cNvSpPr>
            <a:spLocks noChangeAspect="1" noChangeArrowheads="1"/>
          </p:cNvSpPr>
          <p:nvPr/>
        </p:nvSpPr>
        <p:spPr bwMode="auto">
          <a:xfrm>
            <a:off x="3656014" y="-65088"/>
            <a:ext cx="301625" cy="30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08" name="AutoShape 2" descr="q"/>
          <p:cNvSpPr>
            <a:spLocks noChangeAspect="1" noChangeArrowheads="1"/>
          </p:cNvSpPr>
          <p:nvPr/>
        </p:nvSpPr>
        <p:spPr bwMode="auto">
          <a:xfrm>
            <a:off x="187642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09" name="AutoShape 3" descr="x"/>
          <p:cNvSpPr>
            <a:spLocks noChangeAspect="1" noChangeArrowheads="1"/>
          </p:cNvSpPr>
          <p:nvPr/>
        </p:nvSpPr>
        <p:spPr bwMode="auto">
          <a:xfrm>
            <a:off x="3838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10" name="AutoShape 4" descr="{\displaystyle 0}"/>
          <p:cNvSpPr>
            <a:spLocks noChangeAspect="1" noChangeArrowheads="1"/>
          </p:cNvSpPr>
          <p:nvPr/>
        </p:nvSpPr>
        <p:spPr bwMode="auto">
          <a:xfrm>
            <a:off x="468153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11" name="AutoShape 5" descr="q-1"/>
          <p:cNvSpPr>
            <a:spLocks noChangeAspect="1" noChangeArrowheads="1"/>
          </p:cNvSpPr>
          <p:nvPr/>
        </p:nvSpPr>
        <p:spPr bwMode="auto">
          <a:xfrm>
            <a:off x="4997450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12" name="AutoShape 6" descr="{\displaystyle s[i..i+m-1]}"/>
          <p:cNvSpPr>
            <a:spLocks noChangeAspect="1" noChangeArrowheads="1"/>
          </p:cNvSpPr>
          <p:nvPr/>
        </p:nvSpPr>
        <p:spPr bwMode="auto">
          <a:xfrm>
            <a:off x="77708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13" name="AutoShape 7" descr="{\displaystyle s[i+1..i+m]}"/>
          <p:cNvSpPr>
            <a:spLocks noChangeAspect="1" noChangeArrowheads="1"/>
          </p:cNvSpPr>
          <p:nvPr/>
        </p:nvSpPr>
        <p:spPr bwMode="auto">
          <a:xfrm>
            <a:off x="8013700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14" name="AutoShape 8" descr="{\displaystyle x^{m-1}{\bmod {q}}}"/>
          <p:cNvSpPr>
            <a:spLocks noChangeAspect="1" noChangeArrowheads="1"/>
          </p:cNvSpPr>
          <p:nvPr/>
        </p:nvSpPr>
        <p:spPr bwMode="auto">
          <a:xfrm>
            <a:off x="1589563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764823"/>
              </p:ext>
            </p:extLst>
          </p:nvPr>
        </p:nvGraphicFramePr>
        <p:xfrm>
          <a:off x="3031331" y="1177927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771217"/>
              </p:ext>
            </p:extLst>
          </p:nvPr>
        </p:nvGraphicFramePr>
        <p:xfrm>
          <a:off x="3031331" y="2819400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307728"/>
              </p:ext>
            </p:extLst>
          </p:nvPr>
        </p:nvGraphicFramePr>
        <p:xfrm>
          <a:off x="3124200" y="5029200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  <a:gridCol w="304800"/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object 2"/>
          <p:cNvSpPr txBox="1">
            <a:spLocks/>
          </p:cNvSpPr>
          <p:nvPr/>
        </p:nvSpPr>
        <p:spPr>
          <a:xfrm>
            <a:off x="228600" y="76200"/>
            <a:ext cx="11624056" cy="1010533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  <a:p>
            <a:pPr marL="12700" lvl="1" algn="ctr">
              <a:spcBef>
                <a:spcPts val="100"/>
              </a:spcBef>
            </a:pPr>
            <a:r>
              <a:rPr lang="ru-RU" sz="2800" b="1" u="sng" dirty="0"/>
              <a:t>Алгоритм </a:t>
            </a:r>
            <a:r>
              <a:rPr lang="ru-RU" sz="2800" b="1" u="sng" dirty="0" smtClean="0"/>
              <a:t>Рабина-Карпа</a:t>
            </a:r>
            <a:endParaRPr lang="ru-RU" sz="3600" b="1" kern="0" spc="9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89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2667000"/>
            <a:ext cx="11658599" cy="683264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800" b="1" dirty="0"/>
          </a:p>
          <a:p>
            <a:pPr indent="358775" algn="just">
              <a:defRPr/>
            </a:pPr>
            <a:endParaRPr lang="ru-RU" sz="1800" dirty="0"/>
          </a:p>
          <a:p>
            <a:pPr algn="just">
              <a:defRPr/>
            </a:pPr>
            <a:endParaRPr lang="ru-RU" sz="2000" dirty="0"/>
          </a:p>
        </p:txBody>
      </p:sp>
      <p:sp>
        <p:nvSpPr>
          <p:cNvPr id="25603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4900656" y="6487193"/>
            <a:ext cx="273684" cy="215444"/>
          </a:xfrm>
          <a:noFill/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A43E4BA4-D78A-43E0-A773-C578A3720921}" type="slidenum">
              <a:rPr lang="en-GB" sz="1400"/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31</a:t>
            </a:fld>
            <a:endParaRPr lang="en-GB" sz="1400"/>
          </a:p>
        </p:txBody>
      </p:sp>
      <p:sp>
        <p:nvSpPr>
          <p:cNvPr id="25604" name="AutoShape 6" descr="O(m)"/>
          <p:cNvSpPr>
            <a:spLocks noChangeAspect="1" noChangeArrowheads="1"/>
          </p:cNvSpPr>
          <p:nvPr/>
        </p:nvSpPr>
        <p:spPr bwMode="auto">
          <a:xfrm>
            <a:off x="1003458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05" name="AutoShape 7" descr="{\displaystyle \Omega (mn)}"/>
          <p:cNvSpPr>
            <a:spLocks noChangeAspect="1" noChangeArrowheads="1"/>
          </p:cNvSpPr>
          <p:nvPr/>
        </p:nvSpPr>
        <p:spPr bwMode="auto">
          <a:xfrm>
            <a:off x="162337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06" name="Rectangle 8"/>
          <p:cNvSpPr>
            <a:spLocks noChangeArrowheads="1"/>
          </p:cNvSpPr>
          <p:nvPr/>
        </p:nvSpPr>
        <p:spPr bwMode="auto">
          <a:xfrm>
            <a:off x="1598614" y="768351"/>
            <a:ext cx="8961437" cy="246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000">
              <a:solidFill>
                <a:srgbClr val="202122"/>
              </a:solidFill>
              <a:cs typeface="Arial" panose="020B0604020202020204" pitchFamily="34" charset="0"/>
            </a:endParaRPr>
          </a:p>
        </p:txBody>
      </p:sp>
      <p:sp>
        <p:nvSpPr>
          <p:cNvPr id="25607" name="AutoShape 9" descr="{\displaystyle p[1..m]}"/>
          <p:cNvSpPr>
            <a:spLocks noChangeAspect="1" noChangeArrowheads="1"/>
          </p:cNvSpPr>
          <p:nvPr/>
        </p:nvSpPr>
        <p:spPr bwMode="auto">
          <a:xfrm>
            <a:off x="3656014" y="-65088"/>
            <a:ext cx="301625" cy="30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08" name="AutoShape 2" descr="q"/>
          <p:cNvSpPr>
            <a:spLocks noChangeAspect="1" noChangeArrowheads="1"/>
          </p:cNvSpPr>
          <p:nvPr/>
        </p:nvSpPr>
        <p:spPr bwMode="auto">
          <a:xfrm>
            <a:off x="187642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09" name="AutoShape 3" descr="x"/>
          <p:cNvSpPr>
            <a:spLocks noChangeAspect="1" noChangeArrowheads="1"/>
          </p:cNvSpPr>
          <p:nvPr/>
        </p:nvSpPr>
        <p:spPr bwMode="auto">
          <a:xfrm>
            <a:off x="3838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10" name="AutoShape 4" descr="{\displaystyle 0}"/>
          <p:cNvSpPr>
            <a:spLocks noChangeAspect="1" noChangeArrowheads="1"/>
          </p:cNvSpPr>
          <p:nvPr/>
        </p:nvSpPr>
        <p:spPr bwMode="auto">
          <a:xfrm>
            <a:off x="468153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11" name="AutoShape 5" descr="q-1"/>
          <p:cNvSpPr>
            <a:spLocks noChangeAspect="1" noChangeArrowheads="1"/>
          </p:cNvSpPr>
          <p:nvPr/>
        </p:nvSpPr>
        <p:spPr bwMode="auto">
          <a:xfrm>
            <a:off x="4997450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12" name="AutoShape 6" descr="{\displaystyle s[i..i+m-1]}"/>
          <p:cNvSpPr>
            <a:spLocks noChangeAspect="1" noChangeArrowheads="1"/>
          </p:cNvSpPr>
          <p:nvPr/>
        </p:nvSpPr>
        <p:spPr bwMode="auto">
          <a:xfrm>
            <a:off x="77708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13" name="AutoShape 7" descr="{\displaystyle s[i+1..i+m]}"/>
          <p:cNvSpPr>
            <a:spLocks noChangeAspect="1" noChangeArrowheads="1"/>
          </p:cNvSpPr>
          <p:nvPr/>
        </p:nvSpPr>
        <p:spPr bwMode="auto">
          <a:xfrm>
            <a:off x="8013700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5614" name="AutoShape 8" descr="{\displaystyle x^{m-1}{\bmod {q}}}"/>
          <p:cNvSpPr>
            <a:spLocks noChangeAspect="1" noChangeArrowheads="1"/>
          </p:cNvSpPr>
          <p:nvPr/>
        </p:nvSpPr>
        <p:spPr bwMode="auto">
          <a:xfrm>
            <a:off x="15895638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ru-RU" sz="1800">
              <a:solidFill>
                <a:schemeClr val="bg1"/>
              </a:solidFill>
            </a:endParaRPr>
          </a:p>
        </p:txBody>
      </p:sp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249808"/>
              </p:ext>
            </p:extLst>
          </p:nvPr>
        </p:nvGraphicFramePr>
        <p:xfrm>
          <a:off x="228598" y="2286000"/>
          <a:ext cx="11734800" cy="88283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</a:tblGrid>
              <a:tr h="882838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f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f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g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h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g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j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h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k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l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j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k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l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g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h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u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err="1" smtClean="0"/>
                        <a:t>i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o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p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j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k</a:t>
                      </a:r>
                      <a:endParaRPr lang="ru-RU" sz="4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0" name="object 2"/>
          <p:cNvSpPr txBox="1">
            <a:spLocks/>
          </p:cNvSpPr>
          <p:nvPr/>
        </p:nvSpPr>
        <p:spPr>
          <a:xfrm>
            <a:off x="228600" y="164953"/>
            <a:ext cx="116240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>
              <a:defRPr sz="6000" b="0" i="0">
                <a:solidFill>
                  <a:schemeClr val="tx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kern="0" spc="95" dirty="0" smtClean="0">
                <a:latin typeface="Arial Rounded MT Bold" panose="020F0704030504030204" pitchFamily="34" charset="0"/>
              </a:rPr>
              <a:t>Алгоритмы поиска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322527"/>
              </p:ext>
            </p:extLst>
          </p:nvPr>
        </p:nvGraphicFramePr>
        <p:xfrm>
          <a:off x="4038600" y="4402651"/>
          <a:ext cx="4693920" cy="88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  <a:gridCol w="586740"/>
              </a:tblGrid>
              <a:tr h="882838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h</a:t>
                      </a:r>
                      <a:endParaRPr lang="ru-RU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g</a:t>
                      </a:r>
                      <a:endParaRPr lang="ru-RU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j</a:t>
                      </a:r>
                      <a:endParaRPr lang="ru-RU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h</a:t>
                      </a:r>
                      <a:endParaRPr lang="ru-RU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k</a:t>
                      </a:r>
                      <a:endParaRPr lang="ru-RU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l</a:t>
                      </a:r>
                      <a:endParaRPr lang="ru-RU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j</a:t>
                      </a:r>
                      <a:endParaRPr lang="ru-RU" sz="4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k</a:t>
                      </a:r>
                      <a:endParaRPr lang="ru-RU" sz="40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19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6337</TotalTime>
  <Words>1949</Words>
  <Application>Microsoft Office PowerPoint</Application>
  <PresentationFormat>Широкоэкранный</PresentationFormat>
  <Paragraphs>803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8" baseType="lpstr">
      <vt:lpstr>Arial</vt:lpstr>
      <vt:lpstr>Arial Black</vt:lpstr>
      <vt:lpstr>Arial Narrow</vt:lpstr>
      <vt:lpstr>Arial Rounded MT Bold</vt:lpstr>
      <vt:lpstr>Calibri</vt:lpstr>
      <vt:lpstr>Times New Roman</vt:lpstr>
      <vt:lpstr>Office Theme</vt:lpstr>
      <vt:lpstr>АЛГОРИТМЫ ПОСТРОЕНИЯ СЛУЧАЙНОЙ ПЕРЕСТАНОВКИ</vt:lpstr>
      <vt:lpstr>Алгоритмы построения случайной перестановки</vt:lpstr>
      <vt:lpstr>Алгоритмы построения случайной перестановки</vt:lpstr>
      <vt:lpstr>Алгоритмы построения случайной перестановки</vt:lpstr>
      <vt:lpstr>Алгоритмы построения случайной перестановки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Ольга Молдованова</dc:creator>
  <cp:lastModifiedBy>Пользователь Windows</cp:lastModifiedBy>
  <cp:revision>361</cp:revision>
  <dcterms:created xsi:type="dcterms:W3CDTF">2020-11-25T06:19:43Z</dcterms:created>
  <dcterms:modified xsi:type="dcterms:W3CDTF">2026-02-23T17:12:28Z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2018-03-28T00:00:00Z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2020-11-25T00:00:00Z</vt:filetime>
  </property>
</Properties>
</file>